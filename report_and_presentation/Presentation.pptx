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 id="2147483684" r:id="rId2"/>
  </p:sldMasterIdLst>
  <p:notesMasterIdLst>
    <p:notesMasterId r:id="rId26"/>
  </p:notesMasterIdLst>
  <p:sldIdLst>
    <p:sldId id="257" r:id="rId3"/>
    <p:sldId id="260" r:id="rId4"/>
    <p:sldId id="273" r:id="rId5"/>
    <p:sldId id="346" r:id="rId6"/>
    <p:sldId id="298" r:id="rId7"/>
    <p:sldId id="299" r:id="rId8"/>
    <p:sldId id="347" r:id="rId9"/>
    <p:sldId id="349" r:id="rId10"/>
    <p:sldId id="348" r:id="rId11"/>
    <p:sldId id="316" r:id="rId12"/>
    <p:sldId id="328" r:id="rId13"/>
    <p:sldId id="355" r:id="rId14"/>
    <p:sldId id="350" r:id="rId15"/>
    <p:sldId id="352" r:id="rId16"/>
    <p:sldId id="353" r:id="rId17"/>
    <p:sldId id="351" r:id="rId18"/>
    <p:sldId id="356" r:id="rId19"/>
    <p:sldId id="357" r:id="rId20"/>
    <p:sldId id="358" r:id="rId21"/>
    <p:sldId id="359" r:id="rId22"/>
    <p:sldId id="360" r:id="rId23"/>
    <p:sldId id="361" r:id="rId24"/>
    <p:sldId id="345" r:id="rId25"/>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6C60C"/>
    <a:srgbClr val="000000"/>
    <a:srgbClr val="4EA72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2868" autoAdjust="0"/>
    <p:restoredTop sz="80350" autoAdjust="0"/>
  </p:normalViewPr>
  <p:slideViewPr>
    <p:cSldViewPr snapToGrid="0">
      <p:cViewPr varScale="1">
        <p:scale>
          <a:sx n="55" d="100"/>
          <a:sy n="55" d="100"/>
        </p:scale>
        <p:origin x="1254" y="72"/>
      </p:cViewPr>
      <p:guideLst/>
    </p:cSldViewPr>
  </p:slideViewPr>
  <p:outlineViewPr>
    <p:cViewPr>
      <p:scale>
        <a:sx n="33" d="100"/>
        <a:sy n="33" d="100"/>
      </p:scale>
      <p:origin x="0" y="-804"/>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2" d="100"/>
          <a:sy n="52" d="100"/>
        </p:scale>
        <p:origin x="2946"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dirty="0"/>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8D42C6A5-6DA8-4441-8748-01854DC473DB}" type="datetimeFigureOut">
              <a:rPr lang="he-IL" smtClean="0"/>
              <a:t>ט'/טבת/תשפ"ו</a:t>
            </a:fld>
            <a:endParaRPr lang="he-IL" dirty="0"/>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dirty="0"/>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dirty="0"/>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B1ADE74A-C333-4FD4-8244-ACDAACBC333E}" type="slidenum">
              <a:rPr lang="he-IL" smtClean="0"/>
              <a:t>‹#›</a:t>
            </a:fld>
            <a:endParaRPr lang="he-IL" dirty="0"/>
          </a:p>
        </p:txBody>
      </p:sp>
    </p:spTree>
    <p:extLst>
      <p:ext uri="{BB962C8B-B14F-4D97-AF65-F5344CB8AC3E}">
        <p14:creationId xmlns:p14="http://schemas.microsoft.com/office/powerpoint/2010/main" val="1434885965"/>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B1ADE74A-C333-4FD4-8244-ACDAACBC333E}" type="slidenum">
              <a:rPr lang="he-IL" smtClean="0"/>
              <a:t>1</a:t>
            </a:fld>
            <a:endParaRPr lang="he-IL" dirty="0"/>
          </a:p>
        </p:txBody>
      </p:sp>
    </p:spTree>
    <p:extLst>
      <p:ext uri="{BB962C8B-B14F-4D97-AF65-F5344CB8AC3E}">
        <p14:creationId xmlns:p14="http://schemas.microsoft.com/office/powerpoint/2010/main" val="10757194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he-IL" dirty="0"/>
          </a:p>
        </p:txBody>
      </p:sp>
      <p:sp>
        <p:nvSpPr>
          <p:cNvPr id="4" name="מציין מיקום של מספר שקופית 3"/>
          <p:cNvSpPr>
            <a:spLocks noGrp="1"/>
          </p:cNvSpPr>
          <p:nvPr>
            <p:ph type="sldNum" sz="quarter" idx="5"/>
          </p:nvPr>
        </p:nvSpPr>
        <p:spPr/>
        <p:txBody>
          <a:bodyPr/>
          <a:lstStyle/>
          <a:p>
            <a:fld id="{B1ADE74A-C333-4FD4-8244-ACDAACBC333E}" type="slidenum">
              <a:rPr lang="he-IL" smtClean="0"/>
              <a:t>2</a:t>
            </a:fld>
            <a:endParaRPr lang="he-IL" dirty="0"/>
          </a:p>
        </p:txBody>
      </p:sp>
    </p:spTree>
    <p:extLst>
      <p:ext uri="{BB962C8B-B14F-4D97-AF65-F5344CB8AC3E}">
        <p14:creationId xmlns:p14="http://schemas.microsoft.com/office/powerpoint/2010/main" val="3712964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he-IL" sz="12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4" name="מציין מיקום של מספר שקופית 3"/>
          <p:cNvSpPr>
            <a:spLocks noGrp="1"/>
          </p:cNvSpPr>
          <p:nvPr>
            <p:ph type="sldNum" sz="quarter" idx="5"/>
          </p:nvPr>
        </p:nvSpPr>
        <p:spPr/>
        <p:txBody>
          <a:bodyPr/>
          <a:lstStyle/>
          <a:p>
            <a:fld id="{B1ADE74A-C333-4FD4-8244-ACDAACBC333E}" type="slidenum">
              <a:rPr lang="he-IL" smtClean="0"/>
              <a:t>3</a:t>
            </a:fld>
            <a:endParaRPr lang="he-IL" dirty="0"/>
          </a:p>
        </p:txBody>
      </p:sp>
    </p:spTree>
    <p:extLst>
      <p:ext uri="{BB962C8B-B14F-4D97-AF65-F5344CB8AC3E}">
        <p14:creationId xmlns:p14="http://schemas.microsoft.com/office/powerpoint/2010/main" val="25410724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DE8B8-D692-7F39-4452-15366C93D337}"/>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BEF89657-09A0-75CE-42E2-A94DAC1246F2}"/>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EC697B2E-E0AC-6BC9-A773-BA14314F32CA}"/>
              </a:ext>
            </a:extLst>
          </p:cNvPr>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he-IL" sz="12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4" name="מציין מיקום של מספר שקופית 3">
            <a:extLst>
              <a:ext uri="{FF2B5EF4-FFF2-40B4-BE49-F238E27FC236}">
                <a16:creationId xmlns:a16="http://schemas.microsoft.com/office/drawing/2014/main" id="{6BCA16AE-1E3B-6D7A-C97F-F4DC48DA8484}"/>
              </a:ext>
            </a:extLst>
          </p:cNvPr>
          <p:cNvSpPr>
            <a:spLocks noGrp="1"/>
          </p:cNvSpPr>
          <p:nvPr>
            <p:ph type="sldNum" sz="quarter" idx="5"/>
          </p:nvPr>
        </p:nvSpPr>
        <p:spPr/>
        <p:txBody>
          <a:bodyPr/>
          <a:lstStyle/>
          <a:p>
            <a:fld id="{B1ADE74A-C333-4FD4-8244-ACDAACBC333E}" type="slidenum">
              <a:rPr lang="he-IL" smtClean="0"/>
              <a:t>4</a:t>
            </a:fld>
            <a:endParaRPr lang="he-IL" dirty="0"/>
          </a:p>
        </p:txBody>
      </p:sp>
    </p:spTree>
    <p:extLst>
      <p:ext uri="{BB962C8B-B14F-4D97-AF65-F5344CB8AC3E}">
        <p14:creationId xmlns:p14="http://schemas.microsoft.com/office/powerpoint/2010/main" val="1386423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4D7FD-36D7-5677-85E0-856086AFA2BF}"/>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15FBBDBB-FB44-17B8-ACAA-3EBFE34FA166}"/>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מציין מיקום של הערות 2">
                <a:extLst>
                  <a:ext uri="{FF2B5EF4-FFF2-40B4-BE49-F238E27FC236}">
                    <a16:creationId xmlns:a16="http://schemas.microsoft.com/office/drawing/2014/main" id="{7F721F71-1401-6CD3-3422-5ECD963B64C0}"/>
                  </a:ext>
                </a:extLst>
              </p:cNvPr>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he-IL" sz="12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p:txBody>
          </p:sp>
        </mc:Choice>
        <mc:Fallback xmlns="">
          <p:sp>
            <p:nvSpPr>
              <p:cNvPr id="3" name="מציין מיקום של הערות 2">
                <a:extLst>
                  <a:ext uri="{FF2B5EF4-FFF2-40B4-BE49-F238E27FC236}">
                    <a16:creationId xmlns:a16="http://schemas.microsoft.com/office/drawing/2014/main" id="{7F721F71-1401-6CD3-3422-5ECD963B64C0}"/>
                  </a:ext>
                </a:extLst>
              </p:cNvPr>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200" b="0" i="0" u="none" strike="noStrike" kern="1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Arial" panose="020B0604020202020204" pitchFamily="34" charset="0"/>
                  </a:rPr>
                  <a:t>כאשר</a:t>
                </a:r>
                <a:r>
                  <a:rPr kumimoji="0" lang="he-IL" sz="1200" b="0" i="0" u="none" strike="noStrike" kern="100" cap="none" spc="0" normalizeH="0" noProof="0" dirty="0">
                    <a:ln>
                      <a:noFill/>
                    </a:ln>
                    <a:solidFill>
                      <a:prstClr val="white"/>
                    </a:solidFill>
                    <a:effectLst/>
                    <a:uLnTx/>
                    <a:uFillTx/>
                    <a:latin typeface="Calibri" panose="020F0502020204030204" pitchFamily="34" charset="0"/>
                    <a:ea typeface="Calibri" panose="020F0502020204030204" pitchFamily="34" charset="0"/>
                    <a:cs typeface="Arial" panose="020B0604020202020204" pitchFamily="34" charset="0"/>
                  </a:rPr>
                  <a:t> </a:t>
                </a:r>
                <a:r>
                  <a:rPr lang="en-US" sz="1200" i="0" kern="100">
                    <a:solidFill>
                      <a:prstClr val="white"/>
                    </a:solidFill>
                    <a:latin typeface="Cambria Math" panose="02040503050406030204" pitchFamily="18" charset="0"/>
                    <a:ea typeface="Calibri" panose="020F0502020204030204" pitchFamily="34" charset="0"/>
                    <a:cs typeface="Arial" panose="020B0604020202020204" pitchFamily="34" charset="0"/>
                  </a:rPr>
                  <a:t>𝑑</a:t>
                </a:r>
                <a:r>
                  <a:rPr kumimoji="0" lang="he-IL" sz="1200" b="0" i="0" u="none" strike="noStrike" kern="1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Arial" panose="020B0604020202020204" pitchFamily="34" charset="0"/>
                  </a:rPr>
                  <a:t> מייצג את חזקת</a:t>
                </a:r>
                <a:r>
                  <a:rPr kumimoji="0" lang="he-IL" sz="1200" b="0" i="0" u="none" strike="noStrike" kern="100" cap="none" spc="0" normalizeH="0" noProof="0" dirty="0">
                    <a:ln>
                      <a:noFill/>
                    </a:ln>
                    <a:solidFill>
                      <a:prstClr val="white"/>
                    </a:solidFill>
                    <a:effectLst/>
                    <a:uLnTx/>
                    <a:uFillTx/>
                    <a:latin typeface="Calibri" panose="020F0502020204030204" pitchFamily="34" charset="0"/>
                    <a:ea typeface="Calibri" panose="020F0502020204030204" pitchFamily="34" charset="0"/>
                    <a:cs typeface="Arial" panose="020B0604020202020204" pitchFamily="34" charset="0"/>
                  </a:rPr>
                  <a:t> </a:t>
                </a:r>
                <a:r>
                  <a:rPr kumimoji="0" lang="en-US" sz="1200" b="0" i="0" u="none" strike="noStrike" kern="100" cap="none" spc="0" normalizeH="0" noProof="0" dirty="0">
                    <a:ln>
                      <a:noFill/>
                    </a:ln>
                    <a:solidFill>
                      <a:prstClr val="white"/>
                    </a:solidFill>
                    <a:effectLst/>
                    <a:uLnTx/>
                    <a:uFillTx/>
                    <a:latin typeface="Calibri" panose="020F0502020204030204" pitchFamily="34" charset="0"/>
                    <a:ea typeface="Calibri" panose="020F0502020204030204" pitchFamily="34" charset="0"/>
                    <a:cs typeface="Arial" panose="020B0604020202020204" pitchFamily="34" charset="0"/>
                  </a:rPr>
                  <a:t>RSA</a:t>
                </a:r>
                <a:r>
                  <a:rPr lang="he-IL" sz="1200" kern="100" dirty="0">
                    <a:solidFill>
                      <a:prstClr val="white"/>
                    </a:solidFill>
                    <a:latin typeface="Calibri" panose="020F0502020204030204" pitchFamily="34" charset="0"/>
                    <a:ea typeface="Calibri" panose="020F0502020204030204" pitchFamily="34" charset="0"/>
                    <a:cs typeface="Arial" panose="020B0604020202020204" pitchFamily="34" charset="0"/>
                  </a:rPr>
                  <a:t> הפרטית.</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1200" kern="100" dirty="0">
                    <a:solidFill>
                      <a:prstClr val="white"/>
                    </a:solidFill>
                    <a:effectLst/>
                    <a:latin typeface="Calibri" panose="020F0502020204030204" pitchFamily="34" charset="0"/>
                    <a:ea typeface="Calibri" panose="020F0502020204030204" pitchFamily="34" charset="0"/>
                    <a:cs typeface="Arial" panose="020B0604020202020204" pitchFamily="34" charset="0"/>
                  </a:rPr>
                  <a:t>המימוש נפוץ בספריות קריפטוגרפיות רבות, זה מייעל חישובים.</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1200" kern="100" dirty="0">
                    <a:solidFill>
                      <a:prstClr val="white"/>
                    </a:solidFill>
                    <a:effectLst/>
                    <a:latin typeface="Calibri" panose="020F0502020204030204" pitchFamily="34" charset="0"/>
                    <a:ea typeface="Calibri" panose="020F0502020204030204" pitchFamily="34" charset="0"/>
                    <a:cs typeface="Arial" panose="020B0604020202020204" pitchFamily="34" charset="0"/>
                  </a:rPr>
                  <a:t>יש הופכי בגלל </a:t>
                </a:r>
                <a:r>
                  <a:rPr lang="en-US" sz="1200" kern="100" dirty="0">
                    <a:solidFill>
                      <a:prstClr val="white"/>
                    </a:solidFill>
                    <a:effectLst/>
                    <a:latin typeface="Calibri" panose="020F0502020204030204" pitchFamily="34" charset="0"/>
                    <a:ea typeface="Calibri" panose="020F0502020204030204" pitchFamily="34" charset="0"/>
                    <a:cs typeface="Arial" panose="020B0604020202020204" pitchFamily="34" charset="0"/>
                  </a:rPr>
                  <a:t>GCD</a:t>
                </a:r>
                <a:r>
                  <a:rPr lang="he-IL" sz="1200" kern="100" dirty="0">
                    <a:solidFill>
                      <a:prstClr val="white"/>
                    </a:solidFill>
                    <a:effectLst/>
                    <a:latin typeface="Calibri" panose="020F0502020204030204" pitchFamily="34" charset="0"/>
                    <a:ea typeface="Calibri" panose="020F0502020204030204" pitchFamily="34" charset="0"/>
                    <a:cs typeface="Arial" panose="020B0604020202020204" pitchFamily="34" charset="0"/>
                  </a:rPr>
                  <a:t>, הם גורמים זרים (</a:t>
                </a:r>
                <a:r>
                  <a:rPr lang="en-US" sz="1200" kern="100" dirty="0">
                    <a:solidFill>
                      <a:prstClr val="white"/>
                    </a:solidFill>
                    <a:effectLst/>
                    <a:latin typeface="Calibri" panose="020F0502020204030204" pitchFamily="34" charset="0"/>
                    <a:ea typeface="Calibri" panose="020F0502020204030204" pitchFamily="34" charset="0"/>
                    <a:cs typeface="Arial" panose="020B0604020202020204" pitchFamily="34" charset="0"/>
                  </a:rPr>
                  <a:t>p</a:t>
                </a:r>
                <a:r>
                  <a:rPr lang="he-IL" sz="1200" kern="100" dirty="0">
                    <a:solidFill>
                      <a:prstClr val="white"/>
                    </a:solidFill>
                    <a:effectLst/>
                    <a:latin typeface="Calibri" panose="020F0502020204030204" pitchFamily="34" charset="0"/>
                    <a:ea typeface="Calibri" panose="020F0502020204030204" pitchFamily="34" charset="0"/>
                    <a:cs typeface="Arial" panose="020B0604020202020204" pitchFamily="34" charset="0"/>
                  </a:rPr>
                  <a:t> ו- </a:t>
                </a:r>
                <a:r>
                  <a:rPr lang="en-US" sz="1200" kern="100" dirty="0">
                    <a:solidFill>
                      <a:prstClr val="white"/>
                    </a:solidFill>
                    <a:effectLst/>
                    <a:latin typeface="Calibri" panose="020F0502020204030204" pitchFamily="34" charset="0"/>
                    <a:ea typeface="Calibri" panose="020F0502020204030204" pitchFamily="34" charset="0"/>
                    <a:cs typeface="Arial" panose="020B0604020202020204" pitchFamily="34" charset="0"/>
                  </a:rPr>
                  <a:t>q</a:t>
                </a:r>
                <a:r>
                  <a:rPr lang="he-IL" sz="1200" kern="100" dirty="0">
                    <a:solidFill>
                      <a:prstClr val="white"/>
                    </a:solidFill>
                    <a:effectLst/>
                    <a:latin typeface="Calibri" panose="020F0502020204030204" pitchFamily="34" charset="0"/>
                    <a:ea typeface="Calibri" panose="020F0502020204030204" pitchFamily="34" charset="0"/>
                    <a:cs typeface="Arial" panose="020B0604020202020204" pitchFamily="34" charset="0"/>
                  </a:rPr>
                  <a:t>).</a:t>
                </a:r>
                <a:endParaRPr lang="he-IL" sz="12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p:txBody>
          </p:sp>
        </mc:Fallback>
      </mc:AlternateContent>
      <p:sp>
        <p:nvSpPr>
          <p:cNvPr id="4" name="מציין מיקום של מספר שקופית 3">
            <a:extLst>
              <a:ext uri="{FF2B5EF4-FFF2-40B4-BE49-F238E27FC236}">
                <a16:creationId xmlns:a16="http://schemas.microsoft.com/office/drawing/2014/main" id="{1CB8DE15-4A4D-5F3D-6991-3C202652BFB4}"/>
              </a:ext>
            </a:extLst>
          </p:cNvPr>
          <p:cNvSpPr>
            <a:spLocks noGrp="1"/>
          </p:cNvSpPr>
          <p:nvPr>
            <p:ph type="sldNum" sz="quarter" idx="5"/>
          </p:nvPr>
        </p:nvSpPr>
        <p:spPr/>
        <p:txBody>
          <a:bodyPr/>
          <a:lstStyle/>
          <a:p>
            <a:fld id="{B1ADE74A-C333-4FD4-8244-ACDAACBC333E}" type="slidenum">
              <a:rPr lang="he-IL" smtClean="0"/>
              <a:t>10</a:t>
            </a:fld>
            <a:endParaRPr lang="he-IL" dirty="0"/>
          </a:p>
        </p:txBody>
      </p:sp>
    </p:spTree>
    <p:extLst>
      <p:ext uri="{BB962C8B-B14F-4D97-AF65-F5344CB8AC3E}">
        <p14:creationId xmlns:p14="http://schemas.microsoft.com/office/powerpoint/2010/main" val="3658417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מציין מיקום של הערות 2"/>
              <p:cNvSpPr>
                <a:spLocks noGrp="1"/>
              </p:cNvSpPr>
              <p:nvPr>
                <p:ph type="body" idx="1"/>
              </p:nvPr>
            </p:nvSpPr>
            <p:spPr/>
            <p:txBody>
              <a:bodyPr/>
              <a:lstStyle/>
              <a:p>
                <a:pPr lvl="0" rtl="1"/>
                <a:r>
                  <a:rPr lang="he-IL" sz="1200" kern="1200" dirty="0">
                    <a:solidFill>
                      <a:schemeClr val="tx1"/>
                    </a:solidFill>
                    <a:effectLst/>
                    <a:latin typeface="+mn-lt"/>
                    <a:ea typeface="+mn-ea"/>
                    <a:cs typeface="+mn-cs"/>
                  </a:rPr>
                  <a:t>כ-</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13</m:t>
                    </m:r>
                  </m:oMath>
                </a14:m>
                <a:r>
                  <a:rPr lang="he-IL" sz="1200" kern="1200" dirty="0">
                    <a:solidFill>
                      <a:schemeClr val="tx1"/>
                    </a:solidFill>
                    <a:effectLst/>
                    <a:latin typeface="+mn-lt"/>
                    <a:ea typeface="+mn-ea"/>
                    <a:cs typeface="+mn-cs"/>
                  </a:rPr>
                  <a:t> ניסויים הסתיימו עקב הגעה למספר ניסיונות מרבי, מה שמעיד שלמרות ההרצות ללא הגנות כלל וההרצות בהן דגלים מסוימים העוזרים להתמודדות עם מנגנוני הגנה מסוימים היו מורמים, רוב הניסויים לא צלחו (כולל יתר הניסויים הבאים).</a:t>
                </a:r>
                <a:endParaRPr lang="en-US" sz="1200" kern="1200" dirty="0">
                  <a:solidFill>
                    <a:schemeClr val="tx1"/>
                  </a:solidFill>
                  <a:effectLst/>
                  <a:latin typeface="+mn-lt"/>
                  <a:ea typeface="+mn-ea"/>
                  <a:cs typeface="+mn-cs"/>
                </a:endParaRPr>
              </a:p>
              <a:p>
                <a:pPr lvl="0" rtl="1"/>
                <a:r>
                  <a:rPr lang="he-IL" sz="1200" kern="1200" dirty="0">
                    <a:solidFill>
                      <a:schemeClr val="tx1"/>
                    </a:solidFill>
                    <a:effectLst/>
                    <a:latin typeface="+mn-lt"/>
                    <a:ea typeface="+mn-ea"/>
                    <a:cs typeface="+mn-cs"/>
                  </a:rPr>
                  <a:t>כ-</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5</m:t>
                    </m:r>
                  </m:oMath>
                </a14:m>
                <a:r>
                  <a:rPr lang="he-IL" sz="1200" kern="1200" dirty="0">
                    <a:solidFill>
                      <a:schemeClr val="tx1"/>
                    </a:solidFill>
                    <a:effectLst/>
                    <a:latin typeface="+mn-lt"/>
                    <a:ea typeface="+mn-ea"/>
                    <a:cs typeface="+mn-cs"/>
                  </a:rPr>
                  <a:t> ניסויים הסתיימו עקב חסימת משתמש/חסימת כתובת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𝐼𝑃</m:t>
                    </m:r>
                  </m:oMath>
                </a14:m>
                <a:r>
                  <a:rPr lang="he-IL" sz="1200" kern="1200" dirty="0">
                    <a:solidFill>
                      <a:schemeClr val="tx1"/>
                    </a:solidFill>
                    <a:effectLst/>
                    <a:latin typeface="+mn-lt"/>
                    <a:ea typeface="+mn-ea"/>
                    <a:cs typeface="+mn-cs"/>
                  </a:rPr>
                  <a:t> וניתן לקבוע כי מנגנון זה פועל בצורה טובה. אם נסתכל בקובץ הלוג נבחין כי עבור כל ניסוי בו לא פועל מנגנון הגנה מגביל (המבצע חסימה של משתמש ו/או כתובת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𝐼𝑃</m:t>
                    </m:r>
                  </m:oMath>
                </a14:m>
                <a:r>
                  <a:rPr lang="he-IL" sz="1200" kern="1200" dirty="0">
                    <a:solidFill>
                      <a:schemeClr val="tx1"/>
                    </a:solidFill>
                    <a:effectLst/>
                    <a:latin typeface="+mn-lt"/>
                    <a:ea typeface="+mn-ea"/>
                    <a:cs typeface="+mn-cs"/>
                  </a:rPr>
                  <a:t>), ולא מורמים דגלים להחלפת כתובת ה-</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𝐼𝑃</m:t>
                    </m:r>
                  </m:oMath>
                </a14:m>
                <a:r>
                  <a:rPr lang="he-IL" sz="1200" kern="1200" dirty="0">
                    <a:solidFill>
                      <a:schemeClr val="tx1"/>
                    </a:solidFill>
                    <a:effectLst/>
                    <a:latin typeface="+mn-lt"/>
                    <a:ea typeface="+mn-ea"/>
                    <a:cs typeface="+mn-cs"/>
                  </a:rPr>
                  <a:t> או יצירת קוד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𝑐𝑎𝑝𝑡𝑐</m:t>
                    </m:r>
                    <m:r>
                      <a:rPr lang="en-US" sz="1200" i="1" kern="1200">
                        <a:solidFill>
                          <a:schemeClr val="tx1"/>
                        </a:solidFill>
                        <a:effectLst/>
                        <a:latin typeface="Cambria Math" panose="02040503050406030204" pitchFamily="18" charset="0"/>
                        <a:ea typeface="+mn-ea"/>
                        <a:cs typeface="+mn-cs"/>
                      </a:rPr>
                      <m:t>h</m:t>
                    </m:r>
                    <m:r>
                      <a:rPr lang="en-US" sz="1200" i="1" kern="1200">
                        <a:solidFill>
                          <a:schemeClr val="tx1"/>
                        </a:solidFill>
                        <a:effectLst/>
                        <a:latin typeface="Cambria Math" panose="02040503050406030204" pitchFamily="18" charset="0"/>
                        <a:ea typeface="+mn-ea"/>
                        <a:cs typeface="+mn-cs"/>
                      </a:rPr>
                      <m:t>𝑎</m:t>
                    </m:r>
                  </m:oMath>
                </a14:m>
                <a:r>
                  <a:rPr lang="he-IL" sz="1200" kern="1200" dirty="0">
                    <a:solidFill>
                      <a:schemeClr val="tx1"/>
                    </a:solidFill>
                    <a:effectLst/>
                    <a:latin typeface="+mn-lt"/>
                    <a:ea typeface="+mn-ea"/>
                    <a:cs typeface="+mn-cs"/>
                  </a:rPr>
                  <a:t> חוקי, בכל המקרים האלו אחרי בין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3</m:t>
                    </m:r>
                  </m:oMath>
                </a14:m>
                <a:r>
                  <a:rPr lang="he-IL" sz="1200" kern="1200" dirty="0">
                    <a:solidFill>
                      <a:schemeClr val="tx1"/>
                    </a:solidFill>
                    <a:effectLst/>
                    <a:latin typeface="+mn-lt"/>
                    <a:ea typeface="+mn-ea"/>
                    <a:cs typeface="+mn-cs"/>
                  </a:rPr>
                  <a:t> ל-</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5</m:t>
                    </m:r>
                  </m:oMath>
                </a14:m>
                <a:r>
                  <a:rPr lang="he-IL" sz="1200" kern="1200" dirty="0">
                    <a:solidFill>
                      <a:schemeClr val="tx1"/>
                    </a:solidFill>
                    <a:effectLst/>
                    <a:latin typeface="+mn-lt"/>
                    <a:ea typeface="+mn-ea"/>
                    <a:cs typeface="+mn-cs"/>
                  </a:rPr>
                  <a:t> ניסיונות (בהתאמה לאילו הגנות פעלו ושילובן) נחסם המשתמש ו/או כתובת ה-</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𝐼𝑃</m:t>
                    </m:r>
                  </m:oMath>
                </a14:m>
                <a:r>
                  <a:rPr lang="he-IL" sz="1200" kern="1200" dirty="0">
                    <a:solidFill>
                      <a:schemeClr val="tx1"/>
                    </a:solidFill>
                    <a:effectLst/>
                    <a:latin typeface="+mn-lt"/>
                    <a:ea typeface="+mn-ea"/>
                    <a:cs typeface="+mn-cs"/>
                  </a:rPr>
                  <a:t> ולמעשה המערכת הצליחה בזיהוי המתקפה ועצרה אותה במהירות, מה שלא רק חוסך בזמן המתקפה אלא גם חוסך משאבים לשרת האימות (הוא פחות "תפוס").</a:t>
                </a:r>
                <a:endParaRPr lang="en-US" sz="1200" kern="1200" dirty="0">
                  <a:solidFill>
                    <a:schemeClr val="tx1"/>
                  </a:solidFill>
                  <a:effectLst/>
                  <a:latin typeface="+mn-lt"/>
                  <a:ea typeface="+mn-ea"/>
                  <a:cs typeface="+mn-cs"/>
                </a:endParaRPr>
              </a:p>
              <a:p>
                <a:pPr lvl="0" rtl="1"/>
                <a:r>
                  <a:rPr lang="he-IL" sz="1200" kern="1200" dirty="0">
                    <a:solidFill>
                      <a:schemeClr val="tx1"/>
                    </a:solidFill>
                    <a:effectLst/>
                    <a:latin typeface="+mn-lt"/>
                    <a:ea typeface="+mn-ea"/>
                    <a:cs typeface="+mn-cs"/>
                  </a:rPr>
                  <a:t>כ-</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4</m:t>
                    </m:r>
                  </m:oMath>
                </a14:m>
                <a:r>
                  <a:rPr lang="he-IL" sz="1200" kern="1200" dirty="0">
                    <a:solidFill>
                      <a:schemeClr val="tx1"/>
                    </a:solidFill>
                    <a:effectLst/>
                    <a:latin typeface="+mn-lt"/>
                    <a:ea typeface="+mn-ea"/>
                    <a:cs typeface="+mn-cs"/>
                  </a:rPr>
                  <a:t> ניסויים הסתיימו עקב שגיאת קוד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𝑐𝑎𝑝𝑡𝑐</m:t>
                    </m:r>
                    <m:r>
                      <a:rPr lang="en-US" sz="1200" i="1" kern="1200">
                        <a:solidFill>
                          <a:schemeClr val="tx1"/>
                        </a:solidFill>
                        <a:effectLst/>
                        <a:latin typeface="Cambria Math" panose="02040503050406030204" pitchFamily="18" charset="0"/>
                        <a:ea typeface="+mn-ea"/>
                        <a:cs typeface="+mn-cs"/>
                      </a:rPr>
                      <m:t>h</m:t>
                    </m:r>
                    <m:r>
                      <a:rPr lang="en-US" sz="1200" i="1" kern="1200">
                        <a:solidFill>
                          <a:schemeClr val="tx1"/>
                        </a:solidFill>
                        <a:effectLst/>
                        <a:latin typeface="Cambria Math" panose="02040503050406030204" pitchFamily="18" charset="0"/>
                        <a:ea typeface="+mn-ea"/>
                        <a:cs typeface="+mn-cs"/>
                      </a:rPr>
                      <m:t>𝑎</m:t>
                    </m:r>
                  </m:oMath>
                </a14:m>
                <a:r>
                  <a:rPr lang="he-IL" sz="1200" kern="1200" dirty="0">
                    <a:solidFill>
                      <a:schemeClr val="tx1"/>
                    </a:solidFill>
                    <a:effectLst/>
                    <a:latin typeface="+mn-lt"/>
                    <a:ea typeface="+mn-ea"/>
                    <a:cs typeface="+mn-cs"/>
                  </a:rPr>
                  <a:t>. בדומה לנקודה הקודמת, תוצאה זו מדגימה את יכולתה של המערכת לחסום משתמשים על בסיס קוד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𝑐𝑎𝑝𝑡𝑐</m:t>
                    </m:r>
                    <m:r>
                      <a:rPr lang="en-US" sz="1200" i="1" kern="1200">
                        <a:solidFill>
                          <a:schemeClr val="tx1"/>
                        </a:solidFill>
                        <a:effectLst/>
                        <a:latin typeface="Cambria Math" panose="02040503050406030204" pitchFamily="18" charset="0"/>
                        <a:ea typeface="+mn-ea"/>
                        <a:cs typeface="+mn-cs"/>
                      </a:rPr>
                      <m:t>h</m:t>
                    </m:r>
                    <m:r>
                      <a:rPr lang="en-US" sz="1200" i="1" kern="1200">
                        <a:solidFill>
                          <a:schemeClr val="tx1"/>
                        </a:solidFill>
                        <a:effectLst/>
                        <a:latin typeface="Cambria Math" panose="02040503050406030204" pitchFamily="18" charset="0"/>
                        <a:ea typeface="+mn-ea"/>
                        <a:cs typeface="+mn-cs"/>
                      </a:rPr>
                      <m:t>𝑎</m:t>
                    </m:r>
                  </m:oMath>
                </a14:m>
                <a:r>
                  <a:rPr lang="he-IL" sz="1200" kern="1200" dirty="0">
                    <a:solidFill>
                      <a:schemeClr val="tx1"/>
                    </a:solidFill>
                    <a:effectLst/>
                    <a:latin typeface="+mn-lt"/>
                    <a:ea typeface="+mn-ea"/>
                    <a:cs typeface="+mn-cs"/>
                  </a:rPr>
                  <a:t> שגוי (דגל יצירת קוד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𝑐𝑎𝑝𝑡𝑐</m:t>
                    </m:r>
                    <m:r>
                      <a:rPr lang="en-US" sz="1200" i="1" kern="1200">
                        <a:solidFill>
                          <a:schemeClr val="tx1"/>
                        </a:solidFill>
                        <a:effectLst/>
                        <a:latin typeface="Cambria Math" panose="02040503050406030204" pitchFamily="18" charset="0"/>
                        <a:ea typeface="+mn-ea"/>
                        <a:cs typeface="+mn-cs"/>
                      </a:rPr>
                      <m:t>h</m:t>
                    </m:r>
                    <m:r>
                      <a:rPr lang="en-US" sz="1200" i="1" kern="1200">
                        <a:solidFill>
                          <a:schemeClr val="tx1"/>
                        </a:solidFill>
                        <a:effectLst/>
                        <a:latin typeface="Cambria Math" panose="02040503050406030204" pitchFamily="18" charset="0"/>
                        <a:ea typeface="+mn-ea"/>
                        <a:cs typeface="+mn-cs"/>
                      </a:rPr>
                      <m:t>𝑎</m:t>
                    </m:r>
                  </m:oMath>
                </a14:m>
                <a:r>
                  <a:rPr lang="he-IL" sz="1200" kern="1200" dirty="0">
                    <a:solidFill>
                      <a:schemeClr val="tx1"/>
                    </a:solidFill>
                    <a:effectLst/>
                    <a:latin typeface="+mn-lt"/>
                    <a:ea typeface="+mn-ea"/>
                    <a:cs typeface="+mn-cs"/>
                  </a:rPr>
                  <a:t> החוקי על ידי מעקף מנהל לא היה מורם).</a:t>
                </a:r>
                <a:endParaRPr lang="en-US" sz="1200" kern="1200" dirty="0">
                  <a:solidFill>
                    <a:schemeClr val="tx1"/>
                  </a:solidFill>
                  <a:effectLst/>
                  <a:latin typeface="+mn-lt"/>
                  <a:ea typeface="+mn-ea"/>
                  <a:cs typeface="+mn-cs"/>
                </a:endParaRPr>
              </a:p>
              <a:p>
                <a:pPr rtl="1"/>
                <a:r>
                  <a:rPr lang="he-IL" sz="1200" kern="1200" dirty="0">
                    <a:solidFill>
                      <a:schemeClr val="tx1"/>
                    </a:solidFill>
                    <a:effectLst/>
                    <a:latin typeface="+mn-lt"/>
                    <a:ea typeface="+mn-ea"/>
                    <a:cs typeface="+mn-cs"/>
                  </a:rPr>
                  <a:t>לא ניתן להתעלם מהצלחתה של המערכת לזהות, להתמודד ולעצור התקפות בזמן. נכון, ישנן נקודות חולשה של המערכת (בעיקר מרחב הסיסמאות החלשות הקטן ביותר ו/או שימוש בשיטת גיבוב מהירה כגון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𝑠</m:t>
                    </m:r>
                    <m:r>
                      <a:rPr lang="en-US" sz="1200" i="1" kern="1200">
                        <a:solidFill>
                          <a:schemeClr val="tx1"/>
                        </a:solidFill>
                        <a:effectLst/>
                        <a:latin typeface="Cambria Math" panose="02040503050406030204" pitchFamily="18" charset="0"/>
                        <a:ea typeface="+mn-ea"/>
                        <a:cs typeface="+mn-cs"/>
                      </a:rPr>
                      <m:t>h</m:t>
                    </m:r>
                    <m:r>
                      <a:rPr lang="en-US" sz="1200" i="1" kern="1200">
                        <a:solidFill>
                          <a:schemeClr val="tx1"/>
                        </a:solidFill>
                        <a:effectLst/>
                        <a:latin typeface="Cambria Math" panose="02040503050406030204" pitchFamily="18" charset="0"/>
                        <a:ea typeface="+mn-ea"/>
                        <a:cs typeface="+mn-cs"/>
                      </a:rPr>
                      <m:t>𝑎</m:t>
                    </m:r>
                    <m:r>
                      <a:rPr lang="en-US" sz="1200" i="1" kern="1200">
                        <a:solidFill>
                          <a:schemeClr val="tx1"/>
                        </a:solidFill>
                        <a:effectLst/>
                        <a:latin typeface="Cambria Math" panose="02040503050406030204" pitchFamily="18" charset="0"/>
                        <a:ea typeface="+mn-ea"/>
                        <a:cs typeface="+mn-cs"/>
                      </a:rPr>
                      <m:t>−</m:t>
                    </m:r>
                    <m:r>
                      <a:rPr lang="en-US" sz="1200" i="1" kern="1200">
                        <a:solidFill>
                          <a:schemeClr val="tx1"/>
                        </a:solidFill>
                        <a:effectLst/>
                        <a:latin typeface="Cambria Math" panose="02040503050406030204" pitchFamily="18" charset="0"/>
                        <a:ea typeface="+mn-ea"/>
                        <a:cs typeface="+mn-cs"/>
                      </a:rPr>
                      <m:t>256</m:t>
                    </m:r>
                  </m:oMath>
                </a14:m>
                <a:r>
                  <a:rPr lang="he-IL" sz="1200" kern="1200" dirty="0">
                    <a:solidFill>
                      <a:schemeClr val="tx1"/>
                    </a:solidFill>
                    <a:effectLst/>
                    <a:latin typeface="+mn-lt"/>
                    <a:ea typeface="+mn-ea"/>
                    <a:cs typeface="+mn-cs"/>
                  </a:rPr>
                  <a:t>). אך, כאשר ההגנות הנכונות מופעלות ואין עקיפה של מנגנוני ההגנה, אפשר לקבוע כמעט בסבירות מוחלטת כי כל התקפה תיכשל, בין אם מחסימה ובין אם מהגעה למספר הניסיונות המותר.</a:t>
                </a:r>
                <a:br>
                  <a:rPr lang="he-IL"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endParaRPr lang="he-IL" dirty="0"/>
              </a:p>
            </p:txBody>
          </p:sp>
        </mc:Choice>
        <mc:Fallback xmlns="">
          <p:sp>
            <p:nvSpPr>
              <p:cNvPr id="3" name="מציין מיקום של הערות 2"/>
              <p:cNvSpPr>
                <a:spLocks noGrp="1"/>
              </p:cNvSpPr>
              <p:nvPr>
                <p:ph type="body" idx="1"/>
              </p:nvPr>
            </p:nvSpPr>
            <p:spPr/>
            <p:txBody>
              <a:bodyPr/>
              <a:lstStyle/>
              <a:p>
                <a:pPr lvl="0" rtl="1"/>
                <a:r>
                  <a:rPr lang="he-IL" sz="1200" kern="1200" dirty="0">
                    <a:solidFill>
                      <a:schemeClr val="tx1"/>
                    </a:solidFill>
                    <a:effectLst/>
                    <a:latin typeface="+mn-lt"/>
                    <a:ea typeface="+mn-ea"/>
                    <a:cs typeface="+mn-cs"/>
                  </a:rPr>
                  <a:t>כ-</a:t>
                </a:r>
                <a:r>
                  <a:rPr lang="en-US" sz="1200" i="0" kern="1200">
                    <a:solidFill>
                      <a:schemeClr val="tx1"/>
                    </a:solidFill>
                    <a:effectLst/>
                    <a:latin typeface="+mn-lt"/>
                    <a:ea typeface="+mn-ea"/>
                    <a:cs typeface="+mn-cs"/>
                  </a:rPr>
                  <a:t>13</a:t>
                </a:r>
                <a:r>
                  <a:rPr lang="he-IL" sz="1200" kern="1200" dirty="0">
                    <a:solidFill>
                      <a:schemeClr val="tx1"/>
                    </a:solidFill>
                    <a:effectLst/>
                    <a:latin typeface="+mn-lt"/>
                    <a:ea typeface="+mn-ea"/>
                    <a:cs typeface="+mn-cs"/>
                  </a:rPr>
                  <a:t> ניסויים הסתיימו עקב הגעה למספר ניסיונות מרבי, מה שמעיד שלמרות ההרצות ללא הגנות כלל וההרצות בהן דגלים מסוימים העוזרים להתמודדות עם מנגנוני הגנה מסוימים היו מורמים, רוב הניסויים לא צלחו (כולל יתר הניסויים הבאים).</a:t>
                </a:r>
                <a:endParaRPr lang="en-US" sz="1200" kern="1200" dirty="0">
                  <a:solidFill>
                    <a:schemeClr val="tx1"/>
                  </a:solidFill>
                  <a:effectLst/>
                  <a:latin typeface="+mn-lt"/>
                  <a:ea typeface="+mn-ea"/>
                  <a:cs typeface="+mn-cs"/>
                </a:endParaRPr>
              </a:p>
              <a:p>
                <a:pPr lvl="0" rtl="1"/>
                <a:r>
                  <a:rPr lang="he-IL" sz="1200" kern="1200" dirty="0">
                    <a:solidFill>
                      <a:schemeClr val="tx1"/>
                    </a:solidFill>
                    <a:effectLst/>
                    <a:latin typeface="+mn-lt"/>
                    <a:ea typeface="+mn-ea"/>
                    <a:cs typeface="+mn-cs"/>
                  </a:rPr>
                  <a:t>כ-</a:t>
                </a:r>
                <a:r>
                  <a:rPr lang="en-US" sz="1200" i="0" kern="1200">
                    <a:solidFill>
                      <a:schemeClr val="tx1"/>
                    </a:solidFill>
                    <a:effectLst/>
                    <a:latin typeface="+mn-lt"/>
                    <a:ea typeface="+mn-ea"/>
                    <a:cs typeface="+mn-cs"/>
                  </a:rPr>
                  <a:t>5</a:t>
                </a:r>
                <a:r>
                  <a:rPr lang="he-IL" sz="1200" kern="1200" dirty="0">
                    <a:solidFill>
                      <a:schemeClr val="tx1"/>
                    </a:solidFill>
                    <a:effectLst/>
                    <a:latin typeface="+mn-lt"/>
                    <a:ea typeface="+mn-ea"/>
                    <a:cs typeface="+mn-cs"/>
                  </a:rPr>
                  <a:t> ניסויים הסתיימו עקב חסימת משתמש/חסימת כתובת </a:t>
                </a:r>
                <a:r>
                  <a:rPr lang="en-US" sz="1200" i="0" kern="1200">
                    <a:solidFill>
                      <a:schemeClr val="tx1"/>
                    </a:solidFill>
                    <a:effectLst/>
                    <a:latin typeface="+mn-lt"/>
                    <a:ea typeface="+mn-ea"/>
                    <a:cs typeface="+mn-cs"/>
                  </a:rPr>
                  <a:t>𝐼𝑃</a:t>
                </a:r>
                <a:r>
                  <a:rPr lang="he-IL" sz="1200" kern="1200" dirty="0">
                    <a:solidFill>
                      <a:schemeClr val="tx1"/>
                    </a:solidFill>
                    <a:effectLst/>
                    <a:latin typeface="+mn-lt"/>
                    <a:ea typeface="+mn-ea"/>
                    <a:cs typeface="+mn-cs"/>
                  </a:rPr>
                  <a:t> וניתן לקבוע כי מנגנון זה פועל בצורה טובה. אם נסתכל בקובץ הלוג נבחין כי עבור כל ניסוי בו לא פועל מנגנון הגנה מגביל (המבצע חסימה של משתמש ו/או כתובת </a:t>
                </a:r>
                <a:r>
                  <a:rPr lang="en-US" sz="1200" i="0" kern="1200">
                    <a:solidFill>
                      <a:schemeClr val="tx1"/>
                    </a:solidFill>
                    <a:effectLst/>
                    <a:latin typeface="+mn-lt"/>
                    <a:ea typeface="+mn-ea"/>
                    <a:cs typeface="+mn-cs"/>
                  </a:rPr>
                  <a:t>𝐼𝑃</a:t>
                </a:r>
                <a:r>
                  <a:rPr lang="he-IL" sz="1200" kern="1200" dirty="0">
                    <a:solidFill>
                      <a:schemeClr val="tx1"/>
                    </a:solidFill>
                    <a:effectLst/>
                    <a:latin typeface="+mn-lt"/>
                    <a:ea typeface="+mn-ea"/>
                    <a:cs typeface="+mn-cs"/>
                  </a:rPr>
                  <a:t>), ולא מורמים דגלים להחלפת כתובת ה-</a:t>
                </a:r>
                <a:r>
                  <a:rPr lang="en-US" sz="1200" i="0" kern="1200">
                    <a:solidFill>
                      <a:schemeClr val="tx1"/>
                    </a:solidFill>
                    <a:effectLst/>
                    <a:latin typeface="+mn-lt"/>
                    <a:ea typeface="+mn-ea"/>
                    <a:cs typeface="+mn-cs"/>
                  </a:rPr>
                  <a:t>𝐼𝑃</a:t>
                </a:r>
                <a:r>
                  <a:rPr lang="he-IL" sz="1200" kern="1200" dirty="0">
                    <a:solidFill>
                      <a:schemeClr val="tx1"/>
                    </a:solidFill>
                    <a:effectLst/>
                    <a:latin typeface="+mn-lt"/>
                    <a:ea typeface="+mn-ea"/>
                    <a:cs typeface="+mn-cs"/>
                  </a:rPr>
                  <a:t> או יצירת קוד </a:t>
                </a:r>
                <a:r>
                  <a:rPr lang="en-US" sz="1200" i="0" kern="1200">
                    <a:solidFill>
                      <a:schemeClr val="tx1"/>
                    </a:solidFill>
                    <a:effectLst/>
                    <a:latin typeface="+mn-lt"/>
                    <a:ea typeface="+mn-ea"/>
                    <a:cs typeface="+mn-cs"/>
                  </a:rPr>
                  <a:t>𝑐𝑎𝑝𝑡𝑐ℎ𝑎</a:t>
                </a:r>
                <a:r>
                  <a:rPr lang="he-IL" sz="1200" kern="1200" dirty="0">
                    <a:solidFill>
                      <a:schemeClr val="tx1"/>
                    </a:solidFill>
                    <a:effectLst/>
                    <a:latin typeface="+mn-lt"/>
                    <a:ea typeface="+mn-ea"/>
                    <a:cs typeface="+mn-cs"/>
                  </a:rPr>
                  <a:t> חוקי, בכל המקרים האלו אחרי בין </a:t>
                </a:r>
                <a:r>
                  <a:rPr lang="en-US" sz="1200" i="0" kern="1200">
                    <a:solidFill>
                      <a:schemeClr val="tx1"/>
                    </a:solidFill>
                    <a:effectLst/>
                    <a:latin typeface="+mn-lt"/>
                    <a:ea typeface="+mn-ea"/>
                    <a:cs typeface="+mn-cs"/>
                  </a:rPr>
                  <a:t>3</a:t>
                </a:r>
                <a:r>
                  <a:rPr lang="he-IL" sz="1200" kern="1200" dirty="0">
                    <a:solidFill>
                      <a:schemeClr val="tx1"/>
                    </a:solidFill>
                    <a:effectLst/>
                    <a:latin typeface="+mn-lt"/>
                    <a:ea typeface="+mn-ea"/>
                    <a:cs typeface="+mn-cs"/>
                  </a:rPr>
                  <a:t> ל-</a:t>
                </a:r>
                <a:r>
                  <a:rPr lang="en-US" sz="1200" i="0" kern="1200">
                    <a:solidFill>
                      <a:schemeClr val="tx1"/>
                    </a:solidFill>
                    <a:effectLst/>
                    <a:latin typeface="+mn-lt"/>
                    <a:ea typeface="+mn-ea"/>
                    <a:cs typeface="+mn-cs"/>
                  </a:rPr>
                  <a:t>5</a:t>
                </a:r>
                <a:r>
                  <a:rPr lang="he-IL" sz="1200" kern="1200" dirty="0">
                    <a:solidFill>
                      <a:schemeClr val="tx1"/>
                    </a:solidFill>
                    <a:effectLst/>
                    <a:latin typeface="+mn-lt"/>
                    <a:ea typeface="+mn-ea"/>
                    <a:cs typeface="+mn-cs"/>
                  </a:rPr>
                  <a:t> ניסיונות (בהתאמה לאילו הגנות פעלו ושילובן) נחסם המשתמש ו/או כתובת ה-</a:t>
                </a:r>
                <a:r>
                  <a:rPr lang="en-US" sz="1200" i="0" kern="1200">
                    <a:solidFill>
                      <a:schemeClr val="tx1"/>
                    </a:solidFill>
                    <a:effectLst/>
                    <a:latin typeface="+mn-lt"/>
                    <a:ea typeface="+mn-ea"/>
                    <a:cs typeface="+mn-cs"/>
                  </a:rPr>
                  <a:t>𝐼𝑃</a:t>
                </a:r>
                <a:r>
                  <a:rPr lang="he-IL" sz="1200" kern="1200" dirty="0">
                    <a:solidFill>
                      <a:schemeClr val="tx1"/>
                    </a:solidFill>
                    <a:effectLst/>
                    <a:latin typeface="+mn-lt"/>
                    <a:ea typeface="+mn-ea"/>
                    <a:cs typeface="+mn-cs"/>
                  </a:rPr>
                  <a:t> ולמעשה המערכת הצליחה בזיהוי המתקפה ועצרה אותה במהירות, מה שלא רק חוסך בזמן המתקפה אלא גם חוסך משאבים לשרת האימות (הוא פחות "תפוס").</a:t>
                </a:r>
                <a:endParaRPr lang="en-US" sz="1200" kern="1200" dirty="0">
                  <a:solidFill>
                    <a:schemeClr val="tx1"/>
                  </a:solidFill>
                  <a:effectLst/>
                  <a:latin typeface="+mn-lt"/>
                  <a:ea typeface="+mn-ea"/>
                  <a:cs typeface="+mn-cs"/>
                </a:endParaRPr>
              </a:p>
              <a:p>
                <a:pPr lvl="0" rtl="1"/>
                <a:r>
                  <a:rPr lang="he-IL" sz="1200" kern="1200" dirty="0">
                    <a:solidFill>
                      <a:schemeClr val="tx1"/>
                    </a:solidFill>
                    <a:effectLst/>
                    <a:latin typeface="+mn-lt"/>
                    <a:ea typeface="+mn-ea"/>
                    <a:cs typeface="+mn-cs"/>
                  </a:rPr>
                  <a:t>כ-</a:t>
                </a:r>
                <a:r>
                  <a:rPr lang="en-US" sz="1200" i="0" kern="1200">
                    <a:solidFill>
                      <a:schemeClr val="tx1"/>
                    </a:solidFill>
                    <a:effectLst/>
                    <a:latin typeface="+mn-lt"/>
                    <a:ea typeface="+mn-ea"/>
                    <a:cs typeface="+mn-cs"/>
                  </a:rPr>
                  <a:t>4</a:t>
                </a:r>
                <a:r>
                  <a:rPr lang="he-IL" sz="1200" kern="1200" dirty="0">
                    <a:solidFill>
                      <a:schemeClr val="tx1"/>
                    </a:solidFill>
                    <a:effectLst/>
                    <a:latin typeface="+mn-lt"/>
                    <a:ea typeface="+mn-ea"/>
                    <a:cs typeface="+mn-cs"/>
                  </a:rPr>
                  <a:t> ניסויים הסתיימו עקב שגיאת קוד </a:t>
                </a:r>
                <a:r>
                  <a:rPr lang="en-US" sz="1200" i="0" kern="1200">
                    <a:solidFill>
                      <a:schemeClr val="tx1"/>
                    </a:solidFill>
                    <a:effectLst/>
                    <a:latin typeface="+mn-lt"/>
                    <a:ea typeface="+mn-ea"/>
                    <a:cs typeface="+mn-cs"/>
                  </a:rPr>
                  <a:t>𝑐𝑎𝑝𝑡𝑐ℎ𝑎</a:t>
                </a:r>
                <a:r>
                  <a:rPr lang="he-IL" sz="1200" kern="1200" dirty="0">
                    <a:solidFill>
                      <a:schemeClr val="tx1"/>
                    </a:solidFill>
                    <a:effectLst/>
                    <a:latin typeface="+mn-lt"/>
                    <a:ea typeface="+mn-ea"/>
                    <a:cs typeface="+mn-cs"/>
                  </a:rPr>
                  <a:t>. בדומה לנקודה הקודמת, תוצאה זו מדגימה את יכולתה של המערכת לחסום משתמשים על בסיס קוד </a:t>
                </a:r>
                <a:r>
                  <a:rPr lang="en-US" sz="1200" i="0" kern="1200">
                    <a:solidFill>
                      <a:schemeClr val="tx1"/>
                    </a:solidFill>
                    <a:effectLst/>
                    <a:latin typeface="+mn-lt"/>
                    <a:ea typeface="+mn-ea"/>
                    <a:cs typeface="+mn-cs"/>
                  </a:rPr>
                  <a:t>𝑐𝑎𝑝𝑡𝑐ℎ𝑎</a:t>
                </a:r>
                <a:r>
                  <a:rPr lang="he-IL" sz="1200" kern="1200" dirty="0">
                    <a:solidFill>
                      <a:schemeClr val="tx1"/>
                    </a:solidFill>
                    <a:effectLst/>
                    <a:latin typeface="+mn-lt"/>
                    <a:ea typeface="+mn-ea"/>
                    <a:cs typeface="+mn-cs"/>
                  </a:rPr>
                  <a:t> שגוי (דגל יצירת קוד </a:t>
                </a:r>
                <a:r>
                  <a:rPr lang="en-US" sz="1200" i="0" kern="1200">
                    <a:solidFill>
                      <a:schemeClr val="tx1"/>
                    </a:solidFill>
                    <a:effectLst/>
                    <a:latin typeface="+mn-lt"/>
                    <a:ea typeface="+mn-ea"/>
                    <a:cs typeface="+mn-cs"/>
                  </a:rPr>
                  <a:t>𝑐𝑎𝑝𝑡𝑐ℎ𝑎</a:t>
                </a:r>
                <a:r>
                  <a:rPr lang="he-IL" sz="1200" kern="1200" dirty="0">
                    <a:solidFill>
                      <a:schemeClr val="tx1"/>
                    </a:solidFill>
                    <a:effectLst/>
                    <a:latin typeface="+mn-lt"/>
                    <a:ea typeface="+mn-ea"/>
                    <a:cs typeface="+mn-cs"/>
                  </a:rPr>
                  <a:t> החוקי על ידי מעקף מנהל לא היה מורם).</a:t>
                </a:r>
                <a:endParaRPr lang="en-US" sz="1200" kern="1200" dirty="0">
                  <a:solidFill>
                    <a:schemeClr val="tx1"/>
                  </a:solidFill>
                  <a:effectLst/>
                  <a:latin typeface="+mn-lt"/>
                  <a:ea typeface="+mn-ea"/>
                  <a:cs typeface="+mn-cs"/>
                </a:endParaRPr>
              </a:p>
              <a:p>
                <a:pPr rtl="1"/>
                <a:r>
                  <a:rPr lang="he-IL" sz="1200" kern="1200" dirty="0">
                    <a:solidFill>
                      <a:schemeClr val="tx1"/>
                    </a:solidFill>
                    <a:effectLst/>
                    <a:latin typeface="+mn-lt"/>
                    <a:ea typeface="+mn-ea"/>
                    <a:cs typeface="+mn-cs"/>
                  </a:rPr>
                  <a:t>לא ניתן להתעלם מהצלחתה של המערכת לזהות, להתמודד ולעצור התקפות בזמן. נכון, ישנן נקודות חולשה של המערכת (בעיקר מרחב הסיסמאות החלשות הקטן ביותר ו/או שימוש בשיטת גיבוב מהירה כגון </a:t>
                </a:r>
                <a:r>
                  <a:rPr lang="en-US" sz="1200" i="0" kern="1200">
                    <a:solidFill>
                      <a:schemeClr val="tx1"/>
                    </a:solidFill>
                    <a:effectLst/>
                    <a:latin typeface="+mn-lt"/>
                    <a:ea typeface="+mn-ea"/>
                    <a:cs typeface="+mn-cs"/>
                  </a:rPr>
                  <a:t>𝑠ℎ𝑎−256</a:t>
                </a:r>
                <a:r>
                  <a:rPr lang="he-IL" sz="1200" kern="1200" dirty="0">
                    <a:solidFill>
                      <a:schemeClr val="tx1"/>
                    </a:solidFill>
                    <a:effectLst/>
                    <a:latin typeface="+mn-lt"/>
                    <a:ea typeface="+mn-ea"/>
                    <a:cs typeface="+mn-cs"/>
                  </a:rPr>
                  <a:t>). אך, כאשר ההגנות הנכונות מופעלות ואין עקיפה של מנגנוני ההגנה, אפשר לקבוע כמעט בסבירות מוחלטת כי כל התקפה תיכשל, בין אם מחסימה ובין אם מהגעה למספר הניסיונות המותר.</a:t>
                </a:r>
                <a:br>
                  <a:rPr lang="he-IL"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endParaRPr lang="he-IL" dirty="0"/>
              </a:p>
            </p:txBody>
          </p:sp>
        </mc:Fallback>
      </mc:AlternateContent>
      <p:sp>
        <p:nvSpPr>
          <p:cNvPr id="4" name="מציין מיקום של מספר שקופית 3"/>
          <p:cNvSpPr>
            <a:spLocks noGrp="1"/>
          </p:cNvSpPr>
          <p:nvPr>
            <p:ph type="sldNum" sz="quarter" idx="5"/>
          </p:nvPr>
        </p:nvSpPr>
        <p:spPr/>
        <p:txBody>
          <a:bodyPr/>
          <a:lstStyle/>
          <a:p>
            <a:fld id="{B1ADE74A-C333-4FD4-8244-ACDAACBC333E}" type="slidenum">
              <a:rPr lang="he-IL" smtClean="0"/>
              <a:t>19</a:t>
            </a:fld>
            <a:endParaRPr lang="he-IL" dirty="0"/>
          </a:p>
        </p:txBody>
      </p:sp>
    </p:spTree>
    <p:extLst>
      <p:ext uri="{BB962C8B-B14F-4D97-AF65-F5344CB8AC3E}">
        <p14:creationId xmlns:p14="http://schemas.microsoft.com/office/powerpoint/2010/main" val="1206229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42C00F9-6F5C-7441-04F7-9EACEBCF5D0D}"/>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364F96E7-5643-3344-398A-92669CAE94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46562DD9-31FD-292C-81C4-6EEEE36FC481}"/>
              </a:ext>
            </a:extLst>
          </p:cNvPr>
          <p:cNvSpPr>
            <a:spLocks noGrp="1"/>
          </p:cNvSpPr>
          <p:nvPr>
            <p:ph type="dt" sz="half" idx="10"/>
          </p:nvPr>
        </p:nvSpPr>
        <p:spPr/>
        <p:txBody>
          <a:bodyPr/>
          <a:lstStyle/>
          <a:p>
            <a:fld id="{515D4B3E-5DEA-468F-A9B8-4D4805F44759}" type="datetimeFigureOut">
              <a:rPr lang="he-IL" smtClean="0"/>
              <a:t>ט'/טבת/תשפ"ו</a:t>
            </a:fld>
            <a:endParaRPr lang="he-IL" dirty="0"/>
          </a:p>
        </p:txBody>
      </p:sp>
      <p:sp>
        <p:nvSpPr>
          <p:cNvPr id="5" name="מציין מיקום של כותרת תחתונה 4">
            <a:extLst>
              <a:ext uri="{FF2B5EF4-FFF2-40B4-BE49-F238E27FC236}">
                <a16:creationId xmlns:a16="http://schemas.microsoft.com/office/drawing/2014/main" id="{3A191835-51FF-D348-6ACA-9D9DCCD272C0}"/>
              </a:ext>
            </a:extLst>
          </p:cNvPr>
          <p:cNvSpPr>
            <a:spLocks noGrp="1"/>
          </p:cNvSpPr>
          <p:nvPr>
            <p:ph type="ftr" sz="quarter" idx="11"/>
          </p:nvPr>
        </p:nvSpPr>
        <p:spPr/>
        <p:txBody>
          <a:bodyPr/>
          <a:lstStyle/>
          <a:p>
            <a:endParaRPr lang="he-IL" dirty="0"/>
          </a:p>
        </p:txBody>
      </p:sp>
      <p:sp>
        <p:nvSpPr>
          <p:cNvPr id="6" name="מציין מיקום של מספר שקופית 5">
            <a:extLst>
              <a:ext uri="{FF2B5EF4-FFF2-40B4-BE49-F238E27FC236}">
                <a16:creationId xmlns:a16="http://schemas.microsoft.com/office/drawing/2014/main" id="{74F2FFD0-C1F3-20AE-9D0B-E2075F9F2447}"/>
              </a:ext>
            </a:extLst>
          </p:cNvPr>
          <p:cNvSpPr>
            <a:spLocks noGrp="1"/>
          </p:cNvSpPr>
          <p:nvPr>
            <p:ph type="sldNum" sz="quarter" idx="12"/>
          </p:nvPr>
        </p:nvSpPr>
        <p:spPr/>
        <p:txBody>
          <a:bodyPr/>
          <a:lstStyle/>
          <a:p>
            <a:fld id="{B866C471-8B5F-4568-96F6-677A6C380FF1}" type="slidenum">
              <a:rPr lang="he-IL" smtClean="0"/>
              <a:t>‹#›</a:t>
            </a:fld>
            <a:endParaRPr lang="he-IL" dirty="0"/>
          </a:p>
        </p:txBody>
      </p:sp>
    </p:spTree>
    <p:extLst>
      <p:ext uri="{BB962C8B-B14F-4D97-AF65-F5344CB8AC3E}">
        <p14:creationId xmlns:p14="http://schemas.microsoft.com/office/powerpoint/2010/main" val="34905213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E50B755-310C-DE5B-EE46-4201830BDA0F}"/>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8679ED8A-925E-79B5-4BF0-1FD9A04798A0}"/>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1B438B39-84EB-4D49-6898-459A57D6CB9C}"/>
              </a:ext>
            </a:extLst>
          </p:cNvPr>
          <p:cNvSpPr>
            <a:spLocks noGrp="1"/>
          </p:cNvSpPr>
          <p:nvPr>
            <p:ph type="dt" sz="half" idx="10"/>
          </p:nvPr>
        </p:nvSpPr>
        <p:spPr/>
        <p:txBody>
          <a:bodyPr/>
          <a:lstStyle/>
          <a:p>
            <a:fld id="{515D4B3E-5DEA-468F-A9B8-4D4805F44759}" type="datetimeFigureOut">
              <a:rPr lang="he-IL" smtClean="0"/>
              <a:t>ט'/טבת/תשפ"ו</a:t>
            </a:fld>
            <a:endParaRPr lang="he-IL" dirty="0"/>
          </a:p>
        </p:txBody>
      </p:sp>
      <p:sp>
        <p:nvSpPr>
          <p:cNvPr id="5" name="מציין מיקום של כותרת תחתונה 4">
            <a:extLst>
              <a:ext uri="{FF2B5EF4-FFF2-40B4-BE49-F238E27FC236}">
                <a16:creationId xmlns:a16="http://schemas.microsoft.com/office/drawing/2014/main" id="{457B1EE5-DAA5-3F1B-882D-8304F7BB4316}"/>
              </a:ext>
            </a:extLst>
          </p:cNvPr>
          <p:cNvSpPr>
            <a:spLocks noGrp="1"/>
          </p:cNvSpPr>
          <p:nvPr>
            <p:ph type="ftr" sz="quarter" idx="11"/>
          </p:nvPr>
        </p:nvSpPr>
        <p:spPr/>
        <p:txBody>
          <a:bodyPr/>
          <a:lstStyle/>
          <a:p>
            <a:endParaRPr lang="he-IL" dirty="0"/>
          </a:p>
        </p:txBody>
      </p:sp>
      <p:sp>
        <p:nvSpPr>
          <p:cNvPr id="6" name="מציין מיקום של מספר שקופית 5">
            <a:extLst>
              <a:ext uri="{FF2B5EF4-FFF2-40B4-BE49-F238E27FC236}">
                <a16:creationId xmlns:a16="http://schemas.microsoft.com/office/drawing/2014/main" id="{27017CCE-3E27-8910-AEB6-CAF62C402330}"/>
              </a:ext>
            </a:extLst>
          </p:cNvPr>
          <p:cNvSpPr>
            <a:spLocks noGrp="1"/>
          </p:cNvSpPr>
          <p:nvPr>
            <p:ph type="sldNum" sz="quarter" idx="12"/>
          </p:nvPr>
        </p:nvSpPr>
        <p:spPr/>
        <p:txBody>
          <a:bodyPr/>
          <a:lstStyle/>
          <a:p>
            <a:fld id="{B866C471-8B5F-4568-96F6-677A6C380FF1}" type="slidenum">
              <a:rPr lang="he-IL" smtClean="0"/>
              <a:t>‹#›</a:t>
            </a:fld>
            <a:endParaRPr lang="he-IL" dirty="0"/>
          </a:p>
        </p:txBody>
      </p:sp>
    </p:spTree>
    <p:extLst>
      <p:ext uri="{BB962C8B-B14F-4D97-AF65-F5344CB8AC3E}">
        <p14:creationId xmlns:p14="http://schemas.microsoft.com/office/powerpoint/2010/main" val="3496330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4EB491C-6EC3-0117-9386-B14F82A5BFDD}"/>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5E54F162-AAF4-6F62-EE7E-EA8952739E4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9B16F9FD-8F77-1679-E5A0-DDCB61EA7552}"/>
              </a:ext>
            </a:extLst>
          </p:cNvPr>
          <p:cNvSpPr>
            <a:spLocks noGrp="1"/>
          </p:cNvSpPr>
          <p:nvPr>
            <p:ph type="dt" sz="half" idx="10"/>
          </p:nvPr>
        </p:nvSpPr>
        <p:spPr/>
        <p:txBody>
          <a:bodyPr/>
          <a:lstStyle/>
          <a:p>
            <a:fld id="{515D4B3E-5DEA-468F-A9B8-4D4805F44759}" type="datetimeFigureOut">
              <a:rPr lang="he-IL" smtClean="0"/>
              <a:t>ט'/טבת/תשפ"ו</a:t>
            </a:fld>
            <a:endParaRPr lang="he-IL" dirty="0"/>
          </a:p>
        </p:txBody>
      </p:sp>
      <p:sp>
        <p:nvSpPr>
          <p:cNvPr id="5" name="מציין מיקום של כותרת תחתונה 4">
            <a:extLst>
              <a:ext uri="{FF2B5EF4-FFF2-40B4-BE49-F238E27FC236}">
                <a16:creationId xmlns:a16="http://schemas.microsoft.com/office/drawing/2014/main" id="{A62CB903-2B76-CA97-3FF1-0F1A4E3898B1}"/>
              </a:ext>
            </a:extLst>
          </p:cNvPr>
          <p:cNvSpPr>
            <a:spLocks noGrp="1"/>
          </p:cNvSpPr>
          <p:nvPr>
            <p:ph type="ftr" sz="quarter" idx="11"/>
          </p:nvPr>
        </p:nvSpPr>
        <p:spPr/>
        <p:txBody>
          <a:bodyPr/>
          <a:lstStyle/>
          <a:p>
            <a:endParaRPr lang="he-IL" dirty="0"/>
          </a:p>
        </p:txBody>
      </p:sp>
      <p:sp>
        <p:nvSpPr>
          <p:cNvPr id="6" name="מציין מיקום של מספר שקופית 5">
            <a:extLst>
              <a:ext uri="{FF2B5EF4-FFF2-40B4-BE49-F238E27FC236}">
                <a16:creationId xmlns:a16="http://schemas.microsoft.com/office/drawing/2014/main" id="{F9DA03EA-6492-4E5B-B37D-AFDA548D2757}"/>
              </a:ext>
            </a:extLst>
          </p:cNvPr>
          <p:cNvSpPr>
            <a:spLocks noGrp="1"/>
          </p:cNvSpPr>
          <p:nvPr>
            <p:ph type="sldNum" sz="quarter" idx="12"/>
          </p:nvPr>
        </p:nvSpPr>
        <p:spPr/>
        <p:txBody>
          <a:bodyPr/>
          <a:lstStyle/>
          <a:p>
            <a:fld id="{B866C471-8B5F-4568-96F6-677A6C380FF1}" type="slidenum">
              <a:rPr lang="he-IL" smtClean="0"/>
              <a:t>‹#›</a:t>
            </a:fld>
            <a:endParaRPr lang="he-IL" dirty="0"/>
          </a:p>
        </p:txBody>
      </p:sp>
    </p:spTree>
    <p:extLst>
      <p:ext uri="{BB962C8B-B14F-4D97-AF65-F5344CB8AC3E}">
        <p14:creationId xmlns:p14="http://schemas.microsoft.com/office/powerpoint/2010/main" val="2319957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A85DAED-5AB5-B65C-C523-D92B078B2DB0}"/>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58AEE38D-53B9-23E6-CC43-A7176DAA432D}"/>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9E570586-000E-CCDB-7D28-DA604A5CC186}"/>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F61729C6-75D6-7867-F37B-4914AFB9AD68}"/>
              </a:ext>
            </a:extLst>
          </p:cNvPr>
          <p:cNvSpPr>
            <a:spLocks noGrp="1"/>
          </p:cNvSpPr>
          <p:nvPr>
            <p:ph type="dt" sz="half" idx="10"/>
          </p:nvPr>
        </p:nvSpPr>
        <p:spPr/>
        <p:txBody>
          <a:bodyPr/>
          <a:lstStyle/>
          <a:p>
            <a:fld id="{515D4B3E-5DEA-468F-A9B8-4D4805F44759}" type="datetimeFigureOut">
              <a:rPr lang="he-IL" smtClean="0"/>
              <a:t>ט'/טבת/תשפ"ו</a:t>
            </a:fld>
            <a:endParaRPr lang="he-IL" dirty="0"/>
          </a:p>
        </p:txBody>
      </p:sp>
      <p:sp>
        <p:nvSpPr>
          <p:cNvPr id="6" name="מציין מיקום של כותרת תחתונה 5">
            <a:extLst>
              <a:ext uri="{FF2B5EF4-FFF2-40B4-BE49-F238E27FC236}">
                <a16:creationId xmlns:a16="http://schemas.microsoft.com/office/drawing/2014/main" id="{30D1B18B-58CE-54B9-DE82-1FD8398AA069}"/>
              </a:ext>
            </a:extLst>
          </p:cNvPr>
          <p:cNvSpPr>
            <a:spLocks noGrp="1"/>
          </p:cNvSpPr>
          <p:nvPr>
            <p:ph type="ftr" sz="quarter" idx="11"/>
          </p:nvPr>
        </p:nvSpPr>
        <p:spPr/>
        <p:txBody>
          <a:bodyPr/>
          <a:lstStyle/>
          <a:p>
            <a:endParaRPr lang="he-IL" dirty="0"/>
          </a:p>
        </p:txBody>
      </p:sp>
      <p:sp>
        <p:nvSpPr>
          <p:cNvPr id="7" name="מציין מיקום של מספר שקופית 6">
            <a:extLst>
              <a:ext uri="{FF2B5EF4-FFF2-40B4-BE49-F238E27FC236}">
                <a16:creationId xmlns:a16="http://schemas.microsoft.com/office/drawing/2014/main" id="{ECB18639-C415-9064-1DF8-10C27E85E57F}"/>
              </a:ext>
            </a:extLst>
          </p:cNvPr>
          <p:cNvSpPr>
            <a:spLocks noGrp="1"/>
          </p:cNvSpPr>
          <p:nvPr>
            <p:ph type="sldNum" sz="quarter" idx="12"/>
          </p:nvPr>
        </p:nvSpPr>
        <p:spPr/>
        <p:txBody>
          <a:bodyPr/>
          <a:lstStyle/>
          <a:p>
            <a:fld id="{B866C471-8B5F-4568-96F6-677A6C380FF1}" type="slidenum">
              <a:rPr lang="he-IL" smtClean="0"/>
              <a:t>‹#›</a:t>
            </a:fld>
            <a:endParaRPr lang="he-IL" dirty="0"/>
          </a:p>
        </p:txBody>
      </p:sp>
    </p:spTree>
    <p:extLst>
      <p:ext uri="{BB962C8B-B14F-4D97-AF65-F5344CB8AC3E}">
        <p14:creationId xmlns:p14="http://schemas.microsoft.com/office/powerpoint/2010/main" val="1866798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55AC7F6-3D49-A6BC-1FE6-6C16DA80A86B}"/>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FD012683-6425-A2D3-AB8E-11205EEC85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880BDEA1-9263-C9CD-C8F1-96AF2E6CF28D}"/>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B931C509-9B5C-952F-6D86-4B8D3227F2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9CC92154-F352-E515-1CAA-D991FD6DDF0C}"/>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3AE4C7B9-A8D4-0D08-3463-958107FDE97D}"/>
              </a:ext>
            </a:extLst>
          </p:cNvPr>
          <p:cNvSpPr>
            <a:spLocks noGrp="1"/>
          </p:cNvSpPr>
          <p:nvPr>
            <p:ph type="dt" sz="half" idx="10"/>
          </p:nvPr>
        </p:nvSpPr>
        <p:spPr/>
        <p:txBody>
          <a:bodyPr/>
          <a:lstStyle/>
          <a:p>
            <a:fld id="{515D4B3E-5DEA-468F-A9B8-4D4805F44759}" type="datetimeFigureOut">
              <a:rPr lang="he-IL" smtClean="0"/>
              <a:t>ט'/טבת/תשפ"ו</a:t>
            </a:fld>
            <a:endParaRPr lang="he-IL" dirty="0"/>
          </a:p>
        </p:txBody>
      </p:sp>
      <p:sp>
        <p:nvSpPr>
          <p:cNvPr id="8" name="מציין מיקום של כותרת תחתונה 7">
            <a:extLst>
              <a:ext uri="{FF2B5EF4-FFF2-40B4-BE49-F238E27FC236}">
                <a16:creationId xmlns:a16="http://schemas.microsoft.com/office/drawing/2014/main" id="{B1FDC9E9-3070-88C7-4EBF-400A854AB0E6}"/>
              </a:ext>
            </a:extLst>
          </p:cNvPr>
          <p:cNvSpPr>
            <a:spLocks noGrp="1"/>
          </p:cNvSpPr>
          <p:nvPr>
            <p:ph type="ftr" sz="quarter" idx="11"/>
          </p:nvPr>
        </p:nvSpPr>
        <p:spPr/>
        <p:txBody>
          <a:bodyPr/>
          <a:lstStyle/>
          <a:p>
            <a:endParaRPr lang="he-IL" dirty="0"/>
          </a:p>
        </p:txBody>
      </p:sp>
      <p:sp>
        <p:nvSpPr>
          <p:cNvPr id="9" name="מציין מיקום של מספר שקופית 8">
            <a:extLst>
              <a:ext uri="{FF2B5EF4-FFF2-40B4-BE49-F238E27FC236}">
                <a16:creationId xmlns:a16="http://schemas.microsoft.com/office/drawing/2014/main" id="{245B1C5A-8BF8-77AE-29FD-FC2F961F7891}"/>
              </a:ext>
            </a:extLst>
          </p:cNvPr>
          <p:cNvSpPr>
            <a:spLocks noGrp="1"/>
          </p:cNvSpPr>
          <p:nvPr>
            <p:ph type="sldNum" sz="quarter" idx="12"/>
          </p:nvPr>
        </p:nvSpPr>
        <p:spPr/>
        <p:txBody>
          <a:bodyPr/>
          <a:lstStyle/>
          <a:p>
            <a:fld id="{B866C471-8B5F-4568-96F6-677A6C380FF1}" type="slidenum">
              <a:rPr lang="he-IL" smtClean="0"/>
              <a:t>‹#›</a:t>
            </a:fld>
            <a:endParaRPr lang="he-IL" dirty="0"/>
          </a:p>
        </p:txBody>
      </p:sp>
    </p:spTree>
    <p:extLst>
      <p:ext uri="{BB962C8B-B14F-4D97-AF65-F5344CB8AC3E}">
        <p14:creationId xmlns:p14="http://schemas.microsoft.com/office/powerpoint/2010/main" val="1527504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F96C8B2-D4DF-F1A3-AA98-663C4EBB2CA8}"/>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77AD8CDF-6BBE-FC07-6322-A6191670A59F}"/>
              </a:ext>
            </a:extLst>
          </p:cNvPr>
          <p:cNvSpPr>
            <a:spLocks noGrp="1"/>
          </p:cNvSpPr>
          <p:nvPr>
            <p:ph type="dt" sz="half" idx="10"/>
          </p:nvPr>
        </p:nvSpPr>
        <p:spPr/>
        <p:txBody>
          <a:bodyPr/>
          <a:lstStyle/>
          <a:p>
            <a:fld id="{515D4B3E-5DEA-468F-A9B8-4D4805F44759}" type="datetimeFigureOut">
              <a:rPr lang="he-IL" smtClean="0"/>
              <a:t>ט'/טבת/תשפ"ו</a:t>
            </a:fld>
            <a:endParaRPr lang="he-IL" dirty="0"/>
          </a:p>
        </p:txBody>
      </p:sp>
      <p:sp>
        <p:nvSpPr>
          <p:cNvPr id="4" name="מציין מיקום של כותרת תחתונה 3">
            <a:extLst>
              <a:ext uri="{FF2B5EF4-FFF2-40B4-BE49-F238E27FC236}">
                <a16:creationId xmlns:a16="http://schemas.microsoft.com/office/drawing/2014/main" id="{0485D51C-36B7-D94F-3986-511535CCF798}"/>
              </a:ext>
            </a:extLst>
          </p:cNvPr>
          <p:cNvSpPr>
            <a:spLocks noGrp="1"/>
          </p:cNvSpPr>
          <p:nvPr>
            <p:ph type="ftr" sz="quarter" idx="11"/>
          </p:nvPr>
        </p:nvSpPr>
        <p:spPr/>
        <p:txBody>
          <a:bodyPr/>
          <a:lstStyle/>
          <a:p>
            <a:endParaRPr lang="he-IL" dirty="0"/>
          </a:p>
        </p:txBody>
      </p:sp>
      <p:sp>
        <p:nvSpPr>
          <p:cNvPr id="5" name="מציין מיקום של מספר שקופית 4">
            <a:extLst>
              <a:ext uri="{FF2B5EF4-FFF2-40B4-BE49-F238E27FC236}">
                <a16:creationId xmlns:a16="http://schemas.microsoft.com/office/drawing/2014/main" id="{BB8304B3-E800-B463-9318-72E5FB514CB1}"/>
              </a:ext>
            </a:extLst>
          </p:cNvPr>
          <p:cNvSpPr>
            <a:spLocks noGrp="1"/>
          </p:cNvSpPr>
          <p:nvPr>
            <p:ph type="sldNum" sz="quarter" idx="12"/>
          </p:nvPr>
        </p:nvSpPr>
        <p:spPr/>
        <p:txBody>
          <a:bodyPr/>
          <a:lstStyle/>
          <a:p>
            <a:fld id="{B866C471-8B5F-4568-96F6-677A6C380FF1}" type="slidenum">
              <a:rPr lang="he-IL" smtClean="0"/>
              <a:t>‹#›</a:t>
            </a:fld>
            <a:endParaRPr lang="he-IL" dirty="0"/>
          </a:p>
        </p:txBody>
      </p:sp>
    </p:spTree>
    <p:extLst>
      <p:ext uri="{BB962C8B-B14F-4D97-AF65-F5344CB8AC3E}">
        <p14:creationId xmlns:p14="http://schemas.microsoft.com/office/powerpoint/2010/main" val="1428845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EAB26112-41EE-12AC-AE71-259CC5133600}"/>
              </a:ext>
            </a:extLst>
          </p:cNvPr>
          <p:cNvSpPr>
            <a:spLocks noGrp="1"/>
          </p:cNvSpPr>
          <p:nvPr>
            <p:ph type="dt" sz="half" idx="10"/>
          </p:nvPr>
        </p:nvSpPr>
        <p:spPr/>
        <p:txBody>
          <a:bodyPr/>
          <a:lstStyle/>
          <a:p>
            <a:fld id="{515D4B3E-5DEA-468F-A9B8-4D4805F44759}" type="datetimeFigureOut">
              <a:rPr lang="he-IL" smtClean="0"/>
              <a:t>ט'/טבת/תשפ"ו</a:t>
            </a:fld>
            <a:endParaRPr lang="he-IL" dirty="0"/>
          </a:p>
        </p:txBody>
      </p:sp>
      <p:sp>
        <p:nvSpPr>
          <p:cNvPr id="3" name="מציין מיקום של כותרת תחתונה 2">
            <a:extLst>
              <a:ext uri="{FF2B5EF4-FFF2-40B4-BE49-F238E27FC236}">
                <a16:creationId xmlns:a16="http://schemas.microsoft.com/office/drawing/2014/main" id="{60D14B8D-522C-1BCB-76A0-77E12755C00F}"/>
              </a:ext>
            </a:extLst>
          </p:cNvPr>
          <p:cNvSpPr>
            <a:spLocks noGrp="1"/>
          </p:cNvSpPr>
          <p:nvPr>
            <p:ph type="ftr" sz="quarter" idx="11"/>
          </p:nvPr>
        </p:nvSpPr>
        <p:spPr/>
        <p:txBody>
          <a:bodyPr/>
          <a:lstStyle/>
          <a:p>
            <a:endParaRPr lang="he-IL" dirty="0"/>
          </a:p>
        </p:txBody>
      </p:sp>
      <p:sp>
        <p:nvSpPr>
          <p:cNvPr id="4" name="מציין מיקום של מספר שקופית 3">
            <a:extLst>
              <a:ext uri="{FF2B5EF4-FFF2-40B4-BE49-F238E27FC236}">
                <a16:creationId xmlns:a16="http://schemas.microsoft.com/office/drawing/2014/main" id="{CE29E631-E8CE-5761-EF45-09948D9CFB6B}"/>
              </a:ext>
            </a:extLst>
          </p:cNvPr>
          <p:cNvSpPr>
            <a:spLocks noGrp="1"/>
          </p:cNvSpPr>
          <p:nvPr>
            <p:ph type="sldNum" sz="quarter" idx="12"/>
          </p:nvPr>
        </p:nvSpPr>
        <p:spPr/>
        <p:txBody>
          <a:bodyPr/>
          <a:lstStyle/>
          <a:p>
            <a:fld id="{B866C471-8B5F-4568-96F6-677A6C380FF1}" type="slidenum">
              <a:rPr lang="he-IL" smtClean="0"/>
              <a:t>‹#›</a:t>
            </a:fld>
            <a:endParaRPr lang="he-IL" dirty="0"/>
          </a:p>
        </p:txBody>
      </p:sp>
    </p:spTree>
    <p:extLst>
      <p:ext uri="{BB962C8B-B14F-4D97-AF65-F5344CB8AC3E}">
        <p14:creationId xmlns:p14="http://schemas.microsoft.com/office/powerpoint/2010/main" val="1647128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A89A8D8-685D-A9FF-EA75-8B6594242FBF}"/>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082C460E-C3DF-3095-873A-594627BF3F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A0F93408-187C-6C18-0296-999975B8B6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C9626F8A-A5AB-0177-4D91-78DAB1A29D74}"/>
              </a:ext>
            </a:extLst>
          </p:cNvPr>
          <p:cNvSpPr>
            <a:spLocks noGrp="1"/>
          </p:cNvSpPr>
          <p:nvPr>
            <p:ph type="dt" sz="half" idx="10"/>
          </p:nvPr>
        </p:nvSpPr>
        <p:spPr/>
        <p:txBody>
          <a:bodyPr/>
          <a:lstStyle/>
          <a:p>
            <a:fld id="{515D4B3E-5DEA-468F-A9B8-4D4805F44759}" type="datetimeFigureOut">
              <a:rPr lang="he-IL" smtClean="0"/>
              <a:t>ט'/טבת/תשפ"ו</a:t>
            </a:fld>
            <a:endParaRPr lang="he-IL" dirty="0"/>
          </a:p>
        </p:txBody>
      </p:sp>
      <p:sp>
        <p:nvSpPr>
          <p:cNvPr id="6" name="מציין מיקום של כותרת תחתונה 5">
            <a:extLst>
              <a:ext uri="{FF2B5EF4-FFF2-40B4-BE49-F238E27FC236}">
                <a16:creationId xmlns:a16="http://schemas.microsoft.com/office/drawing/2014/main" id="{643E7280-96F7-ECF8-090C-44F6CA805BAA}"/>
              </a:ext>
            </a:extLst>
          </p:cNvPr>
          <p:cNvSpPr>
            <a:spLocks noGrp="1"/>
          </p:cNvSpPr>
          <p:nvPr>
            <p:ph type="ftr" sz="quarter" idx="11"/>
          </p:nvPr>
        </p:nvSpPr>
        <p:spPr/>
        <p:txBody>
          <a:bodyPr/>
          <a:lstStyle/>
          <a:p>
            <a:endParaRPr lang="he-IL" dirty="0"/>
          </a:p>
        </p:txBody>
      </p:sp>
      <p:sp>
        <p:nvSpPr>
          <p:cNvPr id="7" name="מציין מיקום של מספר שקופית 6">
            <a:extLst>
              <a:ext uri="{FF2B5EF4-FFF2-40B4-BE49-F238E27FC236}">
                <a16:creationId xmlns:a16="http://schemas.microsoft.com/office/drawing/2014/main" id="{FAC95014-5517-6C61-F00B-A96B05A05600}"/>
              </a:ext>
            </a:extLst>
          </p:cNvPr>
          <p:cNvSpPr>
            <a:spLocks noGrp="1"/>
          </p:cNvSpPr>
          <p:nvPr>
            <p:ph type="sldNum" sz="quarter" idx="12"/>
          </p:nvPr>
        </p:nvSpPr>
        <p:spPr/>
        <p:txBody>
          <a:bodyPr/>
          <a:lstStyle/>
          <a:p>
            <a:fld id="{B866C471-8B5F-4568-96F6-677A6C380FF1}" type="slidenum">
              <a:rPr lang="he-IL" smtClean="0"/>
              <a:t>‹#›</a:t>
            </a:fld>
            <a:endParaRPr lang="he-IL" dirty="0"/>
          </a:p>
        </p:txBody>
      </p:sp>
    </p:spTree>
    <p:extLst>
      <p:ext uri="{BB962C8B-B14F-4D97-AF65-F5344CB8AC3E}">
        <p14:creationId xmlns:p14="http://schemas.microsoft.com/office/powerpoint/2010/main" val="1442214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A8CA2D6-812D-150A-DA6A-10B3030442E6}"/>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2760F0FA-3A57-2EFF-164F-E63F763585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dirty="0"/>
          </a:p>
        </p:txBody>
      </p:sp>
      <p:sp>
        <p:nvSpPr>
          <p:cNvPr id="4" name="מציין מיקום טקסט 3">
            <a:extLst>
              <a:ext uri="{FF2B5EF4-FFF2-40B4-BE49-F238E27FC236}">
                <a16:creationId xmlns:a16="http://schemas.microsoft.com/office/drawing/2014/main" id="{1428CA59-D9C7-0DC4-E1DB-31362E0F3C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13FB092C-8611-0C9A-72DD-F20761D62B81}"/>
              </a:ext>
            </a:extLst>
          </p:cNvPr>
          <p:cNvSpPr>
            <a:spLocks noGrp="1"/>
          </p:cNvSpPr>
          <p:nvPr>
            <p:ph type="dt" sz="half" idx="10"/>
          </p:nvPr>
        </p:nvSpPr>
        <p:spPr/>
        <p:txBody>
          <a:bodyPr/>
          <a:lstStyle/>
          <a:p>
            <a:fld id="{515D4B3E-5DEA-468F-A9B8-4D4805F44759}" type="datetimeFigureOut">
              <a:rPr lang="he-IL" smtClean="0"/>
              <a:t>ט'/טבת/תשפ"ו</a:t>
            </a:fld>
            <a:endParaRPr lang="he-IL" dirty="0"/>
          </a:p>
        </p:txBody>
      </p:sp>
      <p:sp>
        <p:nvSpPr>
          <p:cNvPr id="6" name="מציין מיקום של כותרת תחתונה 5">
            <a:extLst>
              <a:ext uri="{FF2B5EF4-FFF2-40B4-BE49-F238E27FC236}">
                <a16:creationId xmlns:a16="http://schemas.microsoft.com/office/drawing/2014/main" id="{A6FA7C91-8C24-0C73-76C6-4206AAE42117}"/>
              </a:ext>
            </a:extLst>
          </p:cNvPr>
          <p:cNvSpPr>
            <a:spLocks noGrp="1"/>
          </p:cNvSpPr>
          <p:nvPr>
            <p:ph type="ftr" sz="quarter" idx="11"/>
          </p:nvPr>
        </p:nvSpPr>
        <p:spPr/>
        <p:txBody>
          <a:bodyPr/>
          <a:lstStyle/>
          <a:p>
            <a:endParaRPr lang="he-IL" dirty="0"/>
          </a:p>
        </p:txBody>
      </p:sp>
      <p:sp>
        <p:nvSpPr>
          <p:cNvPr id="7" name="מציין מיקום של מספר שקופית 6">
            <a:extLst>
              <a:ext uri="{FF2B5EF4-FFF2-40B4-BE49-F238E27FC236}">
                <a16:creationId xmlns:a16="http://schemas.microsoft.com/office/drawing/2014/main" id="{F70F9B8E-E791-BF0D-6EAC-33857E884D16}"/>
              </a:ext>
            </a:extLst>
          </p:cNvPr>
          <p:cNvSpPr>
            <a:spLocks noGrp="1"/>
          </p:cNvSpPr>
          <p:nvPr>
            <p:ph type="sldNum" sz="quarter" idx="12"/>
          </p:nvPr>
        </p:nvSpPr>
        <p:spPr/>
        <p:txBody>
          <a:bodyPr/>
          <a:lstStyle/>
          <a:p>
            <a:fld id="{B866C471-8B5F-4568-96F6-677A6C380FF1}" type="slidenum">
              <a:rPr lang="he-IL" smtClean="0"/>
              <a:t>‹#›</a:t>
            </a:fld>
            <a:endParaRPr lang="he-IL" dirty="0"/>
          </a:p>
        </p:txBody>
      </p:sp>
    </p:spTree>
    <p:extLst>
      <p:ext uri="{BB962C8B-B14F-4D97-AF65-F5344CB8AC3E}">
        <p14:creationId xmlns:p14="http://schemas.microsoft.com/office/powerpoint/2010/main" val="1075091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8733B4D-8525-9C78-0107-D9760F3F3828}"/>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D3CF6782-A123-150E-0F90-9BBBDADFB7E9}"/>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9A474031-4BE8-B8F0-E755-3476A3D1005D}"/>
              </a:ext>
            </a:extLst>
          </p:cNvPr>
          <p:cNvSpPr>
            <a:spLocks noGrp="1"/>
          </p:cNvSpPr>
          <p:nvPr>
            <p:ph type="dt" sz="half" idx="10"/>
          </p:nvPr>
        </p:nvSpPr>
        <p:spPr/>
        <p:txBody>
          <a:bodyPr/>
          <a:lstStyle/>
          <a:p>
            <a:fld id="{515D4B3E-5DEA-468F-A9B8-4D4805F44759}" type="datetimeFigureOut">
              <a:rPr lang="he-IL" smtClean="0"/>
              <a:t>ט'/טבת/תשפ"ו</a:t>
            </a:fld>
            <a:endParaRPr lang="he-IL" dirty="0"/>
          </a:p>
        </p:txBody>
      </p:sp>
      <p:sp>
        <p:nvSpPr>
          <p:cNvPr id="5" name="מציין מיקום של כותרת תחתונה 4">
            <a:extLst>
              <a:ext uri="{FF2B5EF4-FFF2-40B4-BE49-F238E27FC236}">
                <a16:creationId xmlns:a16="http://schemas.microsoft.com/office/drawing/2014/main" id="{0A86B9F6-EBAB-DCD2-C4A1-C4F799D3272F}"/>
              </a:ext>
            </a:extLst>
          </p:cNvPr>
          <p:cNvSpPr>
            <a:spLocks noGrp="1"/>
          </p:cNvSpPr>
          <p:nvPr>
            <p:ph type="ftr" sz="quarter" idx="11"/>
          </p:nvPr>
        </p:nvSpPr>
        <p:spPr/>
        <p:txBody>
          <a:bodyPr/>
          <a:lstStyle/>
          <a:p>
            <a:endParaRPr lang="he-IL" dirty="0"/>
          </a:p>
        </p:txBody>
      </p:sp>
      <p:sp>
        <p:nvSpPr>
          <p:cNvPr id="6" name="מציין מיקום של מספר שקופית 5">
            <a:extLst>
              <a:ext uri="{FF2B5EF4-FFF2-40B4-BE49-F238E27FC236}">
                <a16:creationId xmlns:a16="http://schemas.microsoft.com/office/drawing/2014/main" id="{9EAE6336-FC03-8385-61A0-1C456400E189}"/>
              </a:ext>
            </a:extLst>
          </p:cNvPr>
          <p:cNvSpPr>
            <a:spLocks noGrp="1"/>
          </p:cNvSpPr>
          <p:nvPr>
            <p:ph type="sldNum" sz="quarter" idx="12"/>
          </p:nvPr>
        </p:nvSpPr>
        <p:spPr/>
        <p:txBody>
          <a:bodyPr/>
          <a:lstStyle/>
          <a:p>
            <a:fld id="{B866C471-8B5F-4568-96F6-677A6C380FF1}" type="slidenum">
              <a:rPr lang="he-IL" smtClean="0"/>
              <a:t>‹#›</a:t>
            </a:fld>
            <a:endParaRPr lang="he-IL" dirty="0"/>
          </a:p>
        </p:txBody>
      </p:sp>
    </p:spTree>
    <p:extLst>
      <p:ext uri="{BB962C8B-B14F-4D97-AF65-F5344CB8AC3E}">
        <p14:creationId xmlns:p14="http://schemas.microsoft.com/office/powerpoint/2010/main" val="3410110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F7D9C6F8-6167-853F-1A06-2EE10A98CA57}"/>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666DB6CD-5A66-58A2-ACDF-A5180A5F10FC}"/>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58EA399A-C04B-C173-DB3F-5F06DD5A0190}"/>
              </a:ext>
            </a:extLst>
          </p:cNvPr>
          <p:cNvSpPr>
            <a:spLocks noGrp="1"/>
          </p:cNvSpPr>
          <p:nvPr>
            <p:ph type="dt" sz="half" idx="10"/>
          </p:nvPr>
        </p:nvSpPr>
        <p:spPr/>
        <p:txBody>
          <a:bodyPr/>
          <a:lstStyle/>
          <a:p>
            <a:fld id="{515D4B3E-5DEA-468F-A9B8-4D4805F44759}" type="datetimeFigureOut">
              <a:rPr lang="he-IL" smtClean="0"/>
              <a:t>ט'/טבת/תשפ"ו</a:t>
            </a:fld>
            <a:endParaRPr lang="he-IL" dirty="0"/>
          </a:p>
        </p:txBody>
      </p:sp>
      <p:sp>
        <p:nvSpPr>
          <p:cNvPr id="5" name="מציין מיקום של כותרת תחתונה 4">
            <a:extLst>
              <a:ext uri="{FF2B5EF4-FFF2-40B4-BE49-F238E27FC236}">
                <a16:creationId xmlns:a16="http://schemas.microsoft.com/office/drawing/2014/main" id="{80936B5B-C0A4-48E0-5B9A-D1158307C696}"/>
              </a:ext>
            </a:extLst>
          </p:cNvPr>
          <p:cNvSpPr>
            <a:spLocks noGrp="1"/>
          </p:cNvSpPr>
          <p:nvPr>
            <p:ph type="ftr" sz="quarter" idx="11"/>
          </p:nvPr>
        </p:nvSpPr>
        <p:spPr/>
        <p:txBody>
          <a:bodyPr/>
          <a:lstStyle/>
          <a:p>
            <a:endParaRPr lang="he-IL" dirty="0"/>
          </a:p>
        </p:txBody>
      </p:sp>
      <p:sp>
        <p:nvSpPr>
          <p:cNvPr id="6" name="מציין מיקום של מספר שקופית 5">
            <a:extLst>
              <a:ext uri="{FF2B5EF4-FFF2-40B4-BE49-F238E27FC236}">
                <a16:creationId xmlns:a16="http://schemas.microsoft.com/office/drawing/2014/main" id="{D2015104-4FBD-3DAD-A512-40885139F2D0}"/>
              </a:ext>
            </a:extLst>
          </p:cNvPr>
          <p:cNvSpPr>
            <a:spLocks noGrp="1"/>
          </p:cNvSpPr>
          <p:nvPr>
            <p:ph type="sldNum" sz="quarter" idx="12"/>
          </p:nvPr>
        </p:nvSpPr>
        <p:spPr/>
        <p:txBody>
          <a:bodyPr/>
          <a:lstStyle/>
          <a:p>
            <a:fld id="{B866C471-8B5F-4568-96F6-677A6C380FF1}" type="slidenum">
              <a:rPr lang="he-IL" smtClean="0"/>
              <a:t>‹#›</a:t>
            </a:fld>
            <a:endParaRPr lang="he-IL" dirty="0"/>
          </a:p>
        </p:txBody>
      </p:sp>
    </p:spTree>
    <p:extLst>
      <p:ext uri="{BB962C8B-B14F-4D97-AF65-F5344CB8AC3E}">
        <p14:creationId xmlns:p14="http://schemas.microsoft.com/office/powerpoint/2010/main" val="27274342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fld id="{515D4B3E-5DEA-468F-A9B8-4D4805F44759}" type="datetimeFigureOut">
              <a:rPr lang="he-IL" smtClean="0"/>
              <a:t>ט'/טבת/תשפ"ו</a:t>
            </a:fld>
            <a:endParaRPr lang="he-IL" dirty="0"/>
          </a:p>
        </p:txBody>
      </p:sp>
      <p:sp>
        <p:nvSpPr>
          <p:cNvPr id="5" name="Footer Placeholder 4"/>
          <p:cNvSpPr>
            <a:spLocks noGrp="1"/>
          </p:cNvSpPr>
          <p:nvPr>
            <p:ph type="ftr" sz="quarter" idx="11"/>
          </p:nvPr>
        </p:nvSpPr>
        <p:spPr/>
        <p:txBody>
          <a:bodyPr/>
          <a:lstStyle/>
          <a:p>
            <a:endParaRPr lang="he-IL" dirty="0"/>
          </a:p>
        </p:txBody>
      </p:sp>
      <p:sp>
        <p:nvSpPr>
          <p:cNvPr id="6" name="Slide Number Placeholder 5"/>
          <p:cNvSpPr>
            <a:spLocks noGrp="1"/>
          </p:cNvSpPr>
          <p:nvPr>
            <p:ph type="sldNum" sz="quarter" idx="12"/>
          </p:nvPr>
        </p:nvSpPr>
        <p:spPr/>
        <p:txBody>
          <a:bodyPr/>
          <a:lstStyle/>
          <a:p>
            <a:fld id="{B866C471-8B5F-4568-96F6-677A6C380FF1}" type="slidenum">
              <a:rPr lang="he-IL" smtClean="0"/>
              <a:t>‹#›</a:t>
            </a:fld>
            <a:endParaRPr lang="he-IL" dirty="0"/>
          </a:p>
        </p:txBody>
      </p:sp>
    </p:spTree>
    <p:extLst>
      <p:ext uri="{BB962C8B-B14F-4D97-AF65-F5344CB8AC3E}">
        <p14:creationId xmlns:p14="http://schemas.microsoft.com/office/powerpoint/2010/main" val="2594244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515D4B3E-5DEA-468F-A9B8-4D4805F44759}" type="datetimeFigureOut">
              <a:rPr lang="he-IL" smtClean="0"/>
              <a:t>ט'/טבת/תשפ"ו</a:t>
            </a:fld>
            <a:endParaRPr lang="he-IL" dirty="0"/>
          </a:p>
        </p:txBody>
      </p:sp>
      <p:sp>
        <p:nvSpPr>
          <p:cNvPr id="5" name="Footer Placeholder 4"/>
          <p:cNvSpPr>
            <a:spLocks noGrp="1"/>
          </p:cNvSpPr>
          <p:nvPr>
            <p:ph type="ftr" sz="quarter" idx="11"/>
          </p:nvPr>
        </p:nvSpPr>
        <p:spPr/>
        <p:txBody>
          <a:bodyPr/>
          <a:lstStyle/>
          <a:p>
            <a:endParaRPr lang="he-IL" dirty="0"/>
          </a:p>
        </p:txBody>
      </p:sp>
      <p:sp>
        <p:nvSpPr>
          <p:cNvPr id="6" name="Slide Number Placeholder 5"/>
          <p:cNvSpPr>
            <a:spLocks noGrp="1"/>
          </p:cNvSpPr>
          <p:nvPr>
            <p:ph type="sldNum" sz="quarter" idx="12"/>
          </p:nvPr>
        </p:nvSpPr>
        <p:spPr/>
        <p:txBody>
          <a:bodyPr/>
          <a:lstStyle/>
          <a:p>
            <a:fld id="{B866C471-8B5F-4568-96F6-677A6C380FF1}" type="slidenum">
              <a:rPr lang="he-IL" smtClean="0"/>
              <a:t>‹#›</a:t>
            </a:fld>
            <a:endParaRPr lang="he-IL" dirty="0"/>
          </a:p>
        </p:txBody>
      </p:sp>
    </p:spTree>
    <p:extLst>
      <p:ext uri="{BB962C8B-B14F-4D97-AF65-F5344CB8AC3E}">
        <p14:creationId xmlns:p14="http://schemas.microsoft.com/office/powerpoint/2010/main" val="14135455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515D4B3E-5DEA-468F-A9B8-4D4805F44759}" type="datetimeFigureOut">
              <a:rPr lang="he-IL" smtClean="0"/>
              <a:t>ט'/טבת/תשפ"ו</a:t>
            </a:fld>
            <a:endParaRPr lang="he-IL" dirty="0"/>
          </a:p>
        </p:txBody>
      </p:sp>
      <p:sp>
        <p:nvSpPr>
          <p:cNvPr id="5" name="Footer Placeholder 4"/>
          <p:cNvSpPr>
            <a:spLocks noGrp="1"/>
          </p:cNvSpPr>
          <p:nvPr>
            <p:ph type="ftr" sz="quarter" idx="11"/>
          </p:nvPr>
        </p:nvSpPr>
        <p:spPr/>
        <p:txBody>
          <a:bodyPr/>
          <a:lstStyle/>
          <a:p>
            <a:endParaRPr lang="he-IL" dirty="0"/>
          </a:p>
        </p:txBody>
      </p:sp>
      <p:sp>
        <p:nvSpPr>
          <p:cNvPr id="6" name="Slide Number Placeholder 5"/>
          <p:cNvSpPr>
            <a:spLocks noGrp="1"/>
          </p:cNvSpPr>
          <p:nvPr>
            <p:ph type="sldNum" sz="quarter" idx="12"/>
          </p:nvPr>
        </p:nvSpPr>
        <p:spPr/>
        <p:txBody>
          <a:bodyPr/>
          <a:lstStyle/>
          <a:p>
            <a:fld id="{B866C471-8B5F-4568-96F6-677A6C380FF1}" type="slidenum">
              <a:rPr lang="he-IL" smtClean="0"/>
              <a:t>‹#›</a:t>
            </a:fld>
            <a:endParaRPr lang="he-IL" dirty="0"/>
          </a:p>
        </p:txBody>
      </p:sp>
    </p:spTree>
    <p:extLst>
      <p:ext uri="{BB962C8B-B14F-4D97-AF65-F5344CB8AC3E}">
        <p14:creationId xmlns:p14="http://schemas.microsoft.com/office/powerpoint/2010/main" val="1598702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515D4B3E-5DEA-468F-A9B8-4D4805F44759}" type="datetimeFigureOut">
              <a:rPr lang="he-IL" smtClean="0"/>
              <a:t>ט'/טבת/תשפ"ו</a:t>
            </a:fld>
            <a:endParaRPr lang="he-IL" dirty="0"/>
          </a:p>
        </p:txBody>
      </p:sp>
      <p:sp>
        <p:nvSpPr>
          <p:cNvPr id="6" name="Footer Placeholder 5"/>
          <p:cNvSpPr>
            <a:spLocks noGrp="1"/>
          </p:cNvSpPr>
          <p:nvPr>
            <p:ph type="ftr" sz="quarter" idx="11"/>
          </p:nvPr>
        </p:nvSpPr>
        <p:spPr/>
        <p:txBody>
          <a:bodyPr/>
          <a:lstStyle/>
          <a:p>
            <a:endParaRPr lang="he-IL" dirty="0"/>
          </a:p>
        </p:txBody>
      </p:sp>
      <p:sp>
        <p:nvSpPr>
          <p:cNvPr id="7" name="Slide Number Placeholder 6"/>
          <p:cNvSpPr>
            <a:spLocks noGrp="1"/>
          </p:cNvSpPr>
          <p:nvPr>
            <p:ph type="sldNum" sz="quarter" idx="12"/>
          </p:nvPr>
        </p:nvSpPr>
        <p:spPr/>
        <p:txBody>
          <a:bodyPr/>
          <a:lstStyle/>
          <a:p>
            <a:fld id="{B866C471-8B5F-4568-96F6-677A6C380FF1}" type="slidenum">
              <a:rPr lang="he-IL" smtClean="0"/>
              <a:t>‹#›</a:t>
            </a:fld>
            <a:endParaRPr lang="he-IL" dirty="0"/>
          </a:p>
        </p:txBody>
      </p:sp>
    </p:spTree>
    <p:extLst>
      <p:ext uri="{BB962C8B-B14F-4D97-AF65-F5344CB8AC3E}">
        <p14:creationId xmlns:p14="http://schemas.microsoft.com/office/powerpoint/2010/main" val="24057737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Content Placeholder 5"/>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515D4B3E-5DEA-468F-A9B8-4D4805F44759}" type="datetimeFigureOut">
              <a:rPr lang="he-IL" smtClean="0"/>
              <a:t>ט'/טבת/תשפ"ו</a:t>
            </a:fld>
            <a:endParaRPr lang="he-IL" dirty="0"/>
          </a:p>
        </p:txBody>
      </p:sp>
      <p:sp>
        <p:nvSpPr>
          <p:cNvPr id="8" name="Footer Placeholder 7"/>
          <p:cNvSpPr>
            <a:spLocks noGrp="1"/>
          </p:cNvSpPr>
          <p:nvPr>
            <p:ph type="ftr" sz="quarter" idx="11"/>
          </p:nvPr>
        </p:nvSpPr>
        <p:spPr/>
        <p:txBody>
          <a:bodyPr/>
          <a:lstStyle/>
          <a:p>
            <a:endParaRPr lang="he-IL" dirty="0"/>
          </a:p>
        </p:txBody>
      </p:sp>
      <p:sp>
        <p:nvSpPr>
          <p:cNvPr id="9" name="Slide Number Placeholder 8"/>
          <p:cNvSpPr>
            <a:spLocks noGrp="1"/>
          </p:cNvSpPr>
          <p:nvPr>
            <p:ph type="sldNum" sz="quarter" idx="12"/>
          </p:nvPr>
        </p:nvSpPr>
        <p:spPr/>
        <p:txBody>
          <a:bodyPr/>
          <a:lstStyle/>
          <a:p>
            <a:fld id="{B866C471-8B5F-4568-96F6-677A6C380FF1}" type="slidenum">
              <a:rPr lang="he-IL" smtClean="0"/>
              <a:t>‹#›</a:t>
            </a:fld>
            <a:endParaRPr lang="he-IL" dirty="0"/>
          </a:p>
        </p:txBody>
      </p:sp>
    </p:spTree>
    <p:extLst>
      <p:ext uri="{BB962C8B-B14F-4D97-AF65-F5344CB8AC3E}">
        <p14:creationId xmlns:p14="http://schemas.microsoft.com/office/powerpoint/2010/main" val="1806990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515D4B3E-5DEA-468F-A9B8-4D4805F44759}" type="datetimeFigureOut">
              <a:rPr lang="he-IL" smtClean="0"/>
              <a:t>ט'/טבת/תשפ"ו</a:t>
            </a:fld>
            <a:endParaRPr lang="he-IL" dirty="0"/>
          </a:p>
        </p:txBody>
      </p:sp>
      <p:sp>
        <p:nvSpPr>
          <p:cNvPr id="4" name="Footer Placeholder 3"/>
          <p:cNvSpPr>
            <a:spLocks noGrp="1"/>
          </p:cNvSpPr>
          <p:nvPr>
            <p:ph type="ftr" sz="quarter" idx="11"/>
          </p:nvPr>
        </p:nvSpPr>
        <p:spPr/>
        <p:txBody>
          <a:bodyPr/>
          <a:lstStyle/>
          <a:p>
            <a:endParaRPr lang="he-IL" dirty="0"/>
          </a:p>
        </p:txBody>
      </p:sp>
      <p:sp>
        <p:nvSpPr>
          <p:cNvPr id="5" name="Slide Number Placeholder 4"/>
          <p:cNvSpPr>
            <a:spLocks noGrp="1"/>
          </p:cNvSpPr>
          <p:nvPr>
            <p:ph type="sldNum" sz="quarter" idx="12"/>
          </p:nvPr>
        </p:nvSpPr>
        <p:spPr/>
        <p:txBody>
          <a:bodyPr/>
          <a:lstStyle/>
          <a:p>
            <a:fld id="{B866C471-8B5F-4568-96F6-677A6C380FF1}" type="slidenum">
              <a:rPr lang="he-IL" smtClean="0"/>
              <a:t>‹#›</a:t>
            </a:fld>
            <a:endParaRPr lang="he-IL" dirty="0"/>
          </a:p>
        </p:txBody>
      </p:sp>
    </p:spTree>
    <p:extLst>
      <p:ext uri="{BB962C8B-B14F-4D97-AF65-F5344CB8AC3E}">
        <p14:creationId xmlns:p14="http://schemas.microsoft.com/office/powerpoint/2010/main" val="14774036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5D4B3E-5DEA-468F-A9B8-4D4805F44759}" type="datetimeFigureOut">
              <a:rPr lang="he-IL" smtClean="0"/>
              <a:t>ט'/טבת/תשפ"ו</a:t>
            </a:fld>
            <a:endParaRPr lang="he-IL" dirty="0"/>
          </a:p>
        </p:txBody>
      </p:sp>
      <p:sp>
        <p:nvSpPr>
          <p:cNvPr id="3" name="Footer Placeholder 2"/>
          <p:cNvSpPr>
            <a:spLocks noGrp="1"/>
          </p:cNvSpPr>
          <p:nvPr>
            <p:ph type="ftr" sz="quarter" idx="11"/>
          </p:nvPr>
        </p:nvSpPr>
        <p:spPr/>
        <p:txBody>
          <a:bodyPr/>
          <a:lstStyle/>
          <a:p>
            <a:endParaRPr lang="he-IL" dirty="0"/>
          </a:p>
        </p:txBody>
      </p:sp>
      <p:sp>
        <p:nvSpPr>
          <p:cNvPr id="4" name="Slide Number Placeholder 3"/>
          <p:cNvSpPr>
            <a:spLocks noGrp="1"/>
          </p:cNvSpPr>
          <p:nvPr>
            <p:ph type="sldNum" sz="quarter" idx="12"/>
          </p:nvPr>
        </p:nvSpPr>
        <p:spPr/>
        <p:txBody>
          <a:bodyPr/>
          <a:lstStyle/>
          <a:p>
            <a:fld id="{B866C471-8B5F-4568-96F6-677A6C380FF1}" type="slidenum">
              <a:rPr lang="he-IL" smtClean="0"/>
              <a:t>‹#›</a:t>
            </a:fld>
            <a:endParaRPr lang="he-IL" dirty="0"/>
          </a:p>
        </p:txBody>
      </p:sp>
    </p:spTree>
    <p:extLst>
      <p:ext uri="{BB962C8B-B14F-4D97-AF65-F5344CB8AC3E}">
        <p14:creationId xmlns:p14="http://schemas.microsoft.com/office/powerpoint/2010/main" val="33297382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515D4B3E-5DEA-468F-A9B8-4D4805F44759}" type="datetimeFigureOut">
              <a:rPr lang="he-IL" smtClean="0"/>
              <a:t>ט'/טבת/תשפ"ו</a:t>
            </a:fld>
            <a:endParaRPr lang="he-IL" dirty="0"/>
          </a:p>
        </p:txBody>
      </p:sp>
      <p:sp>
        <p:nvSpPr>
          <p:cNvPr id="6" name="Footer Placeholder 5"/>
          <p:cNvSpPr>
            <a:spLocks noGrp="1"/>
          </p:cNvSpPr>
          <p:nvPr>
            <p:ph type="ftr" sz="quarter" idx="11"/>
          </p:nvPr>
        </p:nvSpPr>
        <p:spPr/>
        <p:txBody>
          <a:bodyPr/>
          <a:lstStyle/>
          <a:p>
            <a:endParaRPr lang="he-IL" dirty="0"/>
          </a:p>
        </p:txBody>
      </p:sp>
      <p:sp>
        <p:nvSpPr>
          <p:cNvPr id="7" name="Slide Number Placeholder 6"/>
          <p:cNvSpPr>
            <a:spLocks noGrp="1"/>
          </p:cNvSpPr>
          <p:nvPr>
            <p:ph type="sldNum" sz="quarter" idx="12"/>
          </p:nvPr>
        </p:nvSpPr>
        <p:spPr/>
        <p:txBody>
          <a:bodyPr/>
          <a:lstStyle/>
          <a:p>
            <a:fld id="{B866C471-8B5F-4568-96F6-677A6C380FF1}" type="slidenum">
              <a:rPr lang="he-IL" smtClean="0"/>
              <a:t>‹#›</a:t>
            </a:fld>
            <a:endParaRPr lang="he-IL" dirty="0"/>
          </a:p>
        </p:txBody>
      </p:sp>
    </p:spTree>
    <p:extLst>
      <p:ext uri="{BB962C8B-B14F-4D97-AF65-F5344CB8AC3E}">
        <p14:creationId xmlns:p14="http://schemas.microsoft.com/office/powerpoint/2010/main" val="31557152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dirty="0"/>
              <a:t>לחץ על הסמל כדי להוסיף תמונה</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515D4B3E-5DEA-468F-A9B8-4D4805F44759}" type="datetimeFigureOut">
              <a:rPr lang="he-IL" smtClean="0"/>
              <a:t>ט'/טבת/תשפ"ו</a:t>
            </a:fld>
            <a:endParaRPr lang="he-IL" dirty="0"/>
          </a:p>
        </p:txBody>
      </p:sp>
      <p:sp>
        <p:nvSpPr>
          <p:cNvPr id="6" name="Footer Placeholder 5"/>
          <p:cNvSpPr>
            <a:spLocks noGrp="1"/>
          </p:cNvSpPr>
          <p:nvPr>
            <p:ph type="ftr" sz="quarter" idx="11"/>
          </p:nvPr>
        </p:nvSpPr>
        <p:spPr/>
        <p:txBody>
          <a:bodyPr/>
          <a:lstStyle/>
          <a:p>
            <a:endParaRPr lang="he-IL" dirty="0"/>
          </a:p>
        </p:txBody>
      </p:sp>
      <p:sp>
        <p:nvSpPr>
          <p:cNvPr id="7" name="Slide Number Placeholder 6"/>
          <p:cNvSpPr>
            <a:spLocks noGrp="1"/>
          </p:cNvSpPr>
          <p:nvPr>
            <p:ph type="sldNum" sz="quarter" idx="12"/>
          </p:nvPr>
        </p:nvSpPr>
        <p:spPr/>
        <p:txBody>
          <a:bodyPr/>
          <a:lstStyle/>
          <a:p>
            <a:fld id="{B866C471-8B5F-4568-96F6-677A6C380FF1}" type="slidenum">
              <a:rPr lang="he-IL" smtClean="0"/>
              <a:t>‹#›</a:t>
            </a:fld>
            <a:endParaRPr lang="he-IL" dirty="0"/>
          </a:p>
        </p:txBody>
      </p:sp>
    </p:spTree>
    <p:extLst>
      <p:ext uri="{BB962C8B-B14F-4D97-AF65-F5344CB8AC3E}">
        <p14:creationId xmlns:p14="http://schemas.microsoft.com/office/powerpoint/2010/main" val="14560602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515D4B3E-5DEA-468F-A9B8-4D4805F44759}" type="datetimeFigureOut">
              <a:rPr lang="he-IL" smtClean="0"/>
              <a:t>ט'/טבת/תשפ"ו</a:t>
            </a:fld>
            <a:endParaRPr lang="he-IL" dirty="0"/>
          </a:p>
        </p:txBody>
      </p:sp>
      <p:sp>
        <p:nvSpPr>
          <p:cNvPr id="5" name="Footer Placeholder 4"/>
          <p:cNvSpPr>
            <a:spLocks noGrp="1"/>
          </p:cNvSpPr>
          <p:nvPr>
            <p:ph type="ftr" sz="quarter" idx="11"/>
          </p:nvPr>
        </p:nvSpPr>
        <p:spPr/>
        <p:txBody>
          <a:bodyPr/>
          <a:lstStyle/>
          <a:p>
            <a:endParaRPr lang="he-IL" dirty="0"/>
          </a:p>
        </p:txBody>
      </p:sp>
      <p:sp>
        <p:nvSpPr>
          <p:cNvPr id="6" name="Slide Number Placeholder 5"/>
          <p:cNvSpPr>
            <a:spLocks noGrp="1"/>
          </p:cNvSpPr>
          <p:nvPr>
            <p:ph type="sldNum" sz="quarter" idx="12"/>
          </p:nvPr>
        </p:nvSpPr>
        <p:spPr/>
        <p:txBody>
          <a:bodyPr/>
          <a:lstStyle/>
          <a:p>
            <a:fld id="{B866C471-8B5F-4568-96F6-677A6C380FF1}" type="slidenum">
              <a:rPr lang="he-IL" smtClean="0"/>
              <a:t>‹#›</a:t>
            </a:fld>
            <a:endParaRPr lang="he-IL" dirty="0"/>
          </a:p>
        </p:txBody>
      </p:sp>
    </p:spTree>
    <p:extLst>
      <p:ext uri="{BB962C8B-B14F-4D97-AF65-F5344CB8AC3E}">
        <p14:creationId xmlns:p14="http://schemas.microsoft.com/office/powerpoint/2010/main" val="30741236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515D4B3E-5DEA-468F-A9B8-4D4805F44759}" type="datetimeFigureOut">
              <a:rPr lang="he-IL" smtClean="0"/>
              <a:t>ט'/טבת/תשפ"ו</a:t>
            </a:fld>
            <a:endParaRPr lang="he-IL" dirty="0"/>
          </a:p>
        </p:txBody>
      </p:sp>
      <p:sp>
        <p:nvSpPr>
          <p:cNvPr id="5" name="Footer Placeholder 4"/>
          <p:cNvSpPr>
            <a:spLocks noGrp="1"/>
          </p:cNvSpPr>
          <p:nvPr>
            <p:ph type="ftr" sz="quarter" idx="11"/>
          </p:nvPr>
        </p:nvSpPr>
        <p:spPr/>
        <p:txBody>
          <a:bodyPr/>
          <a:lstStyle/>
          <a:p>
            <a:endParaRPr lang="he-IL" dirty="0"/>
          </a:p>
        </p:txBody>
      </p:sp>
      <p:sp>
        <p:nvSpPr>
          <p:cNvPr id="6" name="Slide Number Placeholder 5"/>
          <p:cNvSpPr>
            <a:spLocks noGrp="1"/>
          </p:cNvSpPr>
          <p:nvPr>
            <p:ph type="sldNum" sz="quarter" idx="12"/>
          </p:nvPr>
        </p:nvSpPr>
        <p:spPr/>
        <p:txBody>
          <a:bodyPr/>
          <a:lstStyle/>
          <a:p>
            <a:fld id="{B866C471-8B5F-4568-96F6-677A6C380FF1}" type="slidenum">
              <a:rPr lang="he-IL" smtClean="0"/>
              <a:t>‹#›</a:t>
            </a:fld>
            <a:endParaRPr lang="he-IL" dirty="0"/>
          </a:p>
        </p:txBody>
      </p:sp>
    </p:spTree>
    <p:extLst>
      <p:ext uri="{BB962C8B-B14F-4D97-AF65-F5344CB8AC3E}">
        <p14:creationId xmlns:p14="http://schemas.microsoft.com/office/powerpoint/2010/main" val="3564646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3E8BA8D8-FE16-2F85-F0B1-E328A42E5E3F}"/>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8B54C2A2-5CC9-60E0-CC7A-CFFCD1D228C6}"/>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8931D19A-743F-7659-5FF4-0DBDF476065A}"/>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515D4B3E-5DEA-468F-A9B8-4D4805F44759}" type="datetimeFigureOut">
              <a:rPr lang="he-IL" smtClean="0"/>
              <a:t>ט'/טבת/תשפ"ו</a:t>
            </a:fld>
            <a:endParaRPr lang="he-IL" dirty="0"/>
          </a:p>
        </p:txBody>
      </p:sp>
      <p:sp>
        <p:nvSpPr>
          <p:cNvPr id="5" name="מציין מיקום של כותרת תחתונה 4">
            <a:extLst>
              <a:ext uri="{FF2B5EF4-FFF2-40B4-BE49-F238E27FC236}">
                <a16:creationId xmlns:a16="http://schemas.microsoft.com/office/drawing/2014/main" id="{2F2453A9-BFA0-8240-E406-995620287B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he-IL" dirty="0"/>
          </a:p>
        </p:txBody>
      </p:sp>
      <p:sp>
        <p:nvSpPr>
          <p:cNvPr id="6" name="מציין מיקום של מספר שקופית 5">
            <a:extLst>
              <a:ext uri="{FF2B5EF4-FFF2-40B4-BE49-F238E27FC236}">
                <a16:creationId xmlns:a16="http://schemas.microsoft.com/office/drawing/2014/main" id="{69259529-7403-79EB-3174-B593E7CEA091}"/>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B866C471-8B5F-4568-96F6-677A6C380FF1}" type="slidenum">
              <a:rPr lang="he-IL" smtClean="0"/>
              <a:t>‹#›</a:t>
            </a:fld>
            <a:endParaRPr lang="he-IL" dirty="0"/>
          </a:p>
        </p:txBody>
      </p:sp>
    </p:spTree>
    <p:extLst>
      <p:ext uri="{BB962C8B-B14F-4D97-AF65-F5344CB8AC3E}">
        <p14:creationId xmlns:p14="http://schemas.microsoft.com/office/powerpoint/2010/main" val="26686886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15D4B3E-5DEA-468F-A9B8-4D4805F44759}" type="datetimeFigureOut">
              <a:rPr lang="he-IL" smtClean="0"/>
              <a:t>ט'/טבת/תשפ"ו</a:t>
            </a:fld>
            <a:endParaRPr lang="he-IL"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he-IL"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66C471-8B5F-4568-96F6-677A6C380FF1}" type="slidenum">
              <a:rPr lang="he-IL" smtClean="0"/>
              <a:t>‹#›</a:t>
            </a:fld>
            <a:endParaRPr lang="he-IL" dirty="0"/>
          </a:p>
        </p:txBody>
      </p:sp>
    </p:spTree>
    <p:extLst>
      <p:ext uri="{BB962C8B-B14F-4D97-AF65-F5344CB8AC3E}">
        <p14:creationId xmlns:p14="http://schemas.microsoft.com/office/powerpoint/2010/main" val="169229167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jpe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sv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 Id="rId9" Type="http://schemas.openxmlformats.org/officeDocument/2006/relationships/image" Target="../media/image23.svg"/></Relationships>
</file>

<file path=ppt/slides/_rels/slide11.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g"/><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4.jp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4.jp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4.jp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4.jp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22A397E7-BF60-45B2-84C7-B074B76C37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5" name="Picture 4" descr="101010 שורות נתונים לאינסוף">
            <a:extLst>
              <a:ext uri="{FF2B5EF4-FFF2-40B4-BE49-F238E27FC236}">
                <a16:creationId xmlns:a16="http://schemas.microsoft.com/office/drawing/2014/main" id="{737A0DCF-6EE2-764A-91F5-C261581C860B}"/>
              </a:ext>
            </a:extLst>
          </p:cNvPr>
          <p:cNvPicPr>
            <a:picLocks noChangeAspect="1"/>
          </p:cNvPicPr>
          <p:nvPr/>
        </p:nvPicPr>
        <p:blipFill>
          <a:blip r:embed="rId3">
            <a:alphaModFix/>
          </a:blip>
          <a:srcRect r="25336" b="1"/>
          <a:stretch/>
        </p:blipFill>
        <p:spPr>
          <a:xfrm>
            <a:off x="4283902" y="10"/>
            <a:ext cx="7908098" cy="6857992"/>
          </a:xfrm>
          <a:prstGeom prst="rect">
            <a:avLst/>
          </a:prstGeom>
        </p:spPr>
      </p:pic>
      <p:sp>
        <p:nvSpPr>
          <p:cNvPr id="49" name="Rectangle 48">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36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כותרת 1">
            <a:extLst>
              <a:ext uri="{FF2B5EF4-FFF2-40B4-BE49-F238E27FC236}">
                <a16:creationId xmlns:a16="http://schemas.microsoft.com/office/drawing/2014/main" id="{10F7CC3D-3E0F-C0C9-ABAC-22CDA2D7AC08}"/>
              </a:ext>
            </a:extLst>
          </p:cNvPr>
          <p:cNvSpPr>
            <a:spLocks noGrp="1"/>
          </p:cNvSpPr>
          <p:nvPr>
            <p:ph type="ctrTitle"/>
          </p:nvPr>
        </p:nvSpPr>
        <p:spPr>
          <a:xfrm>
            <a:off x="159801" y="1183475"/>
            <a:ext cx="5505449" cy="2387600"/>
          </a:xfrm>
        </p:spPr>
        <p:txBody>
          <a:bodyPr>
            <a:normAutofit/>
          </a:bodyPr>
          <a:lstStyle/>
          <a:p>
            <a:pPr algn="r"/>
            <a:r>
              <a:rPr lang="he-IL" sz="5000" dirty="0">
                <a:solidFill>
                  <a:schemeClr val="bg1"/>
                </a:solidFill>
              </a:rPr>
              <a:t>מטלת מנחה (ממ"ן) 16</a:t>
            </a:r>
            <a:br>
              <a:rPr lang="en-US" sz="5000" dirty="0">
                <a:solidFill>
                  <a:schemeClr val="bg1"/>
                </a:solidFill>
              </a:rPr>
            </a:br>
            <a:r>
              <a:rPr lang="he-IL" sz="5000" dirty="0">
                <a:solidFill>
                  <a:schemeClr val="bg1"/>
                </a:solidFill>
              </a:rPr>
              <a:t>מבוא לאבטחת המידע המקוון</a:t>
            </a:r>
          </a:p>
        </p:txBody>
      </p:sp>
      <p:sp>
        <p:nvSpPr>
          <p:cNvPr id="3" name="כותרת משנה 2">
            <a:extLst>
              <a:ext uri="{FF2B5EF4-FFF2-40B4-BE49-F238E27FC236}">
                <a16:creationId xmlns:a16="http://schemas.microsoft.com/office/drawing/2014/main" id="{01A5D3DA-FBE2-199C-7C10-3084F5211301}"/>
              </a:ext>
            </a:extLst>
          </p:cNvPr>
          <p:cNvSpPr>
            <a:spLocks noGrp="1"/>
          </p:cNvSpPr>
          <p:nvPr>
            <p:ph type="subTitle" idx="1"/>
          </p:nvPr>
        </p:nvSpPr>
        <p:spPr>
          <a:xfrm>
            <a:off x="0" y="3926659"/>
            <a:ext cx="5505449" cy="1655762"/>
          </a:xfrm>
        </p:spPr>
        <p:txBody>
          <a:bodyPr>
            <a:normAutofit/>
          </a:bodyPr>
          <a:lstStyle/>
          <a:p>
            <a:pPr algn="r"/>
            <a:r>
              <a:rPr lang="he-IL" sz="2000" dirty="0">
                <a:solidFill>
                  <a:schemeClr val="bg1"/>
                </a:solidFill>
              </a:rPr>
              <a:t>דביר חכם פור</a:t>
            </a:r>
            <a:br>
              <a:rPr lang="en-US" sz="2000" dirty="0">
                <a:solidFill>
                  <a:schemeClr val="bg1"/>
                </a:solidFill>
              </a:rPr>
            </a:br>
            <a:r>
              <a:rPr lang="he-IL" sz="2000" dirty="0">
                <a:solidFill>
                  <a:schemeClr val="bg1"/>
                </a:solidFill>
              </a:rPr>
              <a:t>בר טופליאן</a:t>
            </a:r>
          </a:p>
        </p:txBody>
      </p:sp>
      <p:cxnSp>
        <p:nvCxnSpPr>
          <p:cNvPr id="51" name="Straight Connector 50">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8585" y="3681408"/>
            <a:ext cx="1193482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4008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B210AC1D-4063-4C6E-9528-FA9C4C0C1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2" name="Rectangle 11">
            <a:extLst>
              <a:ext uri="{FF2B5EF4-FFF2-40B4-BE49-F238E27FC236}">
                <a16:creationId xmlns:a16="http://schemas.microsoft.com/office/drawing/2014/main" id="{02F8C595-E68C-4306-AED8-DC7826A0A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37CA7FDC-A68A-1CB1-33DC-9EB190206DDB}"/>
              </a:ext>
            </a:extLst>
          </p:cNvPr>
          <p:cNvSpPr>
            <a:spLocks noGrp="1"/>
          </p:cNvSpPr>
          <p:nvPr>
            <p:ph type="title"/>
          </p:nvPr>
        </p:nvSpPr>
        <p:spPr>
          <a:xfrm>
            <a:off x="3599198" y="214395"/>
            <a:ext cx="6959421" cy="1114974"/>
          </a:xfrm>
        </p:spPr>
        <p:txBody>
          <a:bodyPr anchor="ctr">
            <a:normAutofit/>
          </a:bodyPr>
          <a:lstStyle/>
          <a:p>
            <a:r>
              <a:rPr lang="he-IL" sz="4000" dirty="0">
                <a:latin typeface="David" panose="020E0502060401010101" pitchFamily="34" charset="-79"/>
              </a:rPr>
              <a:t>סכנת הפרטיות בעידן המודרני </a:t>
            </a:r>
          </a:p>
        </p:txBody>
      </p:sp>
      <p:pic>
        <p:nvPicPr>
          <p:cNvPr id="5" name="תמונה 4" descr="פנימי של חדר שרתים">
            <a:extLst>
              <a:ext uri="{FF2B5EF4-FFF2-40B4-BE49-F238E27FC236}">
                <a16:creationId xmlns:a16="http://schemas.microsoft.com/office/drawing/2014/main" id="{68F2A8DB-894C-B03D-C059-637EAD3D4D4B}"/>
              </a:ext>
            </a:extLst>
          </p:cNvPr>
          <p:cNvPicPr>
            <a:picLocks noChangeAspect="1"/>
          </p:cNvPicPr>
          <p:nvPr/>
        </p:nvPicPr>
        <p:blipFill>
          <a:blip r:embed="rId4">
            <a:extLst>
              <a:ext uri="{28A0092B-C50C-407E-A947-70E740481C1C}">
                <a14:useLocalDpi xmlns:a14="http://schemas.microsoft.com/office/drawing/2010/main" val="0"/>
              </a:ext>
            </a:extLst>
          </a:blip>
          <a:srcRect l="49116" r="17447" b="-2"/>
          <a:stretch/>
        </p:blipFill>
        <p:spPr>
          <a:xfrm>
            <a:off x="0" y="-2"/>
            <a:ext cx="3435389" cy="6858002"/>
          </a:xfrm>
          <a:prstGeom prst="rect">
            <a:avLst/>
          </a:prstGeom>
        </p:spPr>
      </p:pic>
      <p:sp>
        <p:nvSpPr>
          <p:cNvPr id="6" name="מלבן: פינות מעוגלות 5">
            <a:extLst>
              <a:ext uri="{FF2B5EF4-FFF2-40B4-BE49-F238E27FC236}">
                <a16:creationId xmlns:a16="http://schemas.microsoft.com/office/drawing/2014/main" id="{2CAB754F-8EBD-2A34-8640-5A722C7791A3}"/>
              </a:ext>
            </a:extLst>
          </p:cNvPr>
          <p:cNvSpPr/>
          <p:nvPr/>
        </p:nvSpPr>
        <p:spPr>
          <a:xfrm>
            <a:off x="4294414" y="1577896"/>
            <a:ext cx="6629400" cy="1287643"/>
          </a:xfrm>
          <a:prstGeom prst="roundRect">
            <a:avLst/>
          </a:prstGeom>
        </p:spPr>
        <p:style>
          <a:lnRef idx="1">
            <a:schemeClr val="accent4"/>
          </a:lnRef>
          <a:fillRef idx="2">
            <a:schemeClr val="accent4"/>
          </a:fillRef>
          <a:effectRef idx="1">
            <a:schemeClr val="accent4"/>
          </a:effectRef>
          <a:fontRef idx="minor">
            <a:schemeClr val="dk1"/>
          </a:fontRef>
        </p:style>
        <p:txBody>
          <a:bodyPr rtlCol="1" anchor="ctr"/>
          <a:lstStyle/>
          <a:p>
            <a:pPr algn="ctr"/>
            <a:r>
              <a:rPr lang="he-IL" sz="2800" dirty="0"/>
              <a:t>שמירת מידע רחבה - עידן ה-</a:t>
            </a:r>
            <a:r>
              <a:rPr lang="es-ES" sz="2800" dirty="0"/>
              <a:t>Big Data </a:t>
            </a:r>
            <a:endParaRPr lang="he-IL" sz="2800" dirty="0"/>
          </a:p>
        </p:txBody>
      </p:sp>
      <p:sp>
        <p:nvSpPr>
          <p:cNvPr id="7" name="מלבן: פינות מעוגלות 6">
            <a:extLst>
              <a:ext uri="{FF2B5EF4-FFF2-40B4-BE49-F238E27FC236}">
                <a16:creationId xmlns:a16="http://schemas.microsoft.com/office/drawing/2014/main" id="{FAF1EEC3-224A-1244-0AFE-E66B8F6BCD6D}"/>
              </a:ext>
            </a:extLst>
          </p:cNvPr>
          <p:cNvSpPr/>
          <p:nvPr/>
        </p:nvSpPr>
        <p:spPr>
          <a:xfrm>
            <a:off x="4333984" y="3114066"/>
            <a:ext cx="6629400" cy="1287643"/>
          </a:xfrm>
          <a:prstGeom prst="roundRect">
            <a:avLst/>
          </a:prstGeom>
        </p:spPr>
        <p:style>
          <a:lnRef idx="1">
            <a:schemeClr val="accent4"/>
          </a:lnRef>
          <a:fillRef idx="2">
            <a:schemeClr val="accent4"/>
          </a:fillRef>
          <a:effectRef idx="1">
            <a:schemeClr val="accent4"/>
          </a:effectRef>
          <a:fontRef idx="minor">
            <a:schemeClr val="dk1"/>
          </a:fontRef>
        </p:style>
        <p:txBody>
          <a:bodyPr rtlCol="1" anchor="ctr"/>
          <a:lstStyle/>
          <a:p>
            <a:pPr algn="ctr"/>
            <a:r>
              <a:rPr lang="he-IL" sz="2800" dirty="0"/>
              <a:t>עמימות - לא כל הכלים והשיטות לפגיעה בפרטיותנו ידועות</a:t>
            </a:r>
          </a:p>
        </p:txBody>
      </p:sp>
      <p:sp>
        <p:nvSpPr>
          <p:cNvPr id="8" name="מלבן: פינות מעוגלות 7">
            <a:extLst>
              <a:ext uri="{FF2B5EF4-FFF2-40B4-BE49-F238E27FC236}">
                <a16:creationId xmlns:a16="http://schemas.microsoft.com/office/drawing/2014/main" id="{D6CA15F4-3D9E-99BA-A145-20D6DF9B77FA}"/>
              </a:ext>
            </a:extLst>
          </p:cNvPr>
          <p:cNvSpPr/>
          <p:nvPr/>
        </p:nvSpPr>
        <p:spPr>
          <a:xfrm>
            <a:off x="4294414" y="4735414"/>
            <a:ext cx="6629400" cy="1287643"/>
          </a:xfrm>
          <a:prstGeom prst="roundRect">
            <a:avLst/>
          </a:prstGeom>
        </p:spPr>
        <p:style>
          <a:lnRef idx="1">
            <a:schemeClr val="accent4"/>
          </a:lnRef>
          <a:fillRef idx="2">
            <a:schemeClr val="accent4"/>
          </a:fillRef>
          <a:effectRef idx="1">
            <a:schemeClr val="accent4"/>
          </a:effectRef>
          <a:fontRef idx="minor">
            <a:schemeClr val="dk1"/>
          </a:fontRef>
        </p:style>
        <p:txBody>
          <a:bodyPr rtlCol="1" anchor="ctr"/>
          <a:lstStyle/>
          <a:p>
            <a:pPr algn="ctr"/>
            <a:r>
              <a:rPr lang="he-IL" sz="2800" dirty="0"/>
              <a:t>חדירות גבוהה - אנחנו מוקפים בטכנולוגיות מתקדמות ובחיישנים וקל להסוות אותם</a:t>
            </a:r>
          </a:p>
        </p:txBody>
      </p:sp>
    </p:spTree>
    <p:extLst>
      <p:ext uri="{BB962C8B-B14F-4D97-AF65-F5344CB8AC3E}">
        <p14:creationId xmlns:p14="http://schemas.microsoft.com/office/powerpoint/2010/main" val="1541772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כותרת 1">
            <a:extLst>
              <a:ext uri="{FF2B5EF4-FFF2-40B4-BE49-F238E27FC236}">
                <a16:creationId xmlns:a16="http://schemas.microsoft.com/office/drawing/2014/main" id="{ACEDA016-9EBE-A91D-B88B-20212EE94811}"/>
              </a:ext>
            </a:extLst>
          </p:cNvPr>
          <p:cNvSpPr>
            <a:spLocks noGrp="1"/>
          </p:cNvSpPr>
          <p:nvPr>
            <p:ph type="title"/>
          </p:nvPr>
        </p:nvSpPr>
        <p:spPr>
          <a:xfrm>
            <a:off x="7216069" y="1013820"/>
            <a:ext cx="4208403" cy="882899"/>
          </a:xfrm>
        </p:spPr>
        <p:txBody>
          <a:bodyPr anchor="b">
            <a:normAutofit/>
          </a:bodyPr>
          <a:lstStyle/>
          <a:p>
            <a:pPr algn="r"/>
            <a:r>
              <a:rPr lang="he-IL" dirty="0">
                <a:solidFill>
                  <a:schemeClr val="bg1"/>
                </a:solidFill>
              </a:rPr>
              <a:t>שרת האימות</a:t>
            </a:r>
          </a:p>
        </p:txBody>
      </p:sp>
      <p:pic>
        <p:nvPicPr>
          <p:cNvPr id="11" name="גרפיקה 10" descr="מפתח עם מילוי מלא">
            <a:extLst>
              <a:ext uri="{FF2B5EF4-FFF2-40B4-BE49-F238E27FC236}">
                <a16:creationId xmlns:a16="http://schemas.microsoft.com/office/drawing/2014/main" id="{C0A07CC9-3A91-78B1-0711-F49F5913C37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74326" y="4574262"/>
            <a:ext cx="1886852" cy="1886852"/>
          </a:xfrm>
          <a:prstGeom prst="rect">
            <a:avLst/>
          </a:prstGeom>
        </p:spPr>
      </p:pic>
      <p:cxnSp>
        <p:nvCxnSpPr>
          <p:cNvPr id="18" name="Straight Connector 17">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745298" y="2026340"/>
            <a:ext cx="544670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7188D9B-1674-419B-A379-D1632A7EC3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4776" y="0"/>
            <a:ext cx="0" cy="685800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מציין מיקום תוכן 2">
            <a:extLst>
              <a:ext uri="{FF2B5EF4-FFF2-40B4-BE49-F238E27FC236}">
                <a16:creationId xmlns:a16="http://schemas.microsoft.com/office/drawing/2014/main" id="{BDC0FD6F-7C3E-0D06-68D5-410B6867280E}"/>
              </a:ext>
            </a:extLst>
          </p:cNvPr>
          <p:cNvSpPr>
            <a:spLocks noGrp="1"/>
          </p:cNvSpPr>
          <p:nvPr>
            <p:ph idx="1"/>
          </p:nvPr>
        </p:nvSpPr>
        <p:spPr>
          <a:xfrm>
            <a:off x="3662641" y="2255382"/>
            <a:ext cx="7761831" cy="3802506"/>
          </a:xfrm>
        </p:spPr>
        <p:txBody>
          <a:bodyPr>
            <a:normAutofit/>
          </a:bodyPr>
          <a:lstStyle/>
          <a:p>
            <a:r>
              <a:rPr lang="he-IL" dirty="0">
                <a:solidFill>
                  <a:schemeClr val="bg1"/>
                </a:solidFill>
              </a:rPr>
              <a:t>מדמה שרת אמיתי</a:t>
            </a:r>
          </a:p>
          <a:p>
            <a:r>
              <a:rPr lang="he-IL" dirty="0">
                <a:solidFill>
                  <a:schemeClr val="bg1"/>
                </a:solidFill>
              </a:rPr>
              <a:t>מאפשר רישום וכניסה של משתמשים</a:t>
            </a:r>
          </a:p>
          <a:p>
            <a:r>
              <a:rPr lang="he-IL" dirty="0">
                <a:solidFill>
                  <a:schemeClr val="bg1"/>
                </a:solidFill>
              </a:rPr>
              <a:t>מבצע בדיקות אימות</a:t>
            </a:r>
          </a:p>
          <a:p>
            <a:r>
              <a:rPr lang="he-IL" dirty="0">
                <a:solidFill>
                  <a:schemeClr val="bg1"/>
                </a:solidFill>
              </a:rPr>
              <a:t>מפעיל הגנות</a:t>
            </a:r>
          </a:p>
          <a:p>
            <a:r>
              <a:rPr lang="he-IL" dirty="0">
                <a:solidFill>
                  <a:schemeClr val="bg1"/>
                </a:solidFill>
              </a:rPr>
              <a:t>תומך במספר שיטות גיבוב</a:t>
            </a:r>
          </a:p>
          <a:p>
            <a:endParaRPr lang="he-IL" sz="2400" dirty="0">
              <a:solidFill>
                <a:schemeClr val="bg1"/>
              </a:solidFill>
              <a:latin typeface="Calibri" panose="020F0502020204030204" pitchFamily="34" charset="0"/>
              <a:ea typeface="Calibri" panose="020F0502020204030204" pitchFamily="34" charset="0"/>
              <a:cs typeface="Arial" panose="020B0604020202020204" pitchFamily="34" charset="0"/>
            </a:endParaRPr>
          </a:p>
        </p:txBody>
      </p:sp>
      <p:sp>
        <p:nvSpPr>
          <p:cNvPr id="4" name="מלבן 3">
            <a:extLst>
              <a:ext uri="{FF2B5EF4-FFF2-40B4-BE49-F238E27FC236}">
                <a16:creationId xmlns:a16="http://schemas.microsoft.com/office/drawing/2014/main" id="{2E6CD77A-3B43-7C4D-F601-238BF2E62C21}"/>
              </a:ext>
            </a:extLst>
          </p:cNvPr>
          <p:cNvSpPr/>
          <p:nvPr/>
        </p:nvSpPr>
        <p:spPr>
          <a:xfrm>
            <a:off x="1309553" y="2962718"/>
            <a:ext cx="1281240" cy="1214658"/>
          </a:xfrm>
          <a:prstGeom prst="rect">
            <a:avLst/>
          </a:prstGeom>
          <a:blipFill>
            <a:blip r:embed="rId5">
              <a:extLst>
                <a:ext uri="{96DAC541-7B7A-43D3-8B79-37D633B846F1}">
                  <asvg:svgBlip xmlns:asvg="http://schemas.microsoft.com/office/drawing/2016/SVG/main" r:embed="rId6"/>
                </a:ext>
              </a:extLst>
            </a:blip>
            <a:srcRect/>
            <a:stretch>
              <a:fillRect/>
            </a:stretch>
          </a:blipFill>
          <a:ln>
            <a:no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he-IL" dirty="0"/>
          </a:p>
        </p:txBody>
      </p:sp>
      <p:sp>
        <p:nvSpPr>
          <p:cNvPr id="5" name="מלבן 4">
            <a:extLst>
              <a:ext uri="{FF2B5EF4-FFF2-40B4-BE49-F238E27FC236}">
                <a16:creationId xmlns:a16="http://schemas.microsoft.com/office/drawing/2014/main" id="{A2697622-E891-1E06-1DAD-16BE9AA7E978}"/>
              </a:ext>
            </a:extLst>
          </p:cNvPr>
          <p:cNvSpPr/>
          <p:nvPr/>
        </p:nvSpPr>
        <p:spPr>
          <a:xfrm>
            <a:off x="1483891" y="1093777"/>
            <a:ext cx="1106899" cy="1214658"/>
          </a:xfrm>
          <a:prstGeom prst="rect">
            <a:avLst/>
          </a:prstGeom>
          <a: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he-IL" dirty="0"/>
          </a:p>
        </p:txBody>
      </p:sp>
    </p:spTree>
    <p:extLst>
      <p:ext uri="{BB962C8B-B14F-4D97-AF65-F5344CB8AC3E}">
        <p14:creationId xmlns:p14="http://schemas.microsoft.com/office/powerpoint/2010/main" val="42112702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1A6193-E87E-30EE-AE03-A5F2BEC21D1A}"/>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AA36EE39-1FD0-F347-C1A9-6E35DDD98B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כותרת 1">
            <a:extLst>
              <a:ext uri="{FF2B5EF4-FFF2-40B4-BE49-F238E27FC236}">
                <a16:creationId xmlns:a16="http://schemas.microsoft.com/office/drawing/2014/main" id="{00D5DDE9-AF08-C62C-A9C2-86E29F11E6B3}"/>
              </a:ext>
            </a:extLst>
          </p:cNvPr>
          <p:cNvSpPr>
            <a:spLocks noGrp="1"/>
          </p:cNvSpPr>
          <p:nvPr>
            <p:ph type="title"/>
          </p:nvPr>
        </p:nvSpPr>
        <p:spPr>
          <a:xfrm>
            <a:off x="7216069" y="1013820"/>
            <a:ext cx="4208403" cy="882899"/>
          </a:xfrm>
        </p:spPr>
        <p:txBody>
          <a:bodyPr anchor="b">
            <a:normAutofit/>
          </a:bodyPr>
          <a:lstStyle/>
          <a:p>
            <a:pPr algn="r"/>
            <a:r>
              <a:rPr lang="he-IL" dirty="0">
                <a:solidFill>
                  <a:schemeClr val="bg1"/>
                </a:solidFill>
              </a:rPr>
              <a:t>שרת האימות</a:t>
            </a:r>
          </a:p>
        </p:txBody>
      </p:sp>
      <p:pic>
        <p:nvPicPr>
          <p:cNvPr id="11" name="גרפיקה 10" descr="מפתח עם מילוי מלא">
            <a:extLst>
              <a:ext uri="{FF2B5EF4-FFF2-40B4-BE49-F238E27FC236}">
                <a16:creationId xmlns:a16="http://schemas.microsoft.com/office/drawing/2014/main" id="{F1DBEC38-9A9A-8B00-5982-28C16275F0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74326" y="4574262"/>
            <a:ext cx="1886852" cy="1886852"/>
          </a:xfrm>
          <a:prstGeom prst="rect">
            <a:avLst/>
          </a:prstGeom>
        </p:spPr>
      </p:pic>
      <p:cxnSp>
        <p:nvCxnSpPr>
          <p:cNvPr id="18" name="Straight Connector 17">
            <a:extLst>
              <a:ext uri="{FF2B5EF4-FFF2-40B4-BE49-F238E27FC236}">
                <a16:creationId xmlns:a16="http://schemas.microsoft.com/office/drawing/2014/main" id="{2423A6E6-D630-6FED-FA78-F9758381EE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745298" y="2026340"/>
            <a:ext cx="544670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776BFD0-751D-A027-DE04-28D39EDB8B2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4776" y="0"/>
            <a:ext cx="0" cy="685800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מציין מיקום תוכן 2">
            <a:extLst>
              <a:ext uri="{FF2B5EF4-FFF2-40B4-BE49-F238E27FC236}">
                <a16:creationId xmlns:a16="http://schemas.microsoft.com/office/drawing/2014/main" id="{249F15FD-718B-557C-E1BC-6C57C4F52661}"/>
              </a:ext>
            </a:extLst>
          </p:cNvPr>
          <p:cNvSpPr>
            <a:spLocks noGrp="1"/>
          </p:cNvSpPr>
          <p:nvPr>
            <p:ph idx="1"/>
          </p:nvPr>
        </p:nvSpPr>
        <p:spPr>
          <a:xfrm>
            <a:off x="3662641" y="2255382"/>
            <a:ext cx="7761831" cy="3802506"/>
          </a:xfrm>
        </p:spPr>
        <p:txBody>
          <a:bodyPr>
            <a:normAutofit/>
          </a:bodyPr>
          <a:lstStyle/>
          <a:p>
            <a:r>
              <a:rPr lang="he-IL" dirty="0">
                <a:solidFill>
                  <a:schemeClr val="bg1"/>
                </a:solidFill>
                <a:latin typeface="Calibri" panose="020F0502020204030204" pitchFamily="34" charset="0"/>
                <a:ea typeface="Calibri" panose="020F0502020204030204" pitchFamily="34" charset="0"/>
              </a:rPr>
              <a:t>ממומש בשפת </a:t>
            </a:r>
            <a:r>
              <a:rPr lang="en-US" dirty="0">
                <a:solidFill>
                  <a:schemeClr val="bg1"/>
                </a:solidFill>
                <a:latin typeface="Calibri" panose="020F0502020204030204" pitchFamily="34" charset="0"/>
                <a:ea typeface="Calibri" panose="020F0502020204030204" pitchFamily="34" charset="0"/>
              </a:rPr>
              <a:t>Python</a:t>
            </a:r>
            <a:endParaRPr lang="he-IL" dirty="0">
              <a:solidFill>
                <a:schemeClr val="bg1"/>
              </a:solidFill>
              <a:latin typeface="Calibri" panose="020F0502020204030204" pitchFamily="34" charset="0"/>
              <a:ea typeface="Calibri" panose="020F0502020204030204" pitchFamily="34" charset="0"/>
            </a:endParaRPr>
          </a:p>
          <a:p>
            <a:r>
              <a:rPr lang="he-IL" dirty="0">
                <a:solidFill>
                  <a:schemeClr val="bg1"/>
                </a:solidFill>
                <a:latin typeface="Calibri" panose="020F0502020204030204" pitchFamily="34" charset="0"/>
                <a:ea typeface="Calibri" panose="020F0502020204030204" pitchFamily="34" charset="0"/>
              </a:rPr>
              <a:t>מבוסס על פלטפורמת </a:t>
            </a:r>
            <a:r>
              <a:rPr lang="es-ES" dirty="0" err="1">
                <a:solidFill>
                  <a:schemeClr val="bg1"/>
                </a:solidFill>
                <a:latin typeface="Calibri" panose="020F0502020204030204" pitchFamily="34" charset="0"/>
                <a:ea typeface="Calibri" panose="020F0502020204030204" pitchFamily="34" charset="0"/>
              </a:rPr>
              <a:t>flask</a:t>
            </a:r>
            <a:r>
              <a:rPr lang="es-ES" dirty="0">
                <a:solidFill>
                  <a:schemeClr val="bg1"/>
                </a:solidFill>
                <a:latin typeface="Calibri" panose="020F0502020204030204" pitchFamily="34" charset="0"/>
                <a:ea typeface="Calibri" panose="020F0502020204030204" pitchFamily="34" charset="0"/>
              </a:rPr>
              <a:t> </a:t>
            </a:r>
            <a:endParaRPr lang="he-IL" dirty="0">
              <a:solidFill>
                <a:schemeClr val="bg1"/>
              </a:solidFill>
              <a:latin typeface="Calibri" panose="020F0502020204030204" pitchFamily="34" charset="0"/>
              <a:ea typeface="Calibri" panose="020F0502020204030204" pitchFamily="34" charset="0"/>
            </a:endParaRPr>
          </a:p>
          <a:p>
            <a:r>
              <a:rPr lang="he-IL" dirty="0">
                <a:solidFill>
                  <a:schemeClr val="bg1"/>
                </a:solidFill>
                <a:latin typeface="Calibri" panose="020F0502020204030204" pitchFamily="34" charset="0"/>
                <a:ea typeface="Calibri" panose="020F0502020204030204" pitchFamily="34" charset="0"/>
              </a:rPr>
              <a:t>משתמש בספרייה </a:t>
            </a:r>
            <a:r>
              <a:rPr lang="es-ES">
                <a:solidFill>
                  <a:schemeClr val="bg1"/>
                </a:solidFill>
                <a:latin typeface="Calibri" panose="020F0502020204030204" pitchFamily="34" charset="0"/>
                <a:ea typeface="Calibri" panose="020F0502020204030204" pitchFamily="34" charset="0"/>
              </a:rPr>
              <a:t>sqlite3</a:t>
            </a:r>
            <a:r>
              <a:rPr lang="he-IL">
                <a:solidFill>
                  <a:schemeClr val="bg1"/>
                </a:solidFill>
                <a:latin typeface="Calibri" panose="020F0502020204030204" pitchFamily="34" charset="0"/>
                <a:ea typeface="Calibri" panose="020F0502020204030204" pitchFamily="34" charset="0"/>
              </a:rPr>
              <a:t> </a:t>
            </a:r>
            <a:r>
              <a:rPr lang="he-IL" dirty="0">
                <a:solidFill>
                  <a:schemeClr val="bg1"/>
                </a:solidFill>
                <a:latin typeface="Calibri" panose="020F0502020204030204" pitchFamily="34" charset="0"/>
                <a:ea typeface="Calibri" panose="020F0502020204030204" pitchFamily="34" charset="0"/>
              </a:rPr>
              <a:t>עבור מסד נתונים </a:t>
            </a:r>
          </a:p>
        </p:txBody>
      </p:sp>
      <p:sp>
        <p:nvSpPr>
          <p:cNvPr id="4" name="מלבן 3">
            <a:extLst>
              <a:ext uri="{FF2B5EF4-FFF2-40B4-BE49-F238E27FC236}">
                <a16:creationId xmlns:a16="http://schemas.microsoft.com/office/drawing/2014/main" id="{19BC654A-FEB6-C881-D7B9-BC414E612C92}"/>
              </a:ext>
            </a:extLst>
          </p:cNvPr>
          <p:cNvSpPr/>
          <p:nvPr/>
        </p:nvSpPr>
        <p:spPr>
          <a:xfrm>
            <a:off x="1309553" y="2962718"/>
            <a:ext cx="1281240" cy="1214658"/>
          </a:xfrm>
          <a:prstGeom prst="rect">
            <a:avLst/>
          </a:prstGeom>
          <a:blipFill>
            <a:blip r:embed="rId5">
              <a:extLst>
                <a:ext uri="{96DAC541-7B7A-43D3-8B79-37D633B846F1}">
                  <asvg:svgBlip xmlns:asvg="http://schemas.microsoft.com/office/drawing/2016/SVG/main" r:embed="rId6"/>
                </a:ext>
              </a:extLst>
            </a:blip>
            <a:srcRect/>
            <a:stretch>
              <a:fillRect/>
            </a:stretch>
          </a:blipFill>
          <a:ln>
            <a:no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he-IL"/>
          </a:p>
        </p:txBody>
      </p:sp>
      <p:sp>
        <p:nvSpPr>
          <p:cNvPr id="5" name="מלבן 4">
            <a:extLst>
              <a:ext uri="{FF2B5EF4-FFF2-40B4-BE49-F238E27FC236}">
                <a16:creationId xmlns:a16="http://schemas.microsoft.com/office/drawing/2014/main" id="{E898FC95-FF99-9D88-FA67-9927FC39DA27}"/>
              </a:ext>
            </a:extLst>
          </p:cNvPr>
          <p:cNvSpPr/>
          <p:nvPr/>
        </p:nvSpPr>
        <p:spPr>
          <a:xfrm>
            <a:off x="1483891" y="1093777"/>
            <a:ext cx="1106899" cy="1214658"/>
          </a:xfrm>
          <a:prstGeom prst="rect">
            <a:avLst/>
          </a:prstGeom>
          <a: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he-IL"/>
          </a:p>
        </p:txBody>
      </p:sp>
    </p:spTree>
    <p:extLst>
      <p:ext uri="{BB962C8B-B14F-4D97-AF65-F5344CB8AC3E}">
        <p14:creationId xmlns:p14="http://schemas.microsoft.com/office/powerpoint/2010/main" val="3280469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A647B2-F21E-E934-C08B-3AF4187B084D}"/>
            </a:ext>
          </a:extLst>
        </p:cNvPr>
        <p:cNvGrpSpPr/>
        <p:nvPr/>
      </p:nvGrpSpPr>
      <p:grpSpPr>
        <a:xfrm>
          <a:off x="0" y="0"/>
          <a:ext cx="0" cy="0"/>
          <a:chOff x="0" y="0"/>
          <a:chExt cx="0" cy="0"/>
        </a:xfrm>
      </p:grpSpPr>
      <p:sp>
        <p:nvSpPr>
          <p:cNvPr id="24" name="Rectangle 15">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תמונה 10" descr="עשן אדום">
            <a:extLst>
              <a:ext uri="{FF2B5EF4-FFF2-40B4-BE49-F238E27FC236}">
                <a16:creationId xmlns:a16="http://schemas.microsoft.com/office/drawing/2014/main" id="{DF68C35A-A1C4-1CAD-2530-CF7F8FE90A05}"/>
              </a:ext>
            </a:extLst>
          </p:cNvPr>
          <p:cNvPicPr>
            <a:picLocks noChangeAspect="1"/>
          </p:cNvPicPr>
          <p:nvPr/>
        </p:nvPicPr>
        <p:blipFill>
          <a:blip r:embed="rId2">
            <a:alphaModFix amt="90000"/>
            <a:extLst>
              <a:ext uri="{28A0092B-C50C-407E-A947-70E740481C1C}">
                <a14:useLocalDpi xmlns:a14="http://schemas.microsoft.com/office/drawing/2010/main" val="0"/>
              </a:ext>
            </a:extLst>
          </a:blip>
          <a:srcRect t="15730"/>
          <a:stretch/>
        </p:blipFill>
        <p:spPr>
          <a:xfrm>
            <a:off x="20" y="10"/>
            <a:ext cx="12191980" cy="6857990"/>
          </a:xfrm>
          <a:prstGeom prst="rect">
            <a:avLst/>
          </a:prstGeom>
        </p:spPr>
      </p:pic>
      <p:sp>
        <p:nvSpPr>
          <p:cNvPr id="2" name="כותרת 1">
            <a:extLst>
              <a:ext uri="{FF2B5EF4-FFF2-40B4-BE49-F238E27FC236}">
                <a16:creationId xmlns:a16="http://schemas.microsoft.com/office/drawing/2014/main" id="{E27BE805-4A5B-84D9-5DB7-C1AA50719472}"/>
              </a:ext>
            </a:extLst>
          </p:cNvPr>
          <p:cNvSpPr>
            <a:spLocks noGrp="1"/>
          </p:cNvSpPr>
          <p:nvPr>
            <p:ph type="title"/>
          </p:nvPr>
        </p:nvSpPr>
        <p:spPr>
          <a:xfrm>
            <a:off x="1044314" y="287377"/>
            <a:ext cx="10515600" cy="1325563"/>
          </a:xfrm>
        </p:spPr>
        <p:txBody>
          <a:bodyPr>
            <a:normAutofit/>
          </a:bodyPr>
          <a:lstStyle/>
          <a:p>
            <a:r>
              <a:rPr lang="he-IL" sz="5400" dirty="0">
                <a:solidFill>
                  <a:srgbClr val="FFFFFF"/>
                </a:solidFill>
              </a:rPr>
              <a:t>נקודות קצה</a:t>
            </a:r>
          </a:p>
        </p:txBody>
      </p:sp>
      <mc:AlternateContent xmlns:mc="http://schemas.openxmlformats.org/markup-compatibility/2006" xmlns:a14="http://schemas.microsoft.com/office/drawing/2010/main">
        <mc:Choice Requires="a14">
          <p:sp>
            <p:nvSpPr>
              <p:cNvPr id="4" name="מציין מיקום תוכן 3">
                <a:extLst>
                  <a:ext uri="{FF2B5EF4-FFF2-40B4-BE49-F238E27FC236}">
                    <a16:creationId xmlns:a16="http://schemas.microsoft.com/office/drawing/2014/main" id="{88D7B6F6-33B7-31B4-BEEA-AD594903EFF2}"/>
                  </a:ext>
                </a:extLst>
              </p:cNvPr>
              <p:cNvSpPr>
                <a:spLocks noGrp="1"/>
              </p:cNvSpPr>
              <p:nvPr>
                <p:ph idx="1"/>
              </p:nvPr>
            </p:nvSpPr>
            <p:spPr/>
            <p:txBody>
              <a:bodyPr/>
              <a:lstStyle/>
              <a:p>
                <a14:m>
                  <m:oMath xmlns:m="http://schemas.openxmlformats.org/officeDocument/2006/math">
                    <m:r>
                      <a:rPr lang="en-US" b="1" smtClean="0">
                        <a:latin typeface="Cambria Math" panose="02040503050406030204" pitchFamily="18" charset="0"/>
                      </a:rPr>
                      <m:t>/</m:t>
                    </m:r>
                    <m:r>
                      <a:rPr lang="en-US" b="1" i="1">
                        <a:latin typeface="Cambria Math" panose="02040503050406030204" pitchFamily="18" charset="0"/>
                      </a:rPr>
                      <m:t>𝒓𝒆𝒈𝒊𝒔𝒕𝒆𝒓</m:t>
                    </m:r>
                  </m:oMath>
                </a14:m>
                <a:r>
                  <a:rPr lang="he-IL" dirty="0"/>
                  <a:t> – רישום של משתמש חדש למערכת</a:t>
                </a:r>
              </a:p>
              <a:p>
                <a14:m>
                  <m:oMath xmlns:m="http://schemas.openxmlformats.org/officeDocument/2006/math">
                    <m:r>
                      <a:rPr lang="en-US" b="1">
                        <a:latin typeface="Cambria Math" panose="02040503050406030204" pitchFamily="18" charset="0"/>
                      </a:rPr>
                      <m:t>/</m:t>
                    </m:r>
                    <m:r>
                      <a:rPr lang="en-US" b="1" i="1">
                        <a:latin typeface="Cambria Math" panose="02040503050406030204" pitchFamily="18" charset="0"/>
                      </a:rPr>
                      <m:t>𝒍𝒐𝒈𝒊𝒏</m:t>
                    </m:r>
                  </m:oMath>
                </a14:m>
                <a:r>
                  <a:rPr lang="he-IL" dirty="0"/>
                  <a:t> – כניסת משתמש למערכת</a:t>
                </a:r>
              </a:p>
              <a:p>
                <a14:m>
                  <m:oMath xmlns:m="http://schemas.openxmlformats.org/officeDocument/2006/math">
                    <m:r>
                      <a:rPr lang="en-US" b="1">
                        <a:latin typeface="Cambria Math" panose="02040503050406030204" pitchFamily="18" charset="0"/>
                      </a:rPr>
                      <m:t>/</m:t>
                    </m:r>
                    <m:r>
                      <a:rPr lang="en-US" b="1" i="1">
                        <a:latin typeface="Cambria Math" panose="02040503050406030204" pitchFamily="18" charset="0"/>
                      </a:rPr>
                      <m:t>𝒍𝒐𝒈𝒊𝒏</m:t>
                    </m:r>
                    <m:r>
                      <a:rPr lang="en-US" b="1">
                        <a:latin typeface="Cambria Math" panose="02040503050406030204" pitchFamily="18" charset="0"/>
                      </a:rPr>
                      <m:t>_</m:t>
                    </m:r>
                    <m:r>
                      <a:rPr lang="en-US" b="1" i="1">
                        <a:latin typeface="Cambria Math" panose="02040503050406030204" pitchFamily="18" charset="0"/>
                      </a:rPr>
                      <m:t>𝒕𝒐𝒕𝒑</m:t>
                    </m:r>
                  </m:oMath>
                </a14:m>
                <a:r>
                  <a:rPr lang="he-IL" dirty="0"/>
                  <a:t> – הזנת קוד </a:t>
                </a:r>
                <a14:m>
                  <m:oMath xmlns:m="http://schemas.openxmlformats.org/officeDocument/2006/math">
                    <m:r>
                      <a:rPr lang="en-US" i="1">
                        <a:latin typeface="Cambria Math" panose="02040503050406030204" pitchFamily="18" charset="0"/>
                      </a:rPr>
                      <m:t>𝑡𝑜𝑡𝑝</m:t>
                    </m:r>
                  </m:oMath>
                </a14:m>
                <a:r>
                  <a:rPr lang="he-IL" dirty="0"/>
                  <a:t> (קוד זמני הנגזר מסוד משותף)</a:t>
                </a:r>
              </a:p>
              <a:p>
                <a14:m>
                  <m:oMath xmlns:m="http://schemas.openxmlformats.org/officeDocument/2006/math">
                    <m:r>
                      <a:rPr lang="he-IL">
                        <a:latin typeface="Cambria Math" panose="02040503050406030204" pitchFamily="18" charset="0"/>
                      </a:rPr>
                      <m:t>/</m:t>
                    </m:r>
                    <m:r>
                      <a:rPr lang="en-US" b="1" i="1">
                        <a:latin typeface="Cambria Math" panose="02040503050406030204" pitchFamily="18" charset="0"/>
                      </a:rPr>
                      <m:t>𝒂𝒅𝒎𝒊𝒏</m:t>
                    </m:r>
                    <m:r>
                      <a:rPr lang="en-US" b="1">
                        <a:latin typeface="Cambria Math" panose="02040503050406030204" pitchFamily="18" charset="0"/>
                      </a:rPr>
                      <m:t>/</m:t>
                    </m:r>
                    <m:r>
                      <a:rPr lang="en-US" b="1" i="1">
                        <a:latin typeface="Cambria Math" panose="02040503050406030204" pitchFamily="18" charset="0"/>
                      </a:rPr>
                      <m:t>𝒈𝒆𝒕</m:t>
                    </m:r>
                    <m:r>
                      <a:rPr lang="en-US" b="1">
                        <a:latin typeface="Cambria Math" panose="02040503050406030204" pitchFamily="18" charset="0"/>
                      </a:rPr>
                      <m:t>_</m:t>
                    </m:r>
                    <m:r>
                      <a:rPr lang="en-US" b="1" i="1">
                        <a:latin typeface="Cambria Math" panose="02040503050406030204" pitchFamily="18" charset="0"/>
                      </a:rPr>
                      <m:t>𝒄𝒂𝒑𝒕𝒄𝒉𝒂</m:t>
                    </m:r>
                    <m:r>
                      <a:rPr lang="en-US" b="1">
                        <a:latin typeface="Cambria Math" panose="02040503050406030204" pitchFamily="18" charset="0"/>
                      </a:rPr>
                      <m:t>_</m:t>
                    </m:r>
                    <m:r>
                      <a:rPr lang="en-US" b="1" i="1">
                        <a:latin typeface="Cambria Math" panose="02040503050406030204" pitchFamily="18" charset="0"/>
                      </a:rPr>
                      <m:t>𝒕𝒐𝒌𝒆𝒏</m:t>
                    </m:r>
                  </m:oMath>
                </a14:m>
                <a:r>
                  <a:rPr lang="he-IL" dirty="0"/>
                  <a:t> – נועדה למען בדיקות מערכת עבור הגנת ה-</a:t>
                </a:r>
                <a14:m>
                  <m:oMath xmlns:m="http://schemas.openxmlformats.org/officeDocument/2006/math">
                    <m:r>
                      <a:rPr lang="en-US" i="1">
                        <a:latin typeface="Cambria Math" panose="02040503050406030204" pitchFamily="18" charset="0"/>
                      </a:rPr>
                      <m:t>𝑐𝑎𝑝𝑡𝑐</m:t>
                    </m:r>
                    <m:r>
                      <a:rPr lang="en-US" i="1">
                        <a:latin typeface="Cambria Math" panose="02040503050406030204" pitchFamily="18" charset="0"/>
                      </a:rPr>
                      <m:t>h</m:t>
                    </m:r>
                    <m:r>
                      <a:rPr lang="en-US" i="1">
                        <a:latin typeface="Cambria Math" panose="02040503050406030204" pitchFamily="18" charset="0"/>
                      </a:rPr>
                      <m:t>𝑎</m:t>
                    </m:r>
                  </m:oMath>
                </a14:m>
                <a:endParaRPr lang="he-IL" dirty="0"/>
              </a:p>
              <a:p>
                <a14:m>
                  <m:oMath xmlns:m="http://schemas.openxmlformats.org/officeDocument/2006/math">
                    <m:r>
                      <a:rPr lang="he-IL">
                        <a:latin typeface="Cambria Math" panose="02040503050406030204" pitchFamily="18" charset="0"/>
                      </a:rPr>
                      <m:t>/</m:t>
                    </m:r>
                    <m:r>
                      <a:rPr lang="en-US" b="1" i="1">
                        <a:latin typeface="Cambria Math" panose="02040503050406030204" pitchFamily="18" charset="0"/>
                      </a:rPr>
                      <m:t>𝒄𝒂𝒑𝒕𝒄𝒉𝒂</m:t>
                    </m:r>
                    <m:r>
                      <a:rPr lang="en-US" b="1">
                        <a:latin typeface="Cambria Math" panose="02040503050406030204" pitchFamily="18" charset="0"/>
                      </a:rPr>
                      <m:t>_</m:t>
                    </m:r>
                    <m:r>
                      <a:rPr lang="en-US" b="1" i="1">
                        <a:latin typeface="Cambria Math" panose="02040503050406030204" pitchFamily="18" charset="0"/>
                      </a:rPr>
                      <m:t>𝒗𝒆𝒓𝒊𝒇𝒚</m:t>
                    </m:r>
                  </m:oMath>
                </a14:m>
                <a:r>
                  <a:rPr lang="he-IL" dirty="0"/>
                  <a:t> – נועדה בכדי לשלוח לשרת את ערך קוד </a:t>
                </a:r>
                <a14:m>
                  <m:oMath xmlns:m="http://schemas.openxmlformats.org/officeDocument/2006/math">
                    <m:r>
                      <a:rPr lang="en-US" i="1">
                        <a:latin typeface="Cambria Math" panose="02040503050406030204" pitchFamily="18" charset="0"/>
                      </a:rPr>
                      <m:t>𝑐𝑎𝑝𝑡𝑐</m:t>
                    </m:r>
                    <m:r>
                      <a:rPr lang="en-US" i="1">
                        <a:latin typeface="Cambria Math" panose="02040503050406030204" pitchFamily="18" charset="0"/>
                      </a:rPr>
                      <m:t>h</m:t>
                    </m:r>
                    <m:r>
                      <a:rPr lang="en-US" i="1">
                        <a:latin typeface="Cambria Math" panose="02040503050406030204" pitchFamily="18" charset="0"/>
                      </a:rPr>
                      <m:t>𝑎</m:t>
                    </m:r>
                  </m:oMath>
                </a14:m>
                <a:r>
                  <a:rPr lang="he-IL" dirty="0"/>
                  <a:t> שהתקבל</a:t>
                </a:r>
              </a:p>
              <a:p>
                <a:endParaRPr lang="he-IL" dirty="0"/>
              </a:p>
            </p:txBody>
          </p:sp>
        </mc:Choice>
        <mc:Fallback xmlns="">
          <p:sp>
            <p:nvSpPr>
              <p:cNvPr id="4" name="מציין מיקום תוכן 3">
                <a:extLst>
                  <a:ext uri="{FF2B5EF4-FFF2-40B4-BE49-F238E27FC236}">
                    <a16:creationId xmlns:a16="http://schemas.microsoft.com/office/drawing/2014/main" id="{88D7B6F6-33B7-31B4-BEEA-AD594903EFF2}"/>
                  </a:ext>
                </a:extLst>
              </p:cNvPr>
              <p:cNvSpPr>
                <a:spLocks noGrp="1" noRot="1" noChangeAspect="1" noMove="1" noResize="1" noEditPoints="1" noAdjustHandles="1" noChangeArrowheads="1" noChangeShapeType="1" noTextEdit="1"/>
              </p:cNvSpPr>
              <p:nvPr>
                <p:ph idx="1"/>
              </p:nvPr>
            </p:nvSpPr>
            <p:spPr>
              <a:blipFill>
                <a:blip r:embed="rId3"/>
                <a:stretch>
                  <a:fillRect t="-2801"/>
                </a:stretch>
              </a:blipFill>
            </p:spPr>
            <p:txBody>
              <a:bodyPr/>
              <a:lstStyle/>
              <a:p>
                <a:r>
                  <a:rPr lang="he-IL">
                    <a:noFill/>
                  </a:rPr>
                  <a:t> </a:t>
                </a:r>
              </a:p>
            </p:txBody>
          </p:sp>
        </mc:Fallback>
      </mc:AlternateContent>
    </p:spTree>
    <p:extLst>
      <p:ext uri="{BB962C8B-B14F-4D97-AF65-F5344CB8AC3E}">
        <p14:creationId xmlns:p14="http://schemas.microsoft.com/office/powerpoint/2010/main" val="3740010390"/>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74FFCEE-A452-C8F3-7298-1824CFD5A3A8}"/>
            </a:ext>
          </a:extLst>
        </p:cNvPr>
        <p:cNvGrpSpPr/>
        <p:nvPr/>
      </p:nvGrpSpPr>
      <p:grpSpPr>
        <a:xfrm>
          <a:off x="0" y="0"/>
          <a:ext cx="0" cy="0"/>
          <a:chOff x="0" y="0"/>
          <a:chExt cx="0" cy="0"/>
        </a:xfrm>
      </p:grpSpPr>
      <p:sp>
        <p:nvSpPr>
          <p:cNvPr id="24" name="Rectangle 15">
            <a:extLst>
              <a:ext uri="{FF2B5EF4-FFF2-40B4-BE49-F238E27FC236}">
                <a16:creationId xmlns:a16="http://schemas.microsoft.com/office/drawing/2014/main" id="{EC5F2603-9ABA-3D83-022E-B52A61084A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תמונה 10" descr="עשן אדום">
            <a:extLst>
              <a:ext uri="{FF2B5EF4-FFF2-40B4-BE49-F238E27FC236}">
                <a16:creationId xmlns:a16="http://schemas.microsoft.com/office/drawing/2014/main" id="{3C264EFB-DF41-D517-06B6-DA8D0820B18A}"/>
              </a:ext>
            </a:extLst>
          </p:cNvPr>
          <p:cNvPicPr>
            <a:picLocks noChangeAspect="1"/>
          </p:cNvPicPr>
          <p:nvPr/>
        </p:nvPicPr>
        <p:blipFill>
          <a:blip r:embed="rId2">
            <a:alphaModFix amt="90000"/>
            <a:extLst>
              <a:ext uri="{28A0092B-C50C-407E-A947-70E740481C1C}">
                <a14:useLocalDpi xmlns:a14="http://schemas.microsoft.com/office/drawing/2010/main" val="0"/>
              </a:ext>
            </a:extLst>
          </a:blip>
          <a:srcRect t="15730"/>
          <a:stretch/>
        </p:blipFill>
        <p:spPr>
          <a:xfrm>
            <a:off x="20" y="10"/>
            <a:ext cx="12191980" cy="6857990"/>
          </a:xfrm>
          <a:prstGeom prst="rect">
            <a:avLst/>
          </a:prstGeom>
        </p:spPr>
      </p:pic>
      <p:sp>
        <p:nvSpPr>
          <p:cNvPr id="7" name="כותרת 1">
            <a:extLst>
              <a:ext uri="{FF2B5EF4-FFF2-40B4-BE49-F238E27FC236}">
                <a16:creationId xmlns:a16="http://schemas.microsoft.com/office/drawing/2014/main" id="{9561CCEE-E0BF-C2FC-17DC-3B2938FD855B}"/>
              </a:ext>
            </a:extLst>
          </p:cNvPr>
          <p:cNvSpPr>
            <a:spLocks noGrp="1"/>
          </p:cNvSpPr>
          <p:nvPr>
            <p:ph type="title"/>
          </p:nvPr>
        </p:nvSpPr>
        <p:spPr>
          <a:xfrm>
            <a:off x="838200" y="365125"/>
            <a:ext cx="10515600" cy="1325563"/>
          </a:xfrm>
        </p:spPr>
        <p:txBody>
          <a:bodyPr>
            <a:normAutofit/>
          </a:bodyPr>
          <a:lstStyle/>
          <a:p>
            <a:r>
              <a:rPr lang="he-IL" sz="5400" dirty="0">
                <a:solidFill>
                  <a:srgbClr val="FFFFFF"/>
                </a:solidFill>
              </a:rPr>
              <a:t>שיטות גיבוב</a:t>
            </a:r>
            <a:endParaRPr lang="he-IL" sz="5400" dirty="0">
              <a:solidFill>
                <a:schemeClr val="bg1"/>
              </a:solidFill>
            </a:endParaRPr>
          </a:p>
        </p:txBody>
      </p:sp>
      <p:sp>
        <p:nvSpPr>
          <p:cNvPr id="10" name="מציין מיקום תוכן 3">
            <a:extLst>
              <a:ext uri="{FF2B5EF4-FFF2-40B4-BE49-F238E27FC236}">
                <a16:creationId xmlns:a16="http://schemas.microsoft.com/office/drawing/2014/main" id="{1457B9F5-75D2-C601-FF37-955F27CC079F}"/>
              </a:ext>
            </a:extLst>
          </p:cNvPr>
          <p:cNvSpPr txBox="1">
            <a:spLocks/>
          </p:cNvSpPr>
          <p:nvPr/>
        </p:nvSpPr>
        <p:spPr>
          <a:xfrm>
            <a:off x="805542" y="1811958"/>
            <a:ext cx="10515600" cy="4351338"/>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he-IL" sz="2800" b="0" i="0" u="none" strike="noStrike" kern="1200" cap="none" spc="0" normalizeH="0" baseline="0" noProof="0" dirty="0">
              <a:ln>
                <a:noFill/>
              </a:ln>
              <a:solidFill>
                <a:prstClr val="white"/>
              </a:solidFill>
              <a:effectLst/>
              <a:uLnTx/>
              <a:uFillTx/>
              <a:latin typeface="Aptos" panose="02110004020202020204"/>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BCB8B3E9-3A09-FE2A-6147-08B78ECEE8C9}"/>
                  </a:ext>
                </a:extLst>
              </p:cNvPr>
              <p:cNvSpPr>
                <a:spLocks noGrp="1"/>
              </p:cNvSpPr>
              <p:nvPr>
                <p:ph idx="1"/>
              </p:nvPr>
            </p:nvSpPr>
            <p:spPr/>
            <p:txBody>
              <a:bodyPr/>
              <a:lstStyle/>
              <a:p>
                <a14:m>
                  <m:oMath xmlns:m="http://schemas.openxmlformats.org/officeDocument/2006/math">
                    <m:r>
                      <a:rPr lang="en-US" i="1">
                        <a:latin typeface="Cambria Math" panose="02040503050406030204" pitchFamily="18" charset="0"/>
                      </a:rPr>
                      <m:t>𝑠</m:t>
                    </m:r>
                    <m:r>
                      <a:rPr lang="en-US" i="1">
                        <a:latin typeface="Cambria Math" panose="02040503050406030204" pitchFamily="18" charset="0"/>
                      </a:rPr>
                      <m:t>h</m:t>
                    </m:r>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256</m:t>
                    </m:r>
                  </m:oMath>
                </a14:m>
                <a:r>
                  <a:rPr lang="en-US" dirty="0"/>
                  <a:t> </a:t>
                </a:r>
                <a:r>
                  <a:rPr lang="he-IL" dirty="0"/>
                  <a:t> - מהירה מאוד</a:t>
                </a:r>
              </a:p>
              <a:p>
                <a:r>
                  <a:rPr lang="en-US" dirty="0"/>
                  <a:t>- </a:t>
                </a:r>
                <a14:m>
                  <m:oMath xmlns:m="http://schemas.openxmlformats.org/officeDocument/2006/math">
                    <m:r>
                      <a:rPr lang="en-US" i="1">
                        <a:latin typeface="Cambria Math" panose="02040503050406030204" pitchFamily="18" charset="0"/>
                      </a:rPr>
                      <m:t>𝑏𝑐𝑟𝑦𝑝𝑡</m:t>
                    </m:r>
                  </m:oMath>
                </a14:m>
                <a:r>
                  <a:rPr lang="he-IL" dirty="0"/>
                  <a:t> איטית מאוד, נחשבת חסינה במידה רבה לסוגי מתקפות שונות</a:t>
                </a:r>
              </a:p>
              <a:p>
                <a14:m>
                  <m:oMath xmlns:m="http://schemas.openxmlformats.org/officeDocument/2006/math">
                    <m:r>
                      <a:rPr lang="en-US" b="0" i="1">
                        <a:latin typeface="Cambria Math" panose="02040503050406030204" pitchFamily="18" charset="0"/>
                      </a:rPr>
                      <m:t>𝑎𝑟𝑔𝑜𝑛</m:t>
                    </m:r>
                    <m:r>
                      <a:rPr lang="en-US" b="0" i="1">
                        <a:latin typeface="Cambria Math" panose="02040503050406030204" pitchFamily="18" charset="0"/>
                      </a:rPr>
                      <m:t>2</m:t>
                    </m:r>
                    <m:r>
                      <a:rPr lang="en-US" b="0" i="1">
                        <a:latin typeface="Cambria Math" panose="02040503050406030204" pitchFamily="18" charset="0"/>
                      </a:rPr>
                      <m:t>𝑖𝑑</m:t>
                    </m:r>
                  </m:oMath>
                </a14:m>
                <a:r>
                  <a:rPr lang="he-IL" dirty="0"/>
                  <a:t> - נחשבת לחזקה ביותר מבין הפונקציות שלעיל, היא מודרנית ומומלצת לאחסון סיסמאות</a:t>
                </a:r>
              </a:p>
            </p:txBody>
          </p:sp>
        </mc:Choice>
        <mc:Fallback xmlns="">
          <p:sp>
            <p:nvSpPr>
              <p:cNvPr id="3" name="מציין מיקום תוכן 2">
                <a:extLst>
                  <a:ext uri="{FF2B5EF4-FFF2-40B4-BE49-F238E27FC236}">
                    <a16:creationId xmlns:a16="http://schemas.microsoft.com/office/drawing/2014/main" id="{BCB8B3E9-3A09-FE2A-6147-08B78ECEE8C9}"/>
                  </a:ext>
                </a:extLst>
              </p:cNvPr>
              <p:cNvSpPr>
                <a:spLocks noGrp="1" noRot="1" noChangeAspect="1" noMove="1" noResize="1" noEditPoints="1" noAdjustHandles="1" noChangeArrowheads="1" noChangeShapeType="1" noTextEdit="1"/>
              </p:cNvSpPr>
              <p:nvPr>
                <p:ph idx="1"/>
              </p:nvPr>
            </p:nvSpPr>
            <p:spPr>
              <a:blipFill>
                <a:blip r:embed="rId3"/>
                <a:stretch>
                  <a:fillRect t="-2801" r="-1043"/>
                </a:stretch>
              </a:blipFill>
            </p:spPr>
            <p:txBody>
              <a:bodyPr/>
              <a:lstStyle/>
              <a:p>
                <a:r>
                  <a:rPr lang="he-IL">
                    <a:noFill/>
                  </a:rPr>
                  <a:t> </a:t>
                </a:r>
              </a:p>
            </p:txBody>
          </p:sp>
        </mc:Fallback>
      </mc:AlternateContent>
    </p:spTree>
    <p:extLst>
      <p:ext uri="{BB962C8B-B14F-4D97-AF65-F5344CB8AC3E}">
        <p14:creationId xmlns:p14="http://schemas.microsoft.com/office/powerpoint/2010/main" val="1130194074"/>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17F9D6-5AC4-BADD-CD03-C2BEC458A98B}"/>
            </a:ext>
          </a:extLst>
        </p:cNvPr>
        <p:cNvGrpSpPr/>
        <p:nvPr/>
      </p:nvGrpSpPr>
      <p:grpSpPr>
        <a:xfrm>
          <a:off x="0" y="0"/>
          <a:ext cx="0" cy="0"/>
          <a:chOff x="0" y="0"/>
          <a:chExt cx="0" cy="0"/>
        </a:xfrm>
      </p:grpSpPr>
      <p:sp>
        <p:nvSpPr>
          <p:cNvPr id="24" name="Rectangle 15">
            <a:extLst>
              <a:ext uri="{FF2B5EF4-FFF2-40B4-BE49-F238E27FC236}">
                <a16:creationId xmlns:a16="http://schemas.microsoft.com/office/drawing/2014/main" id="{6B6405C5-1248-02CE-5843-CF1E17CE05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תמונה 10" descr="עשן אדום">
            <a:extLst>
              <a:ext uri="{FF2B5EF4-FFF2-40B4-BE49-F238E27FC236}">
                <a16:creationId xmlns:a16="http://schemas.microsoft.com/office/drawing/2014/main" id="{08A5487A-45E8-1424-710D-8CFFF5E13167}"/>
              </a:ext>
            </a:extLst>
          </p:cNvPr>
          <p:cNvPicPr>
            <a:picLocks noChangeAspect="1"/>
          </p:cNvPicPr>
          <p:nvPr/>
        </p:nvPicPr>
        <p:blipFill>
          <a:blip r:embed="rId2">
            <a:alphaModFix amt="90000"/>
            <a:extLst>
              <a:ext uri="{28A0092B-C50C-407E-A947-70E740481C1C}">
                <a14:useLocalDpi xmlns:a14="http://schemas.microsoft.com/office/drawing/2010/main" val="0"/>
              </a:ext>
            </a:extLst>
          </a:blip>
          <a:srcRect t="15730"/>
          <a:stretch/>
        </p:blipFill>
        <p:spPr>
          <a:xfrm>
            <a:off x="20" y="10"/>
            <a:ext cx="12191980" cy="6857990"/>
          </a:xfrm>
          <a:prstGeom prst="rect">
            <a:avLst/>
          </a:prstGeom>
        </p:spPr>
      </p:pic>
      <p:sp>
        <p:nvSpPr>
          <p:cNvPr id="7" name="כותרת 1">
            <a:extLst>
              <a:ext uri="{FF2B5EF4-FFF2-40B4-BE49-F238E27FC236}">
                <a16:creationId xmlns:a16="http://schemas.microsoft.com/office/drawing/2014/main" id="{BBC05F3A-468D-03F4-2BAE-0610B2D8C50A}"/>
              </a:ext>
            </a:extLst>
          </p:cNvPr>
          <p:cNvSpPr>
            <a:spLocks noGrp="1"/>
          </p:cNvSpPr>
          <p:nvPr>
            <p:ph type="title"/>
          </p:nvPr>
        </p:nvSpPr>
        <p:spPr>
          <a:xfrm>
            <a:off x="838200" y="365125"/>
            <a:ext cx="10515600" cy="1325563"/>
          </a:xfrm>
        </p:spPr>
        <p:txBody>
          <a:bodyPr>
            <a:normAutofit/>
          </a:bodyPr>
          <a:lstStyle/>
          <a:p>
            <a:r>
              <a:rPr lang="he-IL" sz="5400" dirty="0">
                <a:solidFill>
                  <a:srgbClr val="FFFFFF"/>
                </a:solidFill>
              </a:rPr>
              <a:t>הגנות</a:t>
            </a:r>
            <a:endParaRPr lang="he-IL" sz="5400" dirty="0">
              <a:solidFill>
                <a:schemeClr val="bg1"/>
              </a:solidFill>
            </a:endParaRPr>
          </a:p>
        </p:txBody>
      </p:sp>
      <p:sp>
        <p:nvSpPr>
          <p:cNvPr id="10" name="מציין מיקום תוכן 3">
            <a:extLst>
              <a:ext uri="{FF2B5EF4-FFF2-40B4-BE49-F238E27FC236}">
                <a16:creationId xmlns:a16="http://schemas.microsoft.com/office/drawing/2014/main" id="{15292586-2483-04EA-CCE3-3D613A4DA662}"/>
              </a:ext>
            </a:extLst>
          </p:cNvPr>
          <p:cNvSpPr txBox="1">
            <a:spLocks/>
          </p:cNvSpPr>
          <p:nvPr/>
        </p:nvSpPr>
        <p:spPr>
          <a:xfrm>
            <a:off x="805542" y="1811958"/>
            <a:ext cx="10515600" cy="4351338"/>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he-IL" sz="2800" b="0" i="0" u="none" strike="noStrike" kern="1200" cap="none" spc="0" normalizeH="0" baseline="0" noProof="0" dirty="0">
              <a:ln>
                <a:noFill/>
              </a:ln>
              <a:solidFill>
                <a:prstClr val="white"/>
              </a:solidFill>
              <a:effectLst/>
              <a:uLnTx/>
              <a:uFillTx/>
              <a:latin typeface="Aptos" panose="02110004020202020204"/>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DF4A0557-848F-9D6C-E52F-2EDB0BEAFF29}"/>
                  </a:ext>
                </a:extLst>
              </p:cNvPr>
              <p:cNvSpPr>
                <a:spLocks noGrp="1"/>
              </p:cNvSpPr>
              <p:nvPr>
                <p:ph idx="1"/>
              </p:nvPr>
            </p:nvSpPr>
            <p:spPr/>
            <p:txBody>
              <a:bodyPr/>
              <a:lstStyle/>
              <a:p>
                <a:r>
                  <a:rPr lang="he-IL" dirty="0"/>
                  <a:t>שימוש ב-</a:t>
                </a:r>
                <a14:m>
                  <m:oMath xmlns:m="http://schemas.openxmlformats.org/officeDocument/2006/math">
                    <m:r>
                      <a:rPr lang="en-US" b="0" i="1">
                        <a:latin typeface="Cambria Math" panose="02040503050406030204" pitchFamily="18" charset="0"/>
                      </a:rPr>
                      <m:t>𝑝𝑒𝑝𝑝𝑒𝑟</m:t>
                    </m:r>
                  </m:oMath>
                </a14:m>
                <a:r>
                  <a:rPr lang="he-IL" dirty="0"/>
                  <a:t> - בדומה ל-</a:t>
                </a:r>
                <a14:m>
                  <m:oMath xmlns:m="http://schemas.openxmlformats.org/officeDocument/2006/math">
                    <m:r>
                      <a:rPr lang="en-US" i="1">
                        <a:latin typeface="Cambria Math" panose="02040503050406030204" pitchFamily="18" charset="0"/>
                      </a:rPr>
                      <m:t>𝑠𝑎𝑙𝑡</m:t>
                    </m:r>
                  </m:oMath>
                </a14:m>
                <a:r>
                  <a:rPr lang="he-IL" dirty="0"/>
                  <a:t> מתווסף לסיסמה לפני הגיבוב, אך בשונה מזאת הוא אינו נשמר במסד הנתונים, הוא אינו ייחודי, גלובאלי וסודי לכל משתמש ובמערכת זו הוא מתקבל כמשתנה סביבה</a:t>
                </a:r>
              </a:p>
              <a:p>
                <a:r>
                  <a:rPr lang="he-IL" dirty="0"/>
                  <a:t>הגנת </a:t>
                </a:r>
                <a14:m>
                  <m:oMath xmlns:m="http://schemas.openxmlformats.org/officeDocument/2006/math">
                    <m:r>
                      <a:rPr lang="en-US" b="0" i="1">
                        <a:latin typeface="Cambria Math" panose="02040503050406030204" pitchFamily="18" charset="0"/>
                      </a:rPr>
                      <m:t>𝑟𝑎𝑡𝑒</m:t>
                    </m:r>
                    <m:r>
                      <a:rPr lang="en-US" b="0" i="1">
                        <a:latin typeface="Cambria Math" panose="02040503050406030204" pitchFamily="18" charset="0"/>
                      </a:rPr>
                      <m:t>−</m:t>
                    </m:r>
                    <m:r>
                      <a:rPr lang="en-US" b="0" i="1">
                        <a:latin typeface="Cambria Math" panose="02040503050406030204" pitchFamily="18" charset="0"/>
                      </a:rPr>
                      <m:t>𝑙𝑖𝑚𝑖𝑡</m:t>
                    </m:r>
                  </m:oMath>
                </a14:m>
                <a:r>
                  <a:rPr lang="he-IL" dirty="0"/>
                  <a:t> – חסימת כתובת ה-</a:t>
                </a:r>
                <a14:m>
                  <m:oMath xmlns:m="http://schemas.openxmlformats.org/officeDocument/2006/math">
                    <m:r>
                      <a:rPr lang="en-US" i="1">
                        <a:latin typeface="Cambria Math" panose="02040503050406030204" pitchFamily="18" charset="0"/>
                      </a:rPr>
                      <m:t>𝐼𝑃</m:t>
                    </m:r>
                  </m:oMath>
                </a14:m>
                <a:endParaRPr lang="he-IL" dirty="0"/>
              </a:p>
              <a:p>
                <a:r>
                  <a:rPr lang="he-IL" dirty="0"/>
                  <a:t>הגנת </a:t>
                </a:r>
                <a14:m>
                  <m:oMath xmlns:m="http://schemas.openxmlformats.org/officeDocument/2006/math">
                    <m:r>
                      <a:rPr lang="en-US" b="0" i="1">
                        <a:latin typeface="Cambria Math" panose="02040503050406030204" pitchFamily="18" charset="0"/>
                      </a:rPr>
                      <m:t>𝑙𝑜𝑐𝑘𝑜𝑢𝑡</m:t>
                    </m:r>
                  </m:oMath>
                </a14:m>
                <a:r>
                  <a:rPr lang="he-IL" dirty="0"/>
                  <a:t> – חסימת משתמש</a:t>
                </a:r>
              </a:p>
              <a:p>
                <a:r>
                  <a:rPr lang="he-IL" dirty="0"/>
                  <a:t>הגנת </a:t>
                </a:r>
                <a14:m>
                  <m:oMath xmlns:m="http://schemas.openxmlformats.org/officeDocument/2006/math">
                    <m:r>
                      <a:rPr lang="en-US" i="1">
                        <a:latin typeface="Cambria Math" panose="02040503050406030204" pitchFamily="18" charset="0"/>
                      </a:rPr>
                      <m:t>𝑐𝑎𝑝𝑡𝑐</m:t>
                    </m:r>
                    <m:r>
                      <a:rPr lang="en-US" i="1">
                        <a:latin typeface="Cambria Math" panose="02040503050406030204" pitchFamily="18" charset="0"/>
                      </a:rPr>
                      <m:t>h</m:t>
                    </m:r>
                    <m:r>
                      <a:rPr lang="en-US" i="1">
                        <a:latin typeface="Cambria Math" panose="02040503050406030204" pitchFamily="18" charset="0"/>
                      </a:rPr>
                      <m:t>𝑎</m:t>
                    </m:r>
                  </m:oMath>
                </a14:m>
                <a:r>
                  <a:rPr lang="he-IL" dirty="0"/>
                  <a:t> – קוד אימות זמני</a:t>
                </a:r>
              </a:p>
              <a:p>
                <a:r>
                  <a:rPr lang="he-IL" dirty="0"/>
                  <a:t>הגנת </a:t>
                </a:r>
                <a14:m>
                  <m:oMath xmlns:m="http://schemas.openxmlformats.org/officeDocument/2006/math">
                    <m:r>
                      <a:rPr lang="en-US" i="1">
                        <a:latin typeface="Cambria Math" panose="02040503050406030204" pitchFamily="18" charset="0"/>
                      </a:rPr>
                      <m:t>𝑡𝑜𝑡𝑝</m:t>
                    </m:r>
                  </m:oMath>
                </a14:m>
                <a:r>
                  <a:rPr lang="he-IL" dirty="0"/>
                  <a:t> – קוד אימות זמני הנגזר מסוג משותף</a:t>
                </a:r>
              </a:p>
            </p:txBody>
          </p:sp>
        </mc:Choice>
        <mc:Fallback xmlns="">
          <p:sp>
            <p:nvSpPr>
              <p:cNvPr id="3" name="מציין מיקום תוכן 2">
                <a:extLst>
                  <a:ext uri="{FF2B5EF4-FFF2-40B4-BE49-F238E27FC236}">
                    <a16:creationId xmlns:a16="http://schemas.microsoft.com/office/drawing/2014/main" id="{DF4A0557-848F-9D6C-E52F-2EDB0BEAFF29}"/>
                  </a:ext>
                </a:extLst>
              </p:cNvPr>
              <p:cNvSpPr>
                <a:spLocks noGrp="1" noRot="1" noChangeAspect="1" noMove="1" noResize="1" noEditPoints="1" noAdjustHandles="1" noChangeArrowheads="1" noChangeShapeType="1" noTextEdit="1"/>
              </p:cNvSpPr>
              <p:nvPr>
                <p:ph idx="1"/>
              </p:nvPr>
            </p:nvSpPr>
            <p:spPr>
              <a:blipFill>
                <a:blip r:embed="rId3"/>
                <a:stretch>
                  <a:fillRect l="-1217" t="-2381" r="-1043"/>
                </a:stretch>
              </a:blipFill>
            </p:spPr>
            <p:txBody>
              <a:bodyPr/>
              <a:lstStyle/>
              <a:p>
                <a:r>
                  <a:rPr lang="he-IL">
                    <a:noFill/>
                  </a:rPr>
                  <a:t> </a:t>
                </a:r>
              </a:p>
            </p:txBody>
          </p:sp>
        </mc:Fallback>
      </mc:AlternateContent>
    </p:spTree>
    <p:extLst>
      <p:ext uri="{BB962C8B-B14F-4D97-AF65-F5344CB8AC3E}">
        <p14:creationId xmlns:p14="http://schemas.microsoft.com/office/powerpoint/2010/main" val="3638637626"/>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81819F-FE31-5777-031C-132BF7F789DC}"/>
            </a:ext>
          </a:extLst>
        </p:cNvPr>
        <p:cNvGrpSpPr/>
        <p:nvPr/>
      </p:nvGrpSpPr>
      <p:grpSpPr>
        <a:xfrm>
          <a:off x="0" y="0"/>
          <a:ext cx="0" cy="0"/>
          <a:chOff x="0" y="0"/>
          <a:chExt cx="0" cy="0"/>
        </a:xfrm>
      </p:grpSpPr>
      <p:sp>
        <p:nvSpPr>
          <p:cNvPr id="24" name="Rectangle 15">
            <a:extLst>
              <a:ext uri="{FF2B5EF4-FFF2-40B4-BE49-F238E27FC236}">
                <a16:creationId xmlns:a16="http://schemas.microsoft.com/office/drawing/2014/main" id="{F4082DAE-DA57-0F7C-B42E-62BAD307C0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תמונה 10" descr="עשן אדום">
            <a:extLst>
              <a:ext uri="{FF2B5EF4-FFF2-40B4-BE49-F238E27FC236}">
                <a16:creationId xmlns:a16="http://schemas.microsoft.com/office/drawing/2014/main" id="{5DB85D38-0426-9DFC-E692-47EDAFB42E77}"/>
              </a:ext>
            </a:extLst>
          </p:cNvPr>
          <p:cNvPicPr>
            <a:picLocks noChangeAspect="1"/>
          </p:cNvPicPr>
          <p:nvPr/>
        </p:nvPicPr>
        <p:blipFill>
          <a:blip r:embed="rId2">
            <a:alphaModFix amt="90000"/>
            <a:extLst>
              <a:ext uri="{28A0092B-C50C-407E-A947-70E740481C1C}">
                <a14:useLocalDpi xmlns:a14="http://schemas.microsoft.com/office/drawing/2010/main" val="0"/>
              </a:ext>
            </a:extLst>
          </a:blip>
          <a:srcRect t="15730"/>
          <a:stretch/>
        </p:blipFill>
        <p:spPr>
          <a:xfrm>
            <a:off x="20" y="10"/>
            <a:ext cx="12191980" cy="6857990"/>
          </a:xfrm>
          <a:prstGeom prst="rect">
            <a:avLst/>
          </a:prstGeom>
        </p:spPr>
      </p:pic>
      <p:sp>
        <p:nvSpPr>
          <p:cNvPr id="7" name="כותרת 1">
            <a:extLst>
              <a:ext uri="{FF2B5EF4-FFF2-40B4-BE49-F238E27FC236}">
                <a16:creationId xmlns:a16="http://schemas.microsoft.com/office/drawing/2014/main" id="{D090550B-591E-5B54-180D-1EA0A00007EF}"/>
              </a:ext>
            </a:extLst>
          </p:cNvPr>
          <p:cNvSpPr>
            <a:spLocks noGrp="1"/>
          </p:cNvSpPr>
          <p:nvPr>
            <p:ph type="title"/>
          </p:nvPr>
        </p:nvSpPr>
        <p:spPr>
          <a:xfrm>
            <a:off x="838200" y="365125"/>
            <a:ext cx="10515600" cy="1325563"/>
          </a:xfrm>
        </p:spPr>
        <p:txBody>
          <a:bodyPr>
            <a:normAutofit/>
          </a:bodyPr>
          <a:lstStyle/>
          <a:p>
            <a:r>
              <a:rPr lang="he-IL" sz="5400" dirty="0">
                <a:solidFill>
                  <a:srgbClr val="FFFFFF"/>
                </a:solidFill>
              </a:rPr>
              <a:t>קבצי השרת</a:t>
            </a:r>
            <a:endParaRPr lang="he-IL" sz="5400" dirty="0">
              <a:solidFill>
                <a:schemeClr val="bg1"/>
              </a:solidFill>
            </a:endParaRPr>
          </a:p>
        </p:txBody>
      </p:sp>
      <p:sp>
        <p:nvSpPr>
          <p:cNvPr id="10" name="מציין מיקום תוכן 3">
            <a:extLst>
              <a:ext uri="{FF2B5EF4-FFF2-40B4-BE49-F238E27FC236}">
                <a16:creationId xmlns:a16="http://schemas.microsoft.com/office/drawing/2014/main" id="{C6CC71ED-1C02-0D14-33CA-B70861003693}"/>
              </a:ext>
            </a:extLst>
          </p:cNvPr>
          <p:cNvSpPr txBox="1">
            <a:spLocks/>
          </p:cNvSpPr>
          <p:nvPr/>
        </p:nvSpPr>
        <p:spPr>
          <a:xfrm>
            <a:off x="805542" y="1811958"/>
            <a:ext cx="10515600" cy="4351338"/>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he-IL" sz="2800" b="0" i="0" u="none" strike="noStrike" kern="1200" cap="none" spc="0" normalizeH="0" baseline="0" noProof="0" dirty="0">
              <a:ln>
                <a:noFill/>
              </a:ln>
              <a:solidFill>
                <a:prstClr val="white"/>
              </a:solidFill>
              <a:effectLst/>
              <a:uLnTx/>
              <a:uFillTx/>
              <a:latin typeface="Aptos" panose="02110004020202020204"/>
              <a:ea typeface="+mn-ea"/>
              <a:cs typeface="Arial" panose="020B0604020202020204" pitchFamily="34" charset="0"/>
            </a:endParaRPr>
          </a:p>
        </p:txBody>
      </p:sp>
      <p:sp>
        <p:nvSpPr>
          <p:cNvPr id="3" name="מציין מיקום תוכן 2">
            <a:extLst>
              <a:ext uri="{FF2B5EF4-FFF2-40B4-BE49-F238E27FC236}">
                <a16:creationId xmlns:a16="http://schemas.microsoft.com/office/drawing/2014/main" id="{B7070EE6-0C59-113D-1B50-4FD7FA91A28F}"/>
              </a:ext>
            </a:extLst>
          </p:cNvPr>
          <p:cNvSpPr>
            <a:spLocks noGrp="1"/>
          </p:cNvSpPr>
          <p:nvPr>
            <p:ph idx="1"/>
          </p:nvPr>
        </p:nvSpPr>
        <p:spPr/>
        <p:txBody>
          <a:bodyPr/>
          <a:lstStyle/>
          <a:p>
            <a:r>
              <a:rPr lang="es-ES" dirty="0"/>
              <a:t>users.json </a:t>
            </a:r>
            <a:r>
              <a:rPr lang="he-IL" dirty="0"/>
              <a:t> - מכיל את כל המשתמשים שנוצרו במערכת</a:t>
            </a:r>
          </a:p>
          <a:p>
            <a:r>
              <a:rPr lang="en-US" dirty="0"/>
              <a:t>register.log</a:t>
            </a:r>
            <a:r>
              <a:rPr lang="he-IL" dirty="0"/>
              <a:t> – מכיל כל רשימת משתמש במערכת</a:t>
            </a:r>
          </a:p>
          <a:p>
            <a:r>
              <a:rPr lang="en-US" dirty="0"/>
              <a:t>attempts.log</a:t>
            </a:r>
            <a:r>
              <a:rPr lang="he-IL" dirty="0"/>
              <a:t> – מכיל כל ניסיון כניסה למערכת</a:t>
            </a:r>
          </a:p>
          <a:p>
            <a:r>
              <a:rPr lang="en-US" dirty="0"/>
              <a:t>database.db</a:t>
            </a:r>
            <a:r>
              <a:rPr lang="he-IL" dirty="0"/>
              <a:t> – מאחסן לכל משתמש את שם המשתמש והסיסמה המגובבת שלו</a:t>
            </a:r>
          </a:p>
        </p:txBody>
      </p:sp>
    </p:spTree>
    <p:extLst>
      <p:ext uri="{BB962C8B-B14F-4D97-AF65-F5344CB8AC3E}">
        <p14:creationId xmlns:p14="http://schemas.microsoft.com/office/powerpoint/2010/main" val="2591848985"/>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6EC941-2D78-9CE8-7249-F0DF16A2B1B6}"/>
            </a:ext>
          </a:extLst>
        </p:cNvPr>
        <p:cNvGrpSpPr/>
        <p:nvPr/>
      </p:nvGrpSpPr>
      <p:grpSpPr>
        <a:xfrm>
          <a:off x="0" y="0"/>
          <a:ext cx="0" cy="0"/>
          <a:chOff x="0" y="0"/>
          <a:chExt cx="0" cy="0"/>
        </a:xfrm>
      </p:grpSpPr>
      <p:sp>
        <p:nvSpPr>
          <p:cNvPr id="24" name="Rectangle 15">
            <a:extLst>
              <a:ext uri="{FF2B5EF4-FFF2-40B4-BE49-F238E27FC236}">
                <a16:creationId xmlns:a16="http://schemas.microsoft.com/office/drawing/2014/main" id="{0CDCB635-FA5B-4C34-CC88-7D766EA689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תמונה 10" descr="עשן אדום">
            <a:extLst>
              <a:ext uri="{FF2B5EF4-FFF2-40B4-BE49-F238E27FC236}">
                <a16:creationId xmlns:a16="http://schemas.microsoft.com/office/drawing/2014/main" id="{FD1537CC-54E0-BBD4-CC42-B55E97378E70}"/>
              </a:ext>
            </a:extLst>
          </p:cNvPr>
          <p:cNvPicPr>
            <a:picLocks noChangeAspect="1"/>
          </p:cNvPicPr>
          <p:nvPr/>
        </p:nvPicPr>
        <p:blipFill>
          <a:blip r:embed="rId2">
            <a:alphaModFix amt="90000"/>
            <a:extLst>
              <a:ext uri="{28A0092B-C50C-407E-A947-70E740481C1C}">
                <a14:useLocalDpi xmlns:a14="http://schemas.microsoft.com/office/drawing/2010/main" val="0"/>
              </a:ext>
            </a:extLst>
          </a:blip>
          <a:srcRect t="15730"/>
          <a:stretch/>
        </p:blipFill>
        <p:spPr>
          <a:xfrm>
            <a:off x="20" y="10"/>
            <a:ext cx="12191980" cy="6857990"/>
          </a:xfrm>
          <a:prstGeom prst="rect">
            <a:avLst/>
          </a:prstGeom>
        </p:spPr>
      </p:pic>
      <p:sp>
        <p:nvSpPr>
          <p:cNvPr id="7" name="כותרת 1">
            <a:extLst>
              <a:ext uri="{FF2B5EF4-FFF2-40B4-BE49-F238E27FC236}">
                <a16:creationId xmlns:a16="http://schemas.microsoft.com/office/drawing/2014/main" id="{B757B768-4FE4-20E4-AE93-8101916EEB8F}"/>
              </a:ext>
            </a:extLst>
          </p:cNvPr>
          <p:cNvSpPr>
            <a:spLocks noGrp="1"/>
          </p:cNvSpPr>
          <p:nvPr>
            <p:ph type="title"/>
          </p:nvPr>
        </p:nvSpPr>
        <p:spPr>
          <a:xfrm>
            <a:off x="838200" y="365125"/>
            <a:ext cx="10515600" cy="1325563"/>
          </a:xfrm>
        </p:spPr>
        <p:txBody>
          <a:bodyPr>
            <a:normAutofit/>
          </a:bodyPr>
          <a:lstStyle/>
          <a:p>
            <a:r>
              <a:rPr lang="he-IL" sz="5400" dirty="0">
                <a:solidFill>
                  <a:srgbClr val="FFFFFF"/>
                </a:solidFill>
              </a:rPr>
              <a:t>הדגמת המערכת</a:t>
            </a:r>
            <a:endParaRPr lang="he-IL" sz="5400" dirty="0">
              <a:solidFill>
                <a:schemeClr val="bg1"/>
              </a:solidFill>
            </a:endParaRPr>
          </a:p>
        </p:txBody>
      </p:sp>
      <p:sp>
        <p:nvSpPr>
          <p:cNvPr id="10" name="מציין מיקום תוכן 3">
            <a:extLst>
              <a:ext uri="{FF2B5EF4-FFF2-40B4-BE49-F238E27FC236}">
                <a16:creationId xmlns:a16="http://schemas.microsoft.com/office/drawing/2014/main" id="{B3EE5477-7B01-0742-6B04-08DAD91C9C44}"/>
              </a:ext>
            </a:extLst>
          </p:cNvPr>
          <p:cNvSpPr txBox="1">
            <a:spLocks/>
          </p:cNvSpPr>
          <p:nvPr/>
        </p:nvSpPr>
        <p:spPr>
          <a:xfrm>
            <a:off x="805542" y="1811958"/>
            <a:ext cx="10515600" cy="4351338"/>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he-IL" sz="2800" b="0" i="0" u="none" strike="noStrike" kern="1200" cap="none" spc="0" normalizeH="0" baseline="0" noProof="0" dirty="0">
              <a:ln>
                <a:noFill/>
              </a:ln>
              <a:solidFill>
                <a:prstClr val="white"/>
              </a:solidFill>
              <a:effectLst/>
              <a:uLnTx/>
              <a:uFillTx/>
              <a:latin typeface="Aptos" panose="02110004020202020204"/>
              <a:ea typeface="+mn-ea"/>
              <a:cs typeface="Arial" panose="020B0604020202020204" pitchFamily="34" charset="0"/>
            </a:endParaRPr>
          </a:p>
        </p:txBody>
      </p:sp>
      <p:pic>
        <p:nvPicPr>
          <p:cNvPr id="4" name="מציין מיקום תוכן 3">
            <a:extLst>
              <a:ext uri="{FF2B5EF4-FFF2-40B4-BE49-F238E27FC236}">
                <a16:creationId xmlns:a16="http://schemas.microsoft.com/office/drawing/2014/main" id="{17D12D4C-43A4-1C6B-029A-FDEE58F96067}"/>
              </a:ext>
            </a:extLst>
          </p:cNvPr>
          <p:cNvPicPr>
            <a:picLocks noGrp="1" noChangeAspect="1"/>
          </p:cNvPicPr>
          <p:nvPr>
            <p:ph idx="1"/>
          </p:nvPr>
        </p:nvPicPr>
        <p:blipFill>
          <a:blip r:embed="rId3"/>
          <a:stretch>
            <a:fillRect/>
          </a:stretch>
        </p:blipFill>
        <p:spPr>
          <a:xfrm>
            <a:off x="766978" y="1803478"/>
            <a:ext cx="10800000" cy="881632"/>
          </a:xfrm>
          <a:prstGeom prst="rect">
            <a:avLst/>
          </a:prstGeom>
        </p:spPr>
      </p:pic>
      <p:pic>
        <p:nvPicPr>
          <p:cNvPr id="6" name="תמונה 5">
            <a:extLst>
              <a:ext uri="{FF2B5EF4-FFF2-40B4-BE49-F238E27FC236}">
                <a16:creationId xmlns:a16="http://schemas.microsoft.com/office/drawing/2014/main" id="{D924B069-E901-E453-B3C5-8AD36FBAEC20}"/>
              </a:ext>
            </a:extLst>
          </p:cNvPr>
          <p:cNvPicPr>
            <a:picLocks noChangeAspect="1"/>
          </p:cNvPicPr>
          <p:nvPr/>
        </p:nvPicPr>
        <p:blipFill>
          <a:blip r:embed="rId4"/>
          <a:stretch>
            <a:fillRect/>
          </a:stretch>
        </p:blipFill>
        <p:spPr>
          <a:xfrm>
            <a:off x="766978" y="2956080"/>
            <a:ext cx="10800000" cy="842159"/>
          </a:xfrm>
          <a:prstGeom prst="rect">
            <a:avLst/>
          </a:prstGeom>
        </p:spPr>
      </p:pic>
      <p:pic>
        <p:nvPicPr>
          <p:cNvPr id="9" name="תמונה 8">
            <a:extLst>
              <a:ext uri="{FF2B5EF4-FFF2-40B4-BE49-F238E27FC236}">
                <a16:creationId xmlns:a16="http://schemas.microsoft.com/office/drawing/2014/main" id="{0B55194D-7C56-2835-3556-6F378B027B07}"/>
              </a:ext>
            </a:extLst>
          </p:cNvPr>
          <p:cNvPicPr>
            <a:picLocks noChangeAspect="1"/>
          </p:cNvPicPr>
          <p:nvPr/>
        </p:nvPicPr>
        <p:blipFill>
          <a:blip r:embed="rId5"/>
          <a:stretch>
            <a:fillRect/>
          </a:stretch>
        </p:blipFill>
        <p:spPr>
          <a:xfrm>
            <a:off x="766978" y="4283772"/>
            <a:ext cx="10800000" cy="864364"/>
          </a:xfrm>
          <a:prstGeom prst="rect">
            <a:avLst/>
          </a:prstGeom>
        </p:spPr>
      </p:pic>
    </p:spTree>
    <p:extLst>
      <p:ext uri="{BB962C8B-B14F-4D97-AF65-F5344CB8AC3E}">
        <p14:creationId xmlns:p14="http://schemas.microsoft.com/office/powerpoint/2010/main" val="671669109"/>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8CBB9C-FF7A-754F-B1F6-15CEF655ABB0}"/>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C0F2D1C6-724B-6BDF-C3BA-159BD8C6DE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כותרת 1">
            <a:extLst>
              <a:ext uri="{FF2B5EF4-FFF2-40B4-BE49-F238E27FC236}">
                <a16:creationId xmlns:a16="http://schemas.microsoft.com/office/drawing/2014/main" id="{DC4FE319-26D3-D7D4-2D31-6391BDF630D6}"/>
              </a:ext>
            </a:extLst>
          </p:cNvPr>
          <p:cNvSpPr>
            <a:spLocks noGrp="1"/>
          </p:cNvSpPr>
          <p:nvPr>
            <p:ph type="title"/>
          </p:nvPr>
        </p:nvSpPr>
        <p:spPr>
          <a:xfrm>
            <a:off x="7011641" y="453258"/>
            <a:ext cx="4679174" cy="1325563"/>
          </a:xfrm>
        </p:spPr>
        <p:txBody>
          <a:bodyPr anchor="b">
            <a:normAutofit/>
          </a:bodyPr>
          <a:lstStyle/>
          <a:p>
            <a:pPr algn="r"/>
            <a:r>
              <a:rPr lang="he-IL" sz="4400" dirty="0">
                <a:solidFill>
                  <a:schemeClr val="bg1"/>
                </a:solidFill>
              </a:rPr>
              <a:t>מודל ההתקפה</a:t>
            </a:r>
            <a:endParaRPr lang="he-IL" dirty="0">
              <a:solidFill>
                <a:schemeClr val="bg1"/>
              </a:solidFill>
            </a:endParaRPr>
          </a:p>
        </p:txBody>
      </p:sp>
      <p:cxnSp>
        <p:nvCxnSpPr>
          <p:cNvPr id="18" name="Straight Connector 17">
            <a:extLst>
              <a:ext uri="{FF2B5EF4-FFF2-40B4-BE49-F238E27FC236}">
                <a16:creationId xmlns:a16="http://schemas.microsoft.com/office/drawing/2014/main" id="{B448D09C-4445-D977-38DA-1B8186457C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745298" y="2026340"/>
            <a:ext cx="544670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6AD5210-3328-C265-0D23-939843C66E9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4776" y="0"/>
            <a:ext cx="0" cy="685800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20D72C82-2D1A-EEB3-A04F-678C86D1E510}"/>
                  </a:ext>
                </a:extLst>
              </p:cNvPr>
              <p:cNvSpPr>
                <a:spLocks noGrp="1"/>
              </p:cNvSpPr>
              <p:nvPr>
                <p:ph idx="1"/>
              </p:nvPr>
            </p:nvSpPr>
            <p:spPr>
              <a:xfrm>
                <a:off x="1019338" y="2255382"/>
                <a:ext cx="10671478" cy="3802506"/>
              </a:xfrm>
            </p:spPr>
            <p:txBody>
              <a:bodyPr>
                <a:normAutofit/>
              </a:bodyPr>
              <a:lstStyle/>
              <a:p>
                <a:pPr>
                  <a:lnSpc>
                    <a:spcPct val="107000"/>
                  </a:lnSpc>
                  <a:spcBef>
                    <a:spcPts val="0"/>
                  </a:spcBef>
                  <a:spcAft>
                    <a:spcPts val="800"/>
                  </a:spcAft>
                  <a:defRPr/>
                </a:pPr>
                <a:r>
                  <a:rPr kumimoji="0" lang="he-IL" sz="2400" b="0" i="0" u="none" strike="noStrike" kern="100" cap="none" spc="0" normalizeH="0" baseline="0" noProof="0" dirty="0">
                    <a:ln>
                      <a:noFill/>
                    </a:ln>
                    <a:solidFill>
                      <a:schemeClr val="bg1"/>
                    </a:solidFill>
                    <a:effectLst/>
                    <a:uLnTx/>
                    <a:uFillTx/>
                    <a:latin typeface="Calibri" panose="020F0502020204030204" pitchFamily="34" charset="0"/>
                    <a:ea typeface="Calibri" panose="020F0502020204030204" pitchFamily="34" charset="0"/>
                    <a:cs typeface="Arial" panose="020B0604020202020204" pitchFamily="34" charset="0"/>
                  </a:rPr>
                  <a:t>מימוש רק של </a:t>
                </a:r>
                <a14:m>
                  <m:oMath xmlns:m="http://schemas.openxmlformats.org/officeDocument/2006/math">
                    <m:r>
                      <a:rPr lang="en-US" i="1">
                        <a:solidFill>
                          <a:schemeClr val="bg1"/>
                        </a:solidFill>
                        <a:latin typeface="Cambria Math" panose="02040503050406030204" pitchFamily="18" charset="0"/>
                      </a:rPr>
                      <m:t>𝐵𝑟𝑢𝑡𝑒</m:t>
                    </m:r>
                    <m:r>
                      <a:rPr lang="en-US" i="1">
                        <a:solidFill>
                          <a:schemeClr val="bg1"/>
                        </a:solidFill>
                        <a:latin typeface="Cambria Math" panose="02040503050406030204" pitchFamily="18" charset="0"/>
                      </a:rPr>
                      <m:t>−</m:t>
                    </m:r>
                    <m:r>
                      <a:rPr lang="en-US" i="1">
                        <a:solidFill>
                          <a:schemeClr val="bg1"/>
                        </a:solidFill>
                        <a:latin typeface="Cambria Math" panose="02040503050406030204" pitchFamily="18" charset="0"/>
                      </a:rPr>
                      <m:t>𝐹𝑜𝑟𝑐𝑒</m:t>
                    </m:r>
                  </m:oMath>
                </a14:m>
                <a:r>
                  <a:rPr kumimoji="0" lang="he-IL" sz="2400" b="0" i="0" u="none" strike="noStrike" kern="100" cap="none" spc="0" normalizeH="0" baseline="0" noProof="0" dirty="0">
                    <a:ln>
                      <a:noFill/>
                    </a:ln>
                    <a:solidFill>
                      <a:schemeClr val="bg1"/>
                    </a:solidFill>
                    <a:effectLst/>
                    <a:uLnTx/>
                    <a:uFillTx/>
                    <a:latin typeface="Calibri" panose="020F0502020204030204" pitchFamily="34" charset="0"/>
                    <a:ea typeface="Calibri" panose="020F0502020204030204" pitchFamily="34" charset="0"/>
                    <a:cs typeface="Arial" panose="020B0604020202020204" pitchFamily="34" charset="0"/>
                  </a:rPr>
                  <a:t> – מימשנו</a:t>
                </a:r>
                <a:r>
                  <a:rPr kumimoji="0" lang="he-IL" sz="2400" b="0" i="0" u="none" strike="noStrike" kern="100" cap="none" spc="0" normalizeH="0" noProof="0" dirty="0">
                    <a:ln>
                      <a:noFill/>
                    </a:ln>
                    <a:solidFill>
                      <a:schemeClr val="bg1"/>
                    </a:solidFill>
                    <a:effectLst/>
                    <a:uLnTx/>
                    <a:uFillTx/>
                    <a:latin typeface="Calibri" panose="020F0502020204030204" pitchFamily="34" charset="0"/>
                    <a:ea typeface="Calibri" panose="020F0502020204030204" pitchFamily="34" charset="0"/>
                    <a:cs typeface="Arial" panose="020B0604020202020204" pitchFamily="34" charset="0"/>
                  </a:rPr>
                  <a:t> התקפה זו שתכיל את עקרונות </a:t>
                </a:r>
                <a14:m>
                  <m:oMath xmlns:m="http://schemas.openxmlformats.org/officeDocument/2006/math">
                    <m:r>
                      <a:rPr lang="en-US" i="1" smtClean="0">
                        <a:solidFill>
                          <a:schemeClr val="bg1"/>
                        </a:solidFill>
                        <a:latin typeface="Cambria Math" panose="02040503050406030204" pitchFamily="18" charset="0"/>
                      </a:rPr>
                      <m:t>𝑃𝑎𝑠𝑠𝑤𝑜𝑟𝑑</m:t>
                    </m:r>
                    <m:r>
                      <a:rPr lang="en-US" i="1" smtClean="0">
                        <a:solidFill>
                          <a:schemeClr val="bg1"/>
                        </a:solidFill>
                        <a:latin typeface="Cambria Math" panose="02040503050406030204" pitchFamily="18" charset="0"/>
                      </a:rPr>
                      <m:t>−</m:t>
                    </m:r>
                    <m:r>
                      <a:rPr lang="en-US" i="1" smtClean="0">
                        <a:solidFill>
                          <a:schemeClr val="bg1"/>
                        </a:solidFill>
                        <a:latin typeface="Cambria Math" panose="02040503050406030204" pitchFamily="18" charset="0"/>
                      </a:rPr>
                      <m:t>𝑆𝑝𝑟𝑎𝑦𝑖𝑛𝑔</m:t>
                    </m:r>
                  </m:oMath>
                </a14:m>
                <a:r>
                  <a:rPr kumimoji="0" lang="he-IL" sz="2400" b="0" i="0" u="none" strike="noStrike" kern="100" cap="none" spc="0" normalizeH="0" baseline="0" noProof="0" dirty="0">
                    <a:ln>
                      <a:noFill/>
                    </a:ln>
                    <a:solidFill>
                      <a:schemeClr val="bg1"/>
                    </a:solidFill>
                    <a:effectLst/>
                    <a:uLnTx/>
                    <a:uFillTx/>
                    <a:latin typeface="Calibri" panose="020F0502020204030204" pitchFamily="34" charset="0"/>
                    <a:ea typeface="Calibri" panose="020F0502020204030204" pitchFamily="34" charset="0"/>
                    <a:cs typeface="Arial" panose="020B0604020202020204" pitchFamily="34" charset="0"/>
                  </a:rPr>
                  <a:t> בתוכה</a:t>
                </a:r>
              </a:p>
              <a:p>
                <a:pPr>
                  <a:lnSpc>
                    <a:spcPct val="107000"/>
                  </a:lnSpc>
                  <a:spcBef>
                    <a:spcPts val="0"/>
                  </a:spcBef>
                  <a:spcAft>
                    <a:spcPts val="800"/>
                  </a:spcAft>
                  <a:defRPr/>
                </a:pPr>
                <a:r>
                  <a:rPr kumimoji="0" lang="he-IL" sz="2400" b="0" i="0" u="none" strike="noStrike" kern="100" cap="none" spc="0" normalizeH="0" baseline="0" noProof="0" dirty="0">
                    <a:ln>
                      <a:noFill/>
                    </a:ln>
                    <a:solidFill>
                      <a:schemeClr val="bg1"/>
                    </a:solidFill>
                    <a:effectLst/>
                    <a:uLnTx/>
                    <a:uFillTx/>
                    <a:latin typeface="Calibri" panose="020F0502020204030204" pitchFamily="34" charset="0"/>
                    <a:ea typeface="Calibri" panose="020F0502020204030204" pitchFamily="34" charset="0"/>
                    <a:cs typeface="Arial" panose="020B0604020202020204" pitchFamily="34" charset="0"/>
                  </a:rPr>
                  <a:t>ניסיונות כניסה על פי שם משתמש וסיסמה אקראית</a:t>
                </a:r>
              </a:p>
              <a:p>
                <a:pPr>
                  <a:lnSpc>
                    <a:spcPct val="107000"/>
                  </a:lnSpc>
                  <a:spcBef>
                    <a:spcPts val="0"/>
                  </a:spcBef>
                  <a:spcAft>
                    <a:spcPts val="800"/>
                  </a:spcAft>
                  <a:defRPr/>
                </a:pPr>
                <a:r>
                  <a:rPr lang="he-IL" sz="2400" kern="100" dirty="0">
                    <a:solidFill>
                      <a:schemeClr val="bg1"/>
                    </a:solidFill>
                    <a:latin typeface="Calibri" panose="020F0502020204030204" pitchFamily="34" charset="0"/>
                    <a:ea typeface="Calibri" panose="020F0502020204030204" pitchFamily="34" charset="0"/>
                    <a:cs typeface="Arial" panose="020B0604020202020204" pitchFamily="34" charset="0"/>
                  </a:rPr>
                  <a:t>מנגנוני התמודדות עם הגנות</a:t>
                </a:r>
              </a:p>
              <a:p>
                <a:pPr>
                  <a:lnSpc>
                    <a:spcPct val="107000"/>
                  </a:lnSpc>
                  <a:spcBef>
                    <a:spcPts val="0"/>
                  </a:spcBef>
                  <a:spcAft>
                    <a:spcPts val="800"/>
                  </a:spcAft>
                  <a:defRPr/>
                </a:pPr>
                <a:r>
                  <a:rPr kumimoji="0" lang="he-IL" sz="2400" b="0" i="0" u="none" strike="noStrike" kern="100" cap="none" spc="0" normalizeH="0" baseline="0" noProof="0" dirty="0">
                    <a:ln>
                      <a:noFill/>
                    </a:ln>
                    <a:solidFill>
                      <a:schemeClr val="bg1"/>
                    </a:solidFill>
                    <a:effectLst/>
                    <a:uLnTx/>
                    <a:uFillTx/>
                    <a:latin typeface="Calibri" panose="020F0502020204030204" pitchFamily="34" charset="0"/>
                    <a:ea typeface="Calibri" panose="020F0502020204030204" pitchFamily="34" charset="0"/>
                    <a:cs typeface="Arial" panose="020B0604020202020204" pitchFamily="34" charset="0"/>
                  </a:rPr>
                  <a:t>מחזיר סטטוס, מספר ניסיונות ופירוט סיום ההתקפה</a:t>
                </a:r>
              </a:p>
              <a:p>
                <a:pPr marL="0" marR="0" lvl="0" indent="0" algn="r" defTabSz="914400" rtl="1" eaLnBrk="1" fontAlgn="auto" latinLnBrk="0" hangingPunct="1">
                  <a:lnSpc>
                    <a:spcPct val="107000"/>
                  </a:lnSpc>
                  <a:spcBef>
                    <a:spcPts val="0"/>
                  </a:spcBef>
                  <a:spcAft>
                    <a:spcPts val="800"/>
                  </a:spcAft>
                  <a:buClrTx/>
                  <a:buSzTx/>
                  <a:buFontTx/>
                  <a:buNone/>
                  <a:tabLst/>
                  <a:defRPr/>
                </a:pPr>
                <a:endParaRPr kumimoji="0" lang="en-US" sz="2400" b="0" i="0" u="none" strike="noStrike" kern="100" cap="none" spc="0" normalizeH="0" baseline="0" noProof="0" dirty="0">
                  <a:ln>
                    <a:noFill/>
                  </a:ln>
                  <a:solidFill>
                    <a:schemeClr val="bg1"/>
                  </a:solidFill>
                  <a:effectLst/>
                  <a:uLnTx/>
                  <a:uFillTx/>
                  <a:latin typeface="Calibri" panose="020F0502020204030204" pitchFamily="34" charset="0"/>
                  <a:ea typeface="Calibri" panose="020F0502020204030204" pitchFamily="34" charset="0"/>
                  <a:cs typeface="Arial" panose="020B0604020202020204" pitchFamily="34" charset="0"/>
                </a:endParaRPr>
              </a:p>
            </p:txBody>
          </p:sp>
        </mc:Choice>
        <mc:Fallback xmlns="">
          <p:sp>
            <p:nvSpPr>
              <p:cNvPr id="3" name="מציין מיקום תוכן 2">
                <a:extLst>
                  <a:ext uri="{FF2B5EF4-FFF2-40B4-BE49-F238E27FC236}">
                    <a16:creationId xmlns:a16="http://schemas.microsoft.com/office/drawing/2014/main" id="{20D72C82-2D1A-EEB3-A04F-678C86D1E510}"/>
                  </a:ext>
                </a:extLst>
              </p:cNvPr>
              <p:cNvSpPr>
                <a:spLocks noGrp="1" noRot="1" noChangeAspect="1" noMove="1" noResize="1" noEditPoints="1" noAdjustHandles="1" noChangeArrowheads="1" noChangeShapeType="1" noTextEdit="1"/>
              </p:cNvSpPr>
              <p:nvPr>
                <p:ph idx="1"/>
              </p:nvPr>
            </p:nvSpPr>
            <p:spPr>
              <a:xfrm>
                <a:off x="1019338" y="2255382"/>
                <a:ext cx="10671478" cy="3802506"/>
              </a:xfrm>
              <a:blipFill>
                <a:blip r:embed="rId3"/>
                <a:stretch>
                  <a:fillRect t="-160" r="-800"/>
                </a:stretch>
              </a:blipFill>
            </p:spPr>
            <p:txBody>
              <a:bodyPr/>
              <a:lstStyle/>
              <a:p>
                <a:r>
                  <a:rPr lang="he-IL">
                    <a:noFill/>
                  </a:rPr>
                  <a:t> </a:t>
                </a:r>
              </a:p>
            </p:txBody>
          </p:sp>
        </mc:Fallback>
      </mc:AlternateContent>
      <p:grpSp>
        <p:nvGrpSpPr>
          <p:cNvPr id="9" name="קבוצה 8">
            <a:extLst>
              <a:ext uri="{FF2B5EF4-FFF2-40B4-BE49-F238E27FC236}">
                <a16:creationId xmlns:a16="http://schemas.microsoft.com/office/drawing/2014/main" id="{EC463009-AF38-DF57-9789-64F12A7AB947}"/>
              </a:ext>
            </a:extLst>
          </p:cNvPr>
          <p:cNvGrpSpPr/>
          <p:nvPr/>
        </p:nvGrpSpPr>
        <p:grpSpPr>
          <a:xfrm>
            <a:off x="859680" y="36005"/>
            <a:ext cx="2303306" cy="2122192"/>
            <a:chOff x="3313720" y="2672747"/>
            <a:chExt cx="3239480" cy="3501046"/>
          </a:xfrm>
          <a:scene3d>
            <a:camera prst="perspectiveHeroicExtremeRightFacing"/>
            <a:lightRig rig="threePt" dir="t"/>
          </a:scene3d>
        </p:grpSpPr>
        <p:pic>
          <p:nvPicPr>
            <p:cNvPr id="10" name="גרפיקה 9" descr="מנעול עם מילוי מלא">
              <a:extLst>
                <a:ext uri="{FF2B5EF4-FFF2-40B4-BE49-F238E27FC236}">
                  <a16:creationId xmlns:a16="http://schemas.microsoft.com/office/drawing/2014/main" id="{6E4054F6-ED19-D6E4-148D-B0CDF08C117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88208" y="2672747"/>
              <a:ext cx="3164992" cy="3501046"/>
            </a:xfrm>
            <a:prstGeom prst="rect">
              <a:avLst/>
            </a:prstGeom>
          </p:spPr>
        </p:pic>
        <p:pic>
          <p:nvPicPr>
            <p:cNvPr id="12" name="גרפיקה 11" descr="פתיחת מנעול עם מילוי מלא">
              <a:extLst>
                <a:ext uri="{FF2B5EF4-FFF2-40B4-BE49-F238E27FC236}">
                  <a16:creationId xmlns:a16="http://schemas.microsoft.com/office/drawing/2014/main" id="{D4B4D6E1-C857-81F7-CD72-857B127181C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313720" y="2906329"/>
              <a:ext cx="2971800" cy="2971800"/>
            </a:xfrm>
            <a:prstGeom prst="rect">
              <a:avLst/>
            </a:prstGeom>
          </p:spPr>
        </p:pic>
      </p:grpSp>
      <p:pic>
        <p:nvPicPr>
          <p:cNvPr id="5" name="גרפיקה 4" descr="חשבוניה עם מילוי מלא">
            <a:extLst>
              <a:ext uri="{FF2B5EF4-FFF2-40B4-BE49-F238E27FC236}">
                <a16:creationId xmlns:a16="http://schemas.microsoft.com/office/drawing/2014/main" id="{7699D28E-C9F2-DF89-2C8E-0836032CA29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379256" y="5381472"/>
            <a:ext cx="1562152" cy="1562152"/>
          </a:xfrm>
          <a:prstGeom prst="rect">
            <a:avLst/>
          </a:prstGeom>
        </p:spPr>
      </p:pic>
    </p:spTree>
    <p:extLst>
      <p:ext uri="{BB962C8B-B14F-4D97-AF65-F5344CB8AC3E}">
        <p14:creationId xmlns:p14="http://schemas.microsoft.com/office/powerpoint/2010/main" val="1440944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9000" b="-39000"/>
          </a:stretch>
        </a:blipFill>
        <a:effectLst/>
      </p:bgPr>
    </p:bg>
    <p:spTree>
      <p:nvGrpSpPr>
        <p:cNvPr id="1" name="">
          <a:extLst>
            <a:ext uri="{FF2B5EF4-FFF2-40B4-BE49-F238E27FC236}">
              <a16:creationId xmlns:a16="http://schemas.microsoft.com/office/drawing/2014/main" id="{DBA015AA-9547-51F4-D6F7-58207E090F71}"/>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AF90A833-C282-A477-54BB-9A9740FFABF5}"/>
              </a:ext>
            </a:extLst>
          </p:cNvPr>
          <p:cNvSpPr txBox="1">
            <a:spLocks/>
          </p:cNvSpPr>
          <p:nvPr/>
        </p:nvSpPr>
        <p:spPr>
          <a:xfrm>
            <a:off x="985157" y="295582"/>
            <a:ext cx="10515600" cy="662361"/>
          </a:xfrm>
          <a:prstGeom prst="rect">
            <a:avLst/>
          </a:prstGeom>
        </p:spPr>
        <p:txBody>
          <a:bodyPr anchor="t">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sz="4000" dirty="0">
                <a:solidFill>
                  <a:schemeClr val="bg1"/>
                </a:solidFill>
              </a:rPr>
              <a:t>ניסויים</a:t>
            </a:r>
          </a:p>
        </p:txBody>
      </p:sp>
      <p:sp>
        <p:nvSpPr>
          <p:cNvPr id="3" name="מציין מיקום תוכן 2">
            <a:extLst>
              <a:ext uri="{FF2B5EF4-FFF2-40B4-BE49-F238E27FC236}">
                <a16:creationId xmlns:a16="http://schemas.microsoft.com/office/drawing/2014/main" id="{A1030544-2D9C-A7BF-C056-48F487E046DA}"/>
              </a:ext>
            </a:extLst>
          </p:cNvPr>
          <p:cNvSpPr txBox="1">
            <a:spLocks/>
          </p:cNvSpPr>
          <p:nvPr/>
        </p:nvSpPr>
        <p:spPr>
          <a:xfrm>
            <a:off x="985157" y="1105454"/>
            <a:ext cx="10671478" cy="5336909"/>
          </a:xfrm>
          <a:prstGeom prst="rect">
            <a:avLst/>
          </a:prstGeom>
        </p:spPr>
        <p:txBody>
          <a:bodyPr>
            <a:normAutofit lnSpcReduction="10000"/>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7000"/>
              </a:lnSpc>
              <a:spcBef>
                <a:spcPts val="0"/>
              </a:spcBef>
              <a:spcAft>
                <a:spcPts val="800"/>
              </a:spcAft>
              <a:defRPr/>
            </a:pPr>
            <a:r>
              <a:rPr lang="he-IL" sz="2400" kern="100" dirty="0">
                <a:solidFill>
                  <a:schemeClr val="bg1"/>
                </a:solidFill>
                <a:latin typeface="Calibri" panose="020F0502020204030204" pitchFamily="34" charset="0"/>
                <a:ea typeface="Calibri" panose="020F0502020204030204" pitchFamily="34" charset="0"/>
                <a:cs typeface="Arial" panose="020B0604020202020204" pitchFamily="34" charset="0"/>
              </a:rPr>
              <a:t>מדגם ניסויים מצומצם</a:t>
            </a:r>
          </a:p>
          <a:p>
            <a:pPr>
              <a:lnSpc>
                <a:spcPct val="107000"/>
              </a:lnSpc>
              <a:spcBef>
                <a:spcPts val="0"/>
              </a:spcBef>
              <a:spcAft>
                <a:spcPts val="800"/>
              </a:spcAft>
              <a:defRPr/>
            </a:pPr>
            <a:r>
              <a:rPr lang="he-IL" sz="2400" kern="100" dirty="0">
                <a:solidFill>
                  <a:schemeClr val="bg1"/>
                </a:solidFill>
                <a:latin typeface="Calibri" panose="020F0502020204030204" pitchFamily="34" charset="0"/>
                <a:ea typeface="Calibri" panose="020F0502020204030204" pitchFamily="34" charset="0"/>
                <a:cs typeface="Arial" panose="020B0604020202020204" pitchFamily="34" charset="0"/>
              </a:rPr>
              <a:t>27 ניסויים</a:t>
            </a:r>
          </a:p>
          <a:p>
            <a:pPr>
              <a:lnSpc>
                <a:spcPct val="107000"/>
              </a:lnSpc>
              <a:spcBef>
                <a:spcPts val="0"/>
              </a:spcBef>
              <a:spcAft>
                <a:spcPts val="800"/>
              </a:spcAft>
              <a:defRPr/>
            </a:pPr>
            <a:r>
              <a:rPr lang="he-IL" sz="2400" kern="100" dirty="0">
                <a:solidFill>
                  <a:schemeClr val="bg1"/>
                </a:solidFill>
                <a:latin typeface="Calibri" panose="020F0502020204030204" pitchFamily="34" charset="0"/>
                <a:ea typeface="Calibri" panose="020F0502020204030204" pitchFamily="34" charset="0"/>
                <a:cs typeface="Arial" panose="020B0604020202020204" pitchFamily="34" charset="0"/>
              </a:rPr>
              <a:t>6 ניסויים ללא הגנות</a:t>
            </a:r>
          </a:p>
          <a:p>
            <a:pPr>
              <a:lnSpc>
                <a:spcPct val="107000"/>
              </a:lnSpc>
              <a:spcBef>
                <a:spcPts val="0"/>
              </a:spcBef>
              <a:spcAft>
                <a:spcPts val="800"/>
              </a:spcAft>
              <a:defRPr/>
            </a:pPr>
            <a:r>
              <a:rPr lang="he-IL" sz="2400" kern="100" dirty="0">
                <a:solidFill>
                  <a:schemeClr val="bg1"/>
                </a:solidFill>
                <a:latin typeface="Calibri" panose="020F0502020204030204" pitchFamily="34" charset="0"/>
                <a:ea typeface="Calibri" panose="020F0502020204030204" pitchFamily="34" charset="0"/>
                <a:cs typeface="Arial" panose="020B0604020202020204" pitchFamily="34" charset="0"/>
              </a:rPr>
              <a:t>2 ניסויים עם הגבלת קצב</a:t>
            </a:r>
          </a:p>
          <a:p>
            <a:pPr>
              <a:lnSpc>
                <a:spcPct val="107000"/>
              </a:lnSpc>
              <a:spcBef>
                <a:spcPts val="0"/>
              </a:spcBef>
              <a:spcAft>
                <a:spcPts val="800"/>
              </a:spcAft>
              <a:defRPr/>
            </a:pPr>
            <a:r>
              <a:rPr lang="he-IL" sz="2400" kern="100" dirty="0">
                <a:solidFill>
                  <a:schemeClr val="bg1"/>
                </a:solidFill>
                <a:latin typeface="Calibri" panose="020F0502020204030204" pitchFamily="34" charset="0"/>
                <a:ea typeface="Calibri" panose="020F0502020204030204" pitchFamily="34" charset="0"/>
                <a:cs typeface="Arial" panose="020B0604020202020204" pitchFamily="34" charset="0"/>
              </a:rPr>
              <a:t>2 ניסויים עם חסימת משתמש</a:t>
            </a:r>
          </a:p>
          <a:p>
            <a:pPr>
              <a:lnSpc>
                <a:spcPct val="107000"/>
              </a:lnSpc>
              <a:spcBef>
                <a:spcPts val="0"/>
              </a:spcBef>
              <a:spcAft>
                <a:spcPts val="800"/>
              </a:spcAft>
              <a:defRPr/>
            </a:pPr>
            <a:r>
              <a:rPr lang="he-IL" sz="2400" kern="100" dirty="0">
                <a:solidFill>
                  <a:schemeClr val="bg1"/>
                </a:solidFill>
                <a:latin typeface="Calibri" panose="020F0502020204030204" pitchFamily="34" charset="0"/>
                <a:ea typeface="Calibri" panose="020F0502020204030204" pitchFamily="34" charset="0"/>
                <a:cs typeface="Arial" panose="020B0604020202020204" pitchFamily="34" charset="0"/>
              </a:rPr>
              <a:t>4 ניסויים עם </a:t>
            </a:r>
            <a:r>
              <a:rPr lang="en-US" sz="2400" kern="100" dirty="0">
                <a:solidFill>
                  <a:schemeClr val="bg1"/>
                </a:solidFill>
                <a:latin typeface="Calibri" panose="020F0502020204030204" pitchFamily="34" charset="0"/>
                <a:ea typeface="Calibri" panose="020F0502020204030204" pitchFamily="34" charset="0"/>
                <a:cs typeface="Arial" panose="020B0604020202020204" pitchFamily="34" charset="0"/>
              </a:rPr>
              <a:t>captcha</a:t>
            </a:r>
            <a:endParaRPr lang="he-IL" sz="2400" kern="100" dirty="0">
              <a:solidFill>
                <a:schemeClr val="bg1"/>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Bef>
                <a:spcPts val="0"/>
              </a:spcBef>
              <a:spcAft>
                <a:spcPts val="800"/>
              </a:spcAft>
              <a:defRPr/>
            </a:pPr>
            <a:r>
              <a:rPr lang="he-IL" sz="2400" kern="100" dirty="0">
                <a:solidFill>
                  <a:schemeClr val="bg1"/>
                </a:solidFill>
                <a:latin typeface="Calibri" panose="020F0502020204030204" pitchFamily="34" charset="0"/>
                <a:ea typeface="Calibri" panose="020F0502020204030204" pitchFamily="34" charset="0"/>
                <a:cs typeface="Arial" panose="020B0604020202020204" pitchFamily="34" charset="0"/>
              </a:rPr>
              <a:t>2 ניסויים עם </a:t>
            </a:r>
            <a:r>
              <a:rPr lang="en-US" sz="2400" kern="100" dirty="0" err="1">
                <a:solidFill>
                  <a:schemeClr val="bg1"/>
                </a:solidFill>
                <a:latin typeface="Calibri" panose="020F0502020204030204" pitchFamily="34" charset="0"/>
                <a:ea typeface="Calibri" panose="020F0502020204030204" pitchFamily="34" charset="0"/>
                <a:cs typeface="Arial" panose="020B0604020202020204" pitchFamily="34" charset="0"/>
              </a:rPr>
              <a:t>totp</a:t>
            </a:r>
            <a:endParaRPr lang="he-IL" sz="2400" kern="100" dirty="0">
              <a:solidFill>
                <a:schemeClr val="bg1"/>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Bef>
                <a:spcPts val="0"/>
              </a:spcBef>
              <a:spcAft>
                <a:spcPts val="800"/>
              </a:spcAft>
              <a:defRPr/>
            </a:pPr>
            <a:r>
              <a:rPr lang="he-IL" sz="2400" kern="100" dirty="0">
                <a:solidFill>
                  <a:schemeClr val="bg1"/>
                </a:solidFill>
                <a:latin typeface="Calibri" panose="020F0502020204030204" pitchFamily="34" charset="0"/>
                <a:ea typeface="Calibri" panose="020F0502020204030204" pitchFamily="34" charset="0"/>
                <a:cs typeface="Arial" panose="020B0604020202020204" pitchFamily="34" charset="0"/>
              </a:rPr>
              <a:t>3 ניסויים שילוב של הגבלת קצב ו-</a:t>
            </a:r>
            <a:r>
              <a:rPr lang="en-US" sz="2400" kern="100" dirty="0">
                <a:solidFill>
                  <a:schemeClr val="bg1"/>
                </a:solidFill>
                <a:latin typeface="Calibri" panose="020F0502020204030204" pitchFamily="34" charset="0"/>
                <a:ea typeface="Calibri" panose="020F0502020204030204" pitchFamily="34" charset="0"/>
                <a:cs typeface="Arial" panose="020B0604020202020204" pitchFamily="34" charset="0"/>
              </a:rPr>
              <a:t>captcha</a:t>
            </a:r>
            <a:endParaRPr lang="he-IL" sz="2400" kern="100" dirty="0">
              <a:solidFill>
                <a:schemeClr val="bg1"/>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Bef>
                <a:spcPts val="0"/>
              </a:spcBef>
              <a:spcAft>
                <a:spcPts val="800"/>
              </a:spcAft>
              <a:defRPr/>
            </a:pPr>
            <a:r>
              <a:rPr lang="he-IL" sz="2400" kern="100" dirty="0">
                <a:solidFill>
                  <a:schemeClr val="bg1"/>
                </a:solidFill>
                <a:latin typeface="Calibri" panose="020F0502020204030204" pitchFamily="34" charset="0"/>
                <a:ea typeface="Calibri" panose="020F0502020204030204" pitchFamily="34" charset="0"/>
                <a:cs typeface="Arial" panose="020B0604020202020204" pitchFamily="34" charset="0"/>
              </a:rPr>
              <a:t>2 ניסויים שילוב של </a:t>
            </a:r>
            <a:r>
              <a:rPr lang="en-US" sz="2400" kern="100" dirty="0" err="1">
                <a:solidFill>
                  <a:schemeClr val="bg1"/>
                </a:solidFill>
                <a:latin typeface="Calibri" panose="020F0502020204030204" pitchFamily="34" charset="0"/>
                <a:ea typeface="Calibri" panose="020F0502020204030204" pitchFamily="34" charset="0"/>
                <a:cs typeface="Arial" panose="020B0604020202020204" pitchFamily="34" charset="0"/>
              </a:rPr>
              <a:t>totp</a:t>
            </a:r>
            <a:r>
              <a:rPr lang="he-IL" sz="2400" kern="100" dirty="0">
                <a:solidFill>
                  <a:schemeClr val="bg1"/>
                </a:solidFill>
                <a:latin typeface="Calibri" panose="020F0502020204030204" pitchFamily="34" charset="0"/>
                <a:ea typeface="Calibri" panose="020F0502020204030204" pitchFamily="34" charset="0"/>
                <a:cs typeface="Arial" panose="020B0604020202020204" pitchFamily="34" charset="0"/>
              </a:rPr>
              <a:t> ו-</a:t>
            </a:r>
            <a:r>
              <a:rPr lang="en-US" sz="2400" kern="100" dirty="0">
                <a:solidFill>
                  <a:schemeClr val="bg1"/>
                </a:solidFill>
                <a:latin typeface="Calibri" panose="020F0502020204030204" pitchFamily="34" charset="0"/>
                <a:ea typeface="Calibri" panose="020F0502020204030204" pitchFamily="34" charset="0"/>
                <a:cs typeface="Arial" panose="020B0604020202020204" pitchFamily="34" charset="0"/>
              </a:rPr>
              <a:t>captcha</a:t>
            </a:r>
            <a:endParaRPr lang="he-IL" sz="2400" kern="100" dirty="0">
              <a:solidFill>
                <a:schemeClr val="bg1"/>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Bef>
                <a:spcPts val="0"/>
              </a:spcBef>
              <a:spcAft>
                <a:spcPts val="800"/>
              </a:spcAft>
              <a:defRPr/>
            </a:pPr>
            <a:r>
              <a:rPr lang="he-IL" sz="2400" kern="100" dirty="0">
                <a:solidFill>
                  <a:schemeClr val="bg1"/>
                </a:solidFill>
                <a:latin typeface="Calibri" panose="020F0502020204030204" pitchFamily="34" charset="0"/>
                <a:ea typeface="Calibri" panose="020F0502020204030204" pitchFamily="34" charset="0"/>
                <a:cs typeface="Arial" panose="020B0604020202020204" pitchFamily="34" charset="0"/>
              </a:rPr>
              <a:t>3 ניסויים שילוב של חסימת משתמש ו-</a:t>
            </a:r>
            <a:r>
              <a:rPr lang="en-US" sz="2400" kern="100" dirty="0" err="1">
                <a:solidFill>
                  <a:schemeClr val="bg1"/>
                </a:solidFill>
                <a:latin typeface="Calibri" panose="020F0502020204030204" pitchFamily="34" charset="0"/>
                <a:ea typeface="Calibri" panose="020F0502020204030204" pitchFamily="34" charset="0"/>
                <a:cs typeface="Arial" panose="020B0604020202020204" pitchFamily="34" charset="0"/>
              </a:rPr>
              <a:t>totp</a:t>
            </a:r>
            <a:endParaRPr lang="he-IL" sz="2400" kern="100" dirty="0">
              <a:solidFill>
                <a:schemeClr val="bg1"/>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Bef>
                <a:spcPts val="0"/>
              </a:spcBef>
              <a:spcAft>
                <a:spcPts val="800"/>
              </a:spcAft>
              <a:defRPr/>
            </a:pPr>
            <a:r>
              <a:rPr lang="he-IL" sz="2400" kern="100" dirty="0">
                <a:solidFill>
                  <a:schemeClr val="bg1"/>
                </a:solidFill>
                <a:latin typeface="Calibri" panose="020F0502020204030204" pitchFamily="34" charset="0"/>
                <a:ea typeface="Calibri" panose="020F0502020204030204" pitchFamily="34" charset="0"/>
                <a:cs typeface="Arial" panose="020B0604020202020204" pitchFamily="34" charset="0"/>
              </a:rPr>
              <a:t>3 ניסויים שילוב של כלל ההגנות</a:t>
            </a:r>
          </a:p>
          <a:p>
            <a:pPr>
              <a:lnSpc>
                <a:spcPct val="107000"/>
              </a:lnSpc>
              <a:spcBef>
                <a:spcPts val="0"/>
              </a:spcBef>
              <a:spcAft>
                <a:spcPts val="800"/>
              </a:spcAft>
              <a:defRPr/>
            </a:pPr>
            <a:endParaRPr lang="en-US" sz="2400" kern="100" dirty="0">
              <a:solidFill>
                <a:schemeClr val="bg1"/>
              </a:solidFill>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987799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9000" b="-39000"/>
          </a:stretch>
        </a:blipFill>
        <a:effectLst/>
      </p:bgPr>
    </p:bg>
    <p:spTree>
      <p:nvGrpSpPr>
        <p:cNvPr id="1" name="">
          <a:extLst>
            <a:ext uri="{FF2B5EF4-FFF2-40B4-BE49-F238E27FC236}">
              <a16:creationId xmlns:a16="http://schemas.microsoft.com/office/drawing/2014/main" id="{CB90B539-6F71-876E-174C-D3FEEE1D1D3B}"/>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65C0DD03-FAA1-70EB-FBCD-FA8DAEC80662}"/>
              </a:ext>
            </a:extLst>
          </p:cNvPr>
          <p:cNvSpPr txBox="1">
            <a:spLocks/>
          </p:cNvSpPr>
          <p:nvPr/>
        </p:nvSpPr>
        <p:spPr>
          <a:xfrm>
            <a:off x="985157" y="295582"/>
            <a:ext cx="10515600" cy="662361"/>
          </a:xfrm>
          <a:prstGeom prst="rect">
            <a:avLst/>
          </a:prstGeom>
        </p:spPr>
        <p:txBody>
          <a:bodyPr anchor="t">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sz="4000" dirty="0">
                <a:solidFill>
                  <a:schemeClr val="bg1"/>
                </a:solidFill>
              </a:rPr>
              <a:t>תוצאות וניתוח</a:t>
            </a:r>
          </a:p>
        </p:txBody>
      </p:sp>
      <p:pic>
        <p:nvPicPr>
          <p:cNvPr id="4" name="תמונה 3">
            <a:extLst>
              <a:ext uri="{FF2B5EF4-FFF2-40B4-BE49-F238E27FC236}">
                <a16:creationId xmlns:a16="http://schemas.microsoft.com/office/drawing/2014/main" id="{9B03F4FE-2A56-B48C-E4BF-2981FACA7023}"/>
              </a:ext>
            </a:extLst>
          </p:cNvPr>
          <p:cNvPicPr>
            <a:picLocks noChangeAspect="1"/>
          </p:cNvPicPr>
          <p:nvPr/>
        </p:nvPicPr>
        <p:blipFill>
          <a:blip r:embed="rId3"/>
          <a:stretch>
            <a:fillRect/>
          </a:stretch>
        </p:blipFill>
        <p:spPr>
          <a:xfrm>
            <a:off x="510597" y="790892"/>
            <a:ext cx="7042689" cy="2934595"/>
          </a:xfrm>
          <a:prstGeom prst="rect">
            <a:avLst/>
          </a:prstGeom>
        </p:spPr>
      </p:pic>
      <p:pic>
        <p:nvPicPr>
          <p:cNvPr id="5" name="תמונה 4">
            <a:extLst>
              <a:ext uri="{FF2B5EF4-FFF2-40B4-BE49-F238E27FC236}">
                <a16:creationId xmlns:a16="http://schemas.microsoft.com/office/drawing/2014/main" id="{A7F3640E-F4D3-1C91-3C79-AC797560CAD2}"/>
              </a:ext>
            </a:extLst>
          </p:cNvPr>
          <p:cNvPicPr>
            <a:picLocks noChangeAspect="1"/>
          </p:cNvPicPr>
          <p:nvPr/>
        </p:nvPicPr>
        <p:blipFill rotWithShape="1">
          <a:blip r:embed="rId4"/>
          <a:srcRect t="8694"/>
          <a:stretch>
            <a:fillRect/>
          </a:stretch>
        </p:blipFill>
        <p:spPr bwMode="auto">
          <a:xfrm>
            <a:off x="510597" y="4060508"/>
            <a:ext cx="5274310" cy="2006600"/>
          </a:xfrm>
          <a:prstGeom prst="rect">
            <a:avLst/>
          </a:prstGeom>
          <a:ln>
            <a:noFill/>
          </a:ln>
          <a:extLst>
            <a:ext uri="{53640926-AAD7-44D8-BBD7-CCE9431645EC}">
              <a14:shadowObscured xmlns:a14="http://schemas.microsoft.com/office/drawing/2010/main"/>
            </a:ext>
          </a:extLst>
        </p:spPr>
      </p:pic>
      <p:pic>
        <p:nvPicPr>
          <p:cNvPr id="6" name="תמונה 5">
            <a:extLst>
              <a:ext uri="{FF2B5EF4-FFF2-40B4-BE49-F238E27FC236}">
                <a16:creationId xmlns:a16="http://schemas.microsoft.com/office/drawing/2014/main" id="{10F552E3-F4B8-324A-AE83-C96534F677E9}"/>
              </a:ext>
            </a:extLst>
          </p:cNvPr>
          <p:cNvPicPr>
            <a:picLocks noChangeAspect="1"/>
          </p:cNvPicPr>
          <p:nvPr/>
        </p:nvPicPr>
        <p:blipFill>
          <a:blip r:embed="rId5"/>
          <a:stretch>
            <a:fillRect/>
          </a:stretch>
        </p:blipFill>
        <p:spPr>
          <a:xfrm>
            <a:off x="6226447" y="3964940"/>
            <a:ext cx="5274310" cy="2197735"/>
          </a:xfrm>
          <a:prstGeom prst="rect">
            <a:avLst/>
          </a:prstGeom>
        </p:spPr>
      </p:pic>
    </p:spTree>
    <p:extLst>
      <p:ext uri="{BB962C8B-B14F-4D97-AF65-F5344CB8AC3E}">
        <p14:creationId xmlns:p14="http://schemas.microsoft.com/office/powerpoint/2010/main" val="704635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9000" b="-39000"/>
          </a:stretch>
        </a:blipFill>
        <a:effectLst/>
      </p:bgPr>
    </p:bg>
    <p:spTree>
      <p:nvGrpSpPr>
        <p:cNvPr id="1" name="">
          <a:extLst>
            <a:ext uri="{FF2B5EF4-FFF2-40B4-BE49-F238E27FC236}">
              <a16:creationId xmlns:a16="http://schemas.microsoft.com/office/drawing/2014/main" id="{373B6A1F-3841-09D5-6E60-AC61A92C7FC3}"/>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CF42851B-BAAE-0E52-359B-C4C78122E5CD}"/>
              </a:ext>
            </a:extLst>
          </p:cNvPr>
          <p:cNvSpPr txBox="1">
            <a:spLocks/>
          </p:cNvSpPr>
          <p:nvPr/>
        </p:nvSpPr>
        <p:spPr>
          <a:xfrm>
            <a:off x="985157" y="295582"/>
            <a:ext cx="10515600" cy="662361"/>
          </a:xfrm>
          <a:prstGeom prst="rect">
            <a:avLst/>
          </a:prstGeom>
        </p:spPr>
        <p:txBody>
          <a:bodyPr anchor="t">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sz="4000" dirty="0">
                <a:solidFill>
                  <a:schemeClr val="bg1"/>
                </a:solidFill>
              </a:rPr>
              <a:t>תוצאות וניתוח – שיטת הגיבוב</a:t>
            </a:r>
          </a:p>
        </p:txBody>
      </p: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F45A39A4-5380-817A-F648-27B563194336}"/>
                  </a:ext>
                </a:extLst>
              </p:cNvPr>
              <p:cNvSpPr txBox="1">
                <a:spLocks/>
              </p:cNvSpPr>
              <p:nvPr/>
            </p:nvSpPr>
            <p:spPr>
              <a:xfrm>
                <a:off x="624939" y="1122220"/>
                <a:ext cx="10671478" cy="1094508"/>
              </a:xfrm>
              <a:prstGeom prst="rect">
                <a:avLst/>
              </a:prstGeom>
            </p:spPr>
            <p:txBody>
              <a:bodyPr>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7000"/>
                  </a:lnSpc>
                  <a:spcBef>
                    <a:spcPts val="0"/>
                  </a:spcBef>
                  <a:spcAft>
                    <a:spcPts val="800"/>
                  </a:spcAft>
                  <a:defRPr/>
                </a:pPr>
                <a:r>
                  <a:rPr lang="he-IL" dirty="0">
                    <a:solidFill>
                      <a:schemeClr val="bg1"/>
                    </a:solidFill>
                  </a:rPr>
                  <a:t>זמן ה-</a:t>
                </a:r>
                <a14:m>
                  <m:oMath xmlns:m="http://schemas.openxmlformats.org/officeDocument/2006/math">
                    <m:r>
                      <a:rPr lang="en-US" i="1">
                        <a:solidFill>
                          <a:schemeClr val="bg1"/>
                        </a:solidFill>
                        <a:latin typeface="Cambria Math" panose="02040503050406030204" pitchFamily="18" charset="0"/>
                      </a:rPr>
                      <m:t>𝑙𝑎𝑡𝑒𝑛𝑐𝑦</m:t>
                    </m:r>
                  </m:oMath>
                </a14:m>
                <a:r>
                  <a:rPr lang="he-IL" dirty="0">
                    <a:solidFill>
                      <a:schemeClr val="bg1"/>
                    </a:solidFill>
                  </a:rPr>
                  <a:t> הממוצע עבור כל הניסויים בהם נעשה שימוש בשיטת הגיבוב </a:t>
                </a:r>
                <a14:m>
                  <m:oMath xmlns:m="http://schemas.openxmlformats.org/officeDocument/2006/math">
                    <m:r>
                      <a:rPr lang="en-US" i="1">
                        <a:solidFill>
                          <a:schemeClr val="bg1"/>
                        </a:solidFill>
                        <a:latin typeface="Cambria Math" panose="02040503050406030204" pitchFamily="18" charset="0"/>
                      </a:rPr>
                      <m:t>𝑠</m:t>
                    </m:r>
                    <m:r>
                      <a:rPr lang="en-US" i="1">
                        <a:solidFill>
                          <a:schemeClr val="bg1"/>
                        </a:solidFill>
                        <a:latin typeface="Cambria Math" panose="02040503050406030204" pitchFamily="18" charset="0"/>
                      </a:rPr>
                      <m:t>h</m:t>
                    </m:r>
                    <m:r>
                      <a:rPr lang="en-US" i="1">
                        <a:solidFill>
                          <a:schemeClr val="bg1"/>
                        </a:solidFill>
                        <a:latin typeface="Cambria Math" panose="02040503050406030204" pitchFamily="18" charset="0"/>
                      </a:rPr>
                      <m:t>𝑎</m:t>
                    </m:r>
                    <m:r>
                      <a:rPr lang="en-US" i="1">
                        <a:solidFill>
                          <a:schemeClr val="bg1"/>
                        </a:solidFill>
                        <a:latin typeface="Cambria Math" panose="02040503050406030204" pitchFamily="18" charset="0"/>
                      </a:rPr>
                      <m:t>−</m:t>
                    </m:r>
                    <m:r>
                      <a:rPr lang="en-US" i="1">
                        <a:solidFill>
                          <a:schemeClr val="bg1"/>
                        </a:solidFill>
                        <a:latin typeface="Cambria Math" panose="02040503050406030204" pitchFamily="18" charset="0"/>
                      </a:rPr>
                      <m:t>256</m:t>
                    </m:r>
                  </m:oMath>
                </a14:m>
                <a:r>
                  <a:rPr lang="he-IL" dirty="0">
                    <a:solidFill>
                      <a:schemeClr val="bg1"/>
                    </a:solidFill>
                  </a:rPr>
                  <a:t> דומה ועומד על 1.35 מילישניות</a:t>
                </a:r>
                <a:endParaRPr lang="en-US" sz="2400" kern="100" dirty="0">
                  <a:solidFill>
                    <a:schemeClr val="bg1"/>
                  </a:solidFill>
                  <a:latin typeface="Calibri" panose="020F0502020204030204" pitchFamily="34" charset="0"/>
                  <a:ea typeface="Calibri" panose="020F0502020204030204" pitchFamily="34" charset="0"/>
                  <a:cs typeface="Arial" panose="020B0604020202020204" pitchFamily="34" charset="0"/>
                </a:endParaRPr>
              </a:p>
            </p:txBody>
          </p:sp>
        </mc:Choice>
        <mc:Fallback xmlns="">
          <p:sp>
            <p:nvSpPr>
              <p:cNvPr id="3" name="מציין מיקום תוכן 2">
                <a:extLst>
                  <a:ext uri="{FF2B5EF4-FFF2-40B4-BE49-F238E27FC236}">
                    <a16:creationId xmlns:a16="http://schemas.microsoft.com/office/drawing/2014/main" id="{F45A39A4-5380-817A-F648-27B563194336}"/>
                  </a:ext>
                </a:extLst>
              </p:cNvPr>
              <p:cNvSpPr txBox="1">
                <a:spLocks noRot="1" noChangeAspect="1" noMove="1" noResize="1" noEditPoints="1" noAdjustHandles="1" noChangeArrowheads="1" noChangeShapeType="1" noTextEdit="1"/>
              </p:cNvSpPr>
              <p:nvPr/>
            </p:nvSpPr>
            <p:spPr>
              <a:xfrm>
                <a:off x="624939" y="1122220"/>
                <a:ext cx="10671478" cy="1094508"/>
              </a:xfrm>
              <a:prstGeom prst="rect">
                <a:avLst/>
              </a:prstGeom>
              <a:blipFill>
                <a:blip r:embed="rId3"/>
                <a:stretch>
                  <a:fillRect t="-6111" r="-1086" b="-3889"/>
                </a:stretch>
              </a:blipFill>
            </p:spPr>
            <p:txBody>
              <a:bodyPr/>
              <a:lstStyle/>
              <a:p>
                <a:r>
                  <a:rPr lang="he-IL">
                    <a:noFill/>
                  </a:rPr>
                  <a:t> </a:t>
                </a:r>
              </a:p>
            </p:txBody>
          </p:sp>
        </mc:Fallback>
      </mc:AlternateContent>
      <p:pic>
        <p:nvPicPr>
          <p:cNvPr id="4" name="תמונה 3">
            <a:extLst>
              <a:ext uri="{FF2B5EF4-FFF2-40B4-BE49-F238E27FC236}">
                <a16:creationId xmlns:a16="http://schemas.microsoft.com/office/drawing/2014/main" id="{AF04147A-0CAB-EFB1-8571-79CF03030C2C}"/>
              </a:ext>
            </a:extLst>
          </p:cNvPr>
          <p:cNvPicPr>
            <a:picLocks noChangeAspect="1"/>
          </p:cNvPicPr>
          <p:nvPr/>
        </p:nvPicPr>
        <p:blipFill>
          <a:blip r:embed="rId4"/>
          <a:stretch>
            <a:fillRect/>
          </a:stretch>
        </p:blipFill>
        <p:spPr>
          <a:xfrm>
            <a:off x="624939" y="2780405"/>
            <a:ext cx="8931733" cy="3721735"/>
          </a:xfrm>
          <a:prstGeom prst="rect">
            <a:avLst/>
          </a:prstGeom>
        </p:spPr>
      </p:pic>
    </p:spTree>
    <p:extLst>
      <p:ext uri="{BB962C8B-B14F-4D97-AF65-F5344CB8AC3E}">
        <p14:creationId xmlns:p14="http://schemas.microsoft.com/office/powerpoint/2010/main" val="5610534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9000" b="-39000"/>
          </a:stretch>
        </a:blipFill>
        <a:effectLst/>
      </p:bgPr>
    </p:bg>
    <p:spTree>
      <p:nvGrpSpPr>
        <p:cNvPr id="1" name="">
          <a:extLst>
            <a:ext uri="{FF2B5EF4-FFF2-40B4-BE49-F238E27FC236}">
              <a16:creationId xmlns:a16="http://schemas.microsoft.com/office/drawing/2014/main" id="{1155CC35-B17D-E2DA-1995-CF5056587623}"/>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E85967C7-217D-C8B0-C76F-730E57412A1B}"/>
              </a:ext>
            </a:extLst>
          </p:cNvPr>
          <p:cNvSpPr txBox="1">
            <a:spLocks/>
          </p:cNvSpPr>
          <p:nvPr/>
        </p:nvSpPr>
        <p:spPr>
          <a:xfrm>
            <a:off x="985157" y="295582"/>
            <a:ext cx="10515600" cy="662361"/>
          </a:xfrm>
          <a:prstGeom prst="rect">
            <a:avLst/>
          </a:prstGeom>
        </p:spPr>
        <p:txBody>
          <a:bodyPr anchor="t">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sz="4000" dirty="0">
                <a:solidFill>
                  <a:schemeClr val="bg1"/>
                </a:solidFill>
              </a:rPr>
              <a:t>תוצאות וניתוח – שיטת הגיבוב</a:t>
            </a:r>
          </a:p>
        </p:txBody>
      </p: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867B567C-7762-5B11-CE40-C13F9BA44EFF}"/>
                  </a:ext>
                </a:extLst>
              </p:cNvPr>
              <p:cNvSpPr txBox="1">
                <a:spLocks/>
              </p:cNvSpPr>
              <p:nvPr/>
            </p:nvSpPr>
            <p:spPr>
              <a:xfrm>
                <a:off x="624939" y="1122219"/>
                <a:ext cx="10671478" cy="1801089"/>
              </a:xfrm>
              <a:prstGeom prst="rect">
                <a:avLst/>
              </a:prstGeom>
            </p:spPr>
            <p:txBody>
              <a:bodyPr>
                <a:normAutofit fontScale="92500" lnSpcReduction="10000"/>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7000"/>
                  </a:lnSpc>
                  <a:spcBef>
                    <a:spcPts val="0"/>
                  </a:spcBef>
                  <a:spcAft>
                    <a:spcPts val="800"/>
                  </a:spcAft>
                  <a:defRPr/>
                </a:pPr>
                <a:r>
                  <a:rPr lang="he-IL" dirty="0">
                    <a:solidFill>
                      <a:schemeClr val="bg1"/>
                    </a:solidFill>
                  </a:rPr>
                  <a:t>זמן ה-</a:t>
                </a:r>
                <a14:m>
                  <m:oMath xmlns:m="http://schemas.openxmlformats.org/officeDocument/2006/math">
                    <m:r>
                      <a:rPr lang="en-US" i="1">
                        <a:solidFill>
                          <a:schemeClr val="bg1"/>
                        </a:solidFill>
                        <a:latin typeface="Cambria Math" panose="02040503050406030204" pitchFamily="18" charset="0"/>
                      </a:rPr>
                      <m:t>𝑙𝑎𝑡𝑒𝑛𝑐𝑦</m:t>
                    </m:r>
                  </m:oMath>
                </a14:m>
                <a:r>
                  <a:rPr lang="he-IL" dirty="0">
                    <a:solidFill>
                      <a:schemeClr val="bg1"/>
                    </a:solidFill>
                  </a:rPr>
                  <a:t> הממוצע עבור כל הניסויים בהם נעשה שימוש בשיטת הגיבוב </a:t>
                </a:r>
                <a14:m>
                  <m:oMath xmlns:m="http://schemas.openxmlformats.org/officeDocument/2006/math">
                    <m:r>
                      <a:rPr lang="en-US" b="0" i="1" smtClean="0">
                        <a:solidFill>
                          <a:schemeClr val="bg1"/>
                        </a:solidFill>
                        <a:latin typeface="Cambria Math" panose="02040503050406030204" pitchFamily="18" charset="0"/>
                      </a:rPr>
                      <m:t>𝑏𝑐𝑟𝑦𝑝𝑡</m:t>
                    </m:r>
                  </m:oMath>
                </a14:m>
                <a:r>
                  <a:rPr lang="he-IL" dirty="0">
                    <a:solidFill>
                      <a:schemeClr val="bg1"/>
                    </a:solidFill>
                  </a:rPr>
                  <a:t> עומד על כ-300 מילישניות</a:t>
                </a:r>
              </a:p>
              <a:p>
                <a:pPr>
                  <a:lnSpc>
                    <a:spcPct val="107000"/>
                  </a:lnSpc>
                  <a:spcBef>
                    <a:spcPts val="0"/>
                  </a:spcBef>
                  <a:spcAft>
                    <a:spcPts val="800"/>
                  </a:spcAft>
                  <a:defRPr/>
                </a:pPr>
                <a:r>
                  <a:rPr lang="he-IL" dirty="0">
                    <a:solidFill>
                      <a:schemeClr val="bg1"/>
                    </a:solidFill>
                  </a:rPr>
                  <a:t>פי יותר מ-</a:t>
                </a:r>
                <a14:m>
                  <m:oMath xmlns:m="http://schemas.openxmlformats.org/officeDocument/2006/math">
                    <m:r>
                      <a:rPr lang="en-US" i="1">
                        <a:solidFill>
                          <a:schemeClr val="bg1"/>
                        </a:solidFill>
                        <a:latin typeface="Cambria Math" panose="02040503050406030204" pitchFamily="18" charset="0"/>
                      </a:rPr>
                      <m:t>220</m:t>
                    </m:r>
                  </m:oMath>
                </a14:m>
                <a:r>
                  <a:rPr lang="he-IL" dirty="0">
                    <a:solidFill>
                      <a:schemeClr val="bg1"/>
                    </a:solidFill>
                  </a:rPr>
                  <a:t> מהזמן הממוצע בשיטת הגיבוב </a:t>
                </a:r>
                <a14:m>
                  <m:oMath xmlns:m="http://schemas.openxmlformats.org/officeDocument/2006/math">
                    <m:r>
                      <a:rPr lang="en-US" i="1">
                        <a:solidFill>
                          <a:schemeClr val="bg1"/>
                        </a:solidFill>
                        <a:latin typeface="Cambria Math" panose="02040503050406030204" pitchFamily="18" charset="0"/>
                      </a:rPr>
                      <m:t>𝑠</m:t>
                    </m:r>
                    <m:r>
                      <a:rPr lang="en-US" i="1">
                        <a:solidFill>
                          <a:schemeClr val="bg1"/>
                        </a:solidFill>
                        <a:latin typeface="Cambria Math" panose="02040503050406030204" pitchFamily="18" charset="0"/>
                      </a:rPr>
                      <m:t>h</m:t>
                    </m:r>
                    <m:r>
                      <a:rPr lang="en-US" i="1">
                        <a:solidFill>
                          <a:schemeClr val="bg1"/>
                        </a:solidFill>
                        <a:latin typeface="Cambria Math" panose="02040503050406030204" pitchFamily="18" charset="0"/>
                      </a:rPr>
                      <m:t>𝑎</m:t>
                    </m:r>
                    <m:r>
                      <a:rPr lang="en-US" i="1">
                        <a:solidFill>
                          <a:schemeClr val="bg1"/>
                        </a:solidFill>
                        <a:latin typeface="Cambria Math" panose="02040503050406030204" pitchFamily="18" charset="0"/>
                      </a:rPr>
                      <m:t>−</m:t>
                    </m:r>
                    <m:r>
                      <a:rPr lang="en-US" i="1">
                        <a:solidFill>
                          <a:schemeClr val="bg1"/>
                        </a:solidFill>
                        <a:latin typeface="Cambria Math" panose="02040503050406030204" pitchFamily="18" charset="0"/>
                      </a:rPr>
                      <m:t>256</m:t>
                    </m:r>
                  </m:oMath>
                </a14:m>
                <a:br>
                  <a:rPr lang="he-IL" dirty="0"/>
                </a:br>
                <a:endParaRPr lang="en-US" sz="2400" kern="100" dirty="0">
                  <a:solidFill>
                    <a:schemeClr val="bg1"/>
                  </a:solidFill>
                  <a:latin typeface="Calibri" panose="020F0502020204030204" pitchFamily="34" charset="0"/>
                  <a:ea typeface="Calibri" panose="020F0502020204030204" pitchFamily="34" charset="0"/>
                  <a:cs typeface="Arial" panose="020B0604020202020204" pitchFamily="34" charset="0"/>
                </a:endParaRPr>
              </a:p>
            </p:txBody>
          </p:sp>
        </mc:Choice>
        <mc:Fallback xmlns="">
          <p:sp>
            <p:nvSpPr>
              <p:cNvPr id="3" name="מציין מיקום תוכן 2">
                <a:extLst>
                  <a:ext uri="{FF2B5EF4-FFF2-40B4-BE49-F238E27FC236}">
                    <a16:creationId xmlns:a16="http://schemas.microsoft.com/office/drawing/2014/main" id="{867B567C-7762-5B11-CE40-C13F9BA44EFF}"/>
                  </a:ext>
                </a:extLst>
              </p:cNvPr>
              <p:cNvSpPr txBox="1">
                <a:spLocks noRot="1" noChangeAspect="1" noMove="1" noResize="1" noEditPoints="1" noAdjustHandles="1" noChangeArrowheads="1" noChangeShapeType="1" noTextEdit="1"/>
              </p:cNvSpPr>
              <p:nvPr/>
            </p:nvSpPr>
            <p:spPr>
              <a:xfrm>
                <a:off x="624939" y="1122219"/>
                <a:ext cx="10671478" cy="1801089"/>
              </a:xfrm>
              <a:prstGeom prst="rect">
                <a:avLst/>
              </a:prstGeom>
              <a:blipFill>
                <a:blip r:embed="rId3"/>
                <a:stretch>
                  <a:fillRect t="-3716" r="-914"/>
                </a:stretch>
              </a:blipFill>
            </p:spPr>
            <p:txBody>
              <a:bodyPr/>
              <a:lstStyle/>
              <a:p>
                <a:r>
                  <a:rPr lang="he-IL">
                    <a:noFill/>
                  </a:rPr>
                  <a:t> </a:t>
                </a:r>
              </a:p>
            </p:txBody>
          </p:sp>
        </mc:Fallback>
      </mc:AlternateContent>
      <p:pic>
        <p:nvPicPr>
          <p:cNvPr id="4" name="תמונה 3">
            <a:extLst>
              <a:ext uri="{FF2B5EF4-FFF2-40B4-BE49-F238E27FC236}">
                <a16:creationId xmlns:a16="http://schemas.microsoft.com/office/drawing/2014/main" id="{7CDF992D-2287-98C6-92FF-58E64BFCE529}"/>
              </a:ext>
            </a:extLst>
          </p:cNvPr>
          <p:cNvPicPr>
            <a:picLocks noChangeAspect="1"/>
          </p:cNvPicPr>
          <p:nvPr/>
        </p:nvPicPr>
        <p:blipFill>
          <a:blip r:embed="rId4"/>
          <a:stretch>
            <a:fillRect/>
          </a:stretch>
        </p:blipFill>
        <p:spPr>
          <a:xfrm>
            <a:off x="624939" y="2780405"/>
            <a:ext cx="8931733" cy="3721735"/>
          </a:xfrm>
          <a:prstGeom prst="rect">
            <a:avLst/>
          </a:prstGeom>
        </p:spPr>
      </p:pic>
    </p:spTree>
    <p:extLst>
      <p:ext uri="{BB962C8B-B14F-4D97-AF65-F5344CB8AC3E}">
        <p14:creationId xmlns:p14="http://schemas.microsoft.com/office/powerpoint/2010/main" val="41781084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9000" b="-39000"/>
          </a:stretch>
        </a:blipFill>
        <a:effectLst/>
      </p:bgPr>
    </p:bg>
    <p:spTree>
      <p:nvGrpSpPr>
        <p:cNvPr id="1" name="">
          <a:extLst>
            <a:ext uri="{FF2B5EF4-FFF2-40B4-BE49-F238E27FC236}">
              <a16:creationId xmlns:a16="http://schemas.microsoft.com/office/drawing/2014/main" id="{902219A2-2898-54D7-9C58-C89CF028E2FF}"/>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B5ED4BA3-F538-AD9C-0B2A-EFD2AE7C8C02}"/>
              </a:ext>
            </a:extLst>
          </p:cNvPr>
          <p:cNvSpPr txBox="1">
            <a:spLocks/>
          </p:cNvSpPr>
          <p:nvPr/>
        </p:nvSpPr>
        <p:spPr>
          <a:xfrm>
            <a:off x="985157" y="295582"/>
            <a:ext cx="10515600" cy="662361"/>
          </a:xfrm>
          <a:prstGeom prst="rect">
            <a:avLst/>
          </a:prstGeom>
        </p:spPr>
        <p:txBody>
          <a:bodyPr anchor="t">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sz="4000" dirty="0">
                <a:solidFill>
                  <a:schemeClr val="bg1"/>
                </a:solidFill>
              </a:rPr>
              <a:t>תוצאות וניתוח - שיטת הגיבוב</a:t>
            </a:r>
          </a:p>
        </p:txBody>
      </p: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68DDE2DC-01C7-29EE-2F8A-75709E94CD45}"/>
                  </a:ext>
                </a:extLst>
              </p:cNvPr>
              <p:cNvSpPr txBox="1">
                <a:spLocks/>
              </p:cNvSpPr>
              <p:nvPr/>
            </p:nvSpPr>
            <p:spPr>
              <a:xfrm>
                <a:off x="624939" y="1122219"/>
                <a:ext cx="10671478" cy="1801089"/>
              </a:xfrm>
              <a:prstGeom prst="rect">
                <a:avLst/>
              </a:prstGeom>
            </p:spPr>
            <p:txBody>
              <a:bodyPr>
                <a:normAutofit lnSpcReduction="10000"/>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7000"/>
                  </a:lnSpc>
                  <a:spcBef>
                    <a:spcPts val="0"/>
                  </a:spcBef>
                  <a:spcAft>
                    <a:spcPts val="800"/>
                  </a:spcAft>
                  <a:defRPr/>
                </a:pPr>
                <a:r>
                  <a:rPr lang="he-IL" dirty="0">
                    <a:solidFill>
                      <a:schemeClr val="bg1"/>
                    </a:solidFill>
                  </a:rPr>
                  <a:t>זמן ה-</a:t>
                </a:r>
                <a14:m>
                  <m:oMath xmlns:m="http://schemas.openxmlformats.org/officeDocument/2006/math">
                    <m:r>
                      <a:rPr lang="en-US" i="1">
                        <a:solidFill>
                          <a:schemeClr val="bg1"/>
                        </a:solidFill>
                        <a:latin typeface="Cambria Math" panose="02040503050406030204" pitchFamily="18" charset="0"/>
                      </a:rPr>
                      <m:t>𝑙𝑎𝑡𝑒𝑛𝑐𝑦</m:t>
                    </m:r>
                  </m:oMath>
                </a14:m>
                <a:r>
                  <a:rPr lang="he-IL" dirty="0">
                    <a:solidFill>
                      <a:schemeClr val="bg1"/>
                    </a:solidFill>
                  </a:rPr>
                  <a:t> הממוצע עבור הניסויים בהם נעשה שימוש בשיטת הגיבוב </a:t>
                </a:r>
                <a14:m>
                  <m:oMath xmlns:m="http://schemas.openxmlformats.org/officeDocument/2006/math">
                    <m:r>
                      <a:rPr lang="en-US" i="1">
                        <a:solidFill>
                          <a:schemeClr val="bg1"/>
                        </a:solidFill>
                        <a:latin typeface="Cambria Math" panose="02040503050406030204" pitchFamily="18" charset="0"/>
                      </a:rPr>
                      <m:t>𝑎𝑟𝑔𝑜𝑛</m:t>
                    </m:r>
                    <m:r>
                      <a:rPr lang="en-US" i="1">
                        <a:solidFill>
                          <a:schemeClr val="bg1"/>
                        </a:solidFill>
                        <a:latin typeface="Cambria Math" panose="02040503050406030204" pitchFamily="18" charset="0"/>
                      </a:rPr>
                      <m:t>2</m:t>
                    </m:r>
                    <m:r>
                      <a:rPr lang="en-US" i="1">
                        <a:solidFill>
                          <a:schemeClr val="bg1"/>
                        </a:solidFill>
                        <a:latin typeface="Cambria Math" panose="02040503050406030204" pitchFamily="18" charset="0"/>
                      </a:rPr>
                      <m:t>𝑖𝑑</m:t>
                    </m:r>
                  </m:oMath>
                </a14:m>
                <a:r>
                  <a:rPr lang="he-IL" dirty="0">
                    <a:solidFill>
                      <a:schemeClr val="bg1"/>
                    </a:solidFill>
                  </a:rPr>
                  <a:t> עומד על כ-</a:t>
                </a:r>
                <a14:m>
                  <m:oMath xmlns:m="http://schemas.openxmlformats.org/officeDocument/2006/math">
                    <m:r>
                      <a:rPr lang="en-US" i="1">
                        <a:solidFill>
                          <a:schemeClr val="bg1"/>
                        </a:solidFill>
                        <a:latin typeface="Cambria Math" panose="02040503050406030204" pitchFamily="18" charset="0"/>
                      </a:rPr>
                      <m:t>75</m:t>
                    </m:r>
                  </m:oMath>
                </a14:m>
                <a:r>
                  <a:rPr lang="he-IL" dirty="0">
                    <a:solidFill>
                      <a:schemeClr val="bg1"/>
                    </a:solidFill>
                  </a:rPr>
                  <a:t> מילישניות. מהיר יותר מהשיטה הקודמת אך איטי בהרבה מהשיטה הראשונה</a:t>
                </a:r>
                <a:br>
                  <a:rPr lang="he-IL" dirty="0"/>
                </a:br>
                <a:endParaRPr lang="en-US" sz="2400" kern="100" dirty="0">
                  <a:solidFill>
                    <a:schemeClr val="bg1"/>
                  </a:solidFill>
                  <a:latin typeface="Calibri" panose="020F0502020204030204" pitchFamily="34" charset="0"/>
                  <a:ea typeface="Calibri" panose="020F0502020204030204" pitchFamily="34" charset="0"/>
                  <a:cs typeface="Arial" panose="020B0604020202020204" pitchFamily="34" charset="0"/>
                </a:endParaRPr>
              </a:p>
            </p:txBody>
          </p:sp>
        </mc:Choice>
        <mc:Fallback xmlns="">
          <p:sp>
            <p:nvSpPr>
              <p:cNvPr id="3" name="מציין מיקום תוכן 2">
                <a:extLst>
                  <a:ext uri="{FF2B5EF4-FFF2-40B4-BE49-F238E27FC236}">
                    <a16:creationId xmlns:a16="http://schemas.microsoft.com/office/drawing/2014/main" id="{68DDE2DC-01C7-29EE-2F8A-75709E94CD45}"/>
                  </a:ext>
                </a:extLst>
              </p:cNvPr>
              <p:cNvSpPr txBox="1">
                <a:spLocks noRot="1" noChangeAspect="1" noMove="1" noResize="1" noEditPoints="1" noAdjustHandles="1" noChangeArrowheads="1" noChangeShapeType="1" noTextEdit="1"/>
              </p:cNvSpPr>
              <p:nvPr/>
            </p:nvSpPr>
            <p:spPr>
              <a:xfrm>
                <a:off x="624939" y="1122219"/>
                <a:ext cx="10671478" cy="1801089"/>
              </a:xfrm>
              <a:prstGeom prst="rect">
                <a:avLst/>
              </a:prstGeom>
              <a:blipFill>
                <a:blip r:embed="rId3"/>
                <a:stretch>
                  <a:fillRect l="-1429" t="-4054" r="-1086"/>
                </a:stretch>
              </a:blipFill>
            </p:spPr>
            <p:txBody>
              <a:bodyPr/>
              <a:lstStyle/>
              <a:p>
                <a:r>
                  <a:rPr lang="he-IL">
                    <a:noFill/>
                  </a:rPr>
                  <a:t> </a:t>
                </a:r>
              </a:p>
            </p:txBody>
          </p:sp>
        </mc:Fallback>
      </mc:AlternateContent>
      <p:pic>
        <p:nvPicPr>
          <p:cNvPr id="4" name="תמונה 3">
            <a:extLst>
              <a:ext uri="{FF2B5EF4-FFF2-40B4-BE49-F238E27FC236}">
                <a16:creationId xmlns:a16="http://schemas.microsoft.com/office/drawing/2014/main" id="{1FAC0F2E-C73C-C2D2-2ABB-E23993CE0CCA}"/>
              </a:ext>
            </a:extLst>
          </p:cNvPr>
          <p:cNvPicPr>
            <a:picLocks noChangeAspect="1"/>
          </p:cNvPicPr>
          <p:nvPr/>
        </p:nvPicPr>
        <p:blipFill>
          <a:blip r:embed="rId4"/>
          <a:stretch>
            <a:fillRect/>
          </a:stretch>
        </p:blipFill>
        <p:spPr>
          <a:xfrm>
            <a:off x="624939" y="2780405"/>
            <a:ext cx="8931733" cy="3721735"/>
          </a:xfrm>
          <a:prstGeom prst="rect">
            <a:avLst/>
          </a:prstGeom>
        </p:spPr>
      </p:pic>
    </p:spTree>
    <p:extLst>
      <p:ext uri="{BB962C8B-B14F-4D97-AF65-F5344CB8AC3E}">
        <p14:creationId xmlns:p14="http://schemas.microsoft.com/office/powerpoint/2010/main" val="1882874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9000" b="-39000"/>
          </a:stretch>
        </a:blipFill>
        <a:effectLst/>
      </p:bgPr>
    </p:bg>
    <p:spTree>
      <p:nvGrpSpPr>
        <p:cNvPr id="1" name="">
          <a:extLst>
            <a:ext uri="{FF2B5EF4-FFF2-40B4-BE49-F238E27FC236}">
              <a16:creationId xmlns:a16="http://schemas.microsoft.com/office/drawing/2014/main" id="{18423F03-0CCB-AA87-C903-176B3F0B0547}"/>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B1203080-D5E8-7E70-49E9-C5E2F0108C62}"/>
              </a:ext>
            </a:extLst>
          </p:cNvPr>
          <p:cNvSpPr txBox="1">
            <a:spLocks/>
          </p:cNvSpPr>
          <p:nvPr/>
        </p:nvSpPr>
        <p:spPr>
          <a:xfrm>
            <a:off x="985157" y="295582"/>
            <a:ext cx="10515600" cy="662361"/>
          </a:xfrm>
          <a:prstGeom prst="rect">
            <a:avLst/>
          </a:prstGeom>
        </p:spPr>
        <p:txBody>
          <a:bodyPr anchor="t">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sz="4000" dirty="0">
                <a:solidFill>
                  <a:schemeClr val="bg1"/>
                </a:solidFill>
              </a:rPr>
              <a:t>תוצאות וניתוח - אינטרפולציה</a:t>
            </a:r>
          </a:p>
        </p:txBody>
      </p:sp>
      <p:pic>
        <p:nvPicPr>
          <p:cNvPr id="4" name="תמונה 3">
            <a:extLst>
              <a:ext uri="{FF2B5EF4-FFF2-40B4-BE49-F238E27FC236}">
                <a16:creationId xmlns:a16="http://schemas.microsoft.com/office/drawing/2014/main" id="{E67FAA09-9835-7B8F-4164-5B5536AB117C}"/>
              </a:ext>
            </a:extLst>
          </p:cNvPr>
          <p:cNvPicPr>
            <a:picLocks noChangeAspect="1"/>
          </p:cNvPicPr>
          <p:nvPr/>
        </p:nvPicPr>
        <p:blipFill>
          <a:blip r:embed="rId3"/>
          <a:stretch>
            <a:fillRect/>
          </a:stretch>
        </p:blipFill>
        <p:spPr>
          <a:xfrm>
            <a:off x="624939" y="2780405"/>
            <a:ext cx="8931733" cy="3721735"/>
          </a:xfrm>
          <a:prstGeom prst="rect">
            <a:avLst/>
          </a:prstGeom>
        </p:spPr>
      </p:pic>
      <p:graphicFrame>
        <p:nvGraphicFramePr>
          <p:cNvPr id="5" name="טבלה 4">
            <a:extLst>
              <a:ext uri="{FF2B5EF4-FFF2-40B4-BE49-F238E27FC236}">
                <a16:creationId xmlns:a16="http://schemas.microsoft.com/office/drawing/2014/main" id="{C39BDD89-129F-E3F0-065F-AF3C54490DCD}"/>
              </a:ext>
            </a:extLst>
          </p:cNvPr>
          <p:cNvGraphicFramePr>
            <a:graphicFrameLocks noGrp="1"/>
          </p:cNvGraphicFramePr>
          <p:nvPr>
            <p:extLst>
              <p:ext uri="{D42A27DB-BD31-4B8C-83A1-F6EECF244321}">
                <p14:modId xmlns:p14="http://schemas.microsoft.com/office/powerpoint/2010/main" val="3927427524"/>
              </p:ext>
            </p:extLst>
          </p:nvPr>
        </p:nvGraphicFramePr>
        <p:xfrm>
          <a:off x="624939" y="1143324"/>
          <a:ext cx="5900552" cy="1357743"/>
        </p:xfrm>
        <a:graphic>
          <a:graphicData uri="http://schemas.openxmlformats.org/drawingml/2006/table">
            <a:tbl>
              <a:tblPr firstRow="1" firstCol="1" bandRow="1">
                <a:tableStyleId>{5C22544A-7EE6-4342-B048-85BDC9FD1C3A}</a:tableStyleId>
              </a:tblPr>
              <a:tblGrid>
                <a:gridCol w="1418684">
                  <a:extLst>
                    <a:ext uri="{9D8B030D-6E8A-4147-A177-3AD203B41FA5}">
                      <a16:colId xmlns:a16="http://schemas.microsoft.com/office/drawing/2014/main" val="459229847"/>
                    </a:ext>
                  </a:extLst>
                </a:gridCol>
                <a:gridCol w="1197421">
                  <a:extLst>
                    <a:ext uri="{9D8B030D-6E8A-4147-A177-3AD203B41FA5}">
                      <a16:colId xmlns:a16="http://schemas.microsoft.com/office/drawing/2014/main" val="592623788"/>
                    </a:ext>
                  </a:extLst>
                </a:gridCol>
                <a:gridCol w="1587884">
                  <a:extLst>
                    <a:ext uri="{9D8B030D-6E8A-4147-A177-3AD203B41FA5}">
                      <a16:colId xmlns:a16="http://schemas.microsoft.com/office/drawing/2014/main" val="3275900518"/>
                    </a:ext>
                  </a:extLst>
                </a:gridCol>
                <a:gridCol w="1696563">
                  <a:extLst>
                    <a:ext uri="{9D8B030D-6E8A-4147-A177-3AD203B41FA5}">
                      <a16:colId xmlns:a16="http://schemas.microsoft.com/office/drawing/2014/main" val="544323308"/>
                    </a:ext>
                  </a:extLst>
                </a:gridCol>
              </a:tblGrid>
              <a:tr h="386404">
                <a:tc>
                  <a:txBody>
                    <a:bodyPr/>
                    <a:lstStyle/>
                    <a:p>
                      <a:pPr algn="l" rtl="0">
                        <a:lnSpc>
                          <a:spcPct val="107000"/>
                        </a:lnSpc>
                        <a:spcAft>
                          <a:spcPts val="800"/>
                        </a:spcAft>
                        <a:buNone/>
                      </a:pPr>
                      <a:r>
                        <a:rPr lang="en-US" sz="1100" kern="100">
                          <a:effectLst/>
                        </a:rPr>
                        <a:t>Hash Mode/ Strength</a:t>
                      </a:r>
                      <a:endParaRPr lang="en-U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l" rtl="0">
                        <a:lnSpc>
                          <a:spcPct val="107000"/>
                        </a:lnSpc>
                        <a:spcAft>
                          <a:spcPts val="800"/>
                        </a:spcAft>
                        <a:buNone/>
                      </a:pPr>
                      <a:r>
                        <a:rPr lang="en-US" sz="1100" kern="100">
                          <a:effectLst/>
                        </a:rPr>
                        <a:t>Weak</a:t>
                      </a:r>
                      <a:endParaRPr lang="en-U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l" rtl="0">
                        <a:lnSpc>
                          <a:spcPct val="107000"/>
                        </a:lnSpc>
                        <a:spcAft>
                          <a:spcPts val="800"/>
                        </a:spcAft>
                        <a:buNone/>
                      </a:pPr>
                      <a:r>
                        <a:rPr lang="en-US" sz="1100" kern="100">
                          <a:effectLst/>
                        </a:rPr>
                        <a:t>Medium</a:t>
                      </a:r>
                      <a:endParaRPr lang="en-U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l" rtl="0">
                        <a:lnSpc>
                          <a:spcPct val="107000"/>
                        </a:lnSpc>
                        <a:spcAft>
                          <a:spcPts val="800"/>
                        </a:spcAft>
                        <a:buNone/>
                      </a:pPr>
                      <a:r>
                        <a:rPr lang="en-US" sz="1100" kern="100">
                          <a:effectLst/>
                        </a:rPr>
                        <a:t>Strong</a:t>
                      </a:r>
                      <a:endParaRPr lang="en-U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974863374"/>
                  </a:ext>
                </a:extLst>
              </a:tr>
              <a:tr h="198531">
                <a:tc>
                  <a:txBody>
                    <a:bodyPr/>
                    <a:lstStyle/>
                    <a:p>
                      <a:pPr algn="l" rtl="0">
                        <a:lnSpc>
                          <a:spcPct val="107000"/>
                        </a:lnSpc>
                        <a:spcAft>
                          <a:spcPts val="800"/>
                        </a:spcAft>
                        <a:buNone/>
                      </a:pPr>
                      <a:r>
                        <a:rPr lang="en-US" sz="1100" kern="100">
                          <a:effectLst/>
                        </a:rPr>
                        <a:t>Sha-256</a:t>
                      </a:r>
                      <a:endParaRPr lang="en-U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l" rtl="0">
                        <a:lnSpc>
                          <a:spcPct val="107000"/>
                        </a:lnSpc>
                        <a:spcAft>
                          <a:spcPts val="800"/>
                        </a:spcAft>
                        <a:buNone/>
                      </a:pPr>
                      <a:r>
                        <a:rPr lang="en-US" sz="1100" kern="100">
                          <a:effectLst/>
                        </a:rPr>
                        <a:t>1.4762 minutes</a:t>
                      </a:r>
                      <a:endParaRPr lang="en-U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l" rtl="0">
                        <a:lnSpc>
                          <a:spcPct val="107000"/>
                        </a:lnSpc>
                        <a:spcAft>
                          <a:spcPts val="800"/>
                        </a:spcAft>
                        <a:buNone/>
                      </a:pPr>
                      <a:r>
                        <a:rPr lang="en-US" sz="1100" kern="100">
                          <a:effectLst/>
                        </a:rPr>
                        <a:t>144,595,636 years</a:t>
                      </a:r>
                      <a:endParaRPr lang="en-U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l" rtl="0">
                        <a:lnSpc>
                          <a:spcPct val="107000"/>
                        </a:lnSpc>
                        <a:spcAft>
                          <a:spcPts val="800"/>
                        </a:spcAft>
                        <a:buNone/>
                      </a:pPr>
                      <a:r>
                        <a:rPr lang="en-US" sz="1100" kern="100" dirty="0">
                          <a:effectLst/>
                        </a:rPr>
                        <a:t>136000000000000 years</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339610867"/>
                  </a:ext>
                </a:extLst>
              </a:tr>
              <a:tr h="386404">
                <a:tc>
                  <a:txBody>
                    <a:bodyPr/>
                    <a:lstStyle/>
                    <a:p>
                      <a:pPr algn="l" rtl="0">
                        <a:lnSpc>
                          <a:spcPct val="107000"/>
                        </a:lnSpc>
                        <a:spcAft>
                          <a:spcPts val="800"/>
                        </a:spcAft>
                        <a:buNone/>
                      </a:pPr>
                      <a:r>
                        <a:rPr lang="en-US" sz="1100" kern="100">
                          <a:effectLst/>
                        </a:rPr>
                        <a:t>Bcrypt</a:t>
                      </a:r>
                      <a:endParaRPr lang="en-U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l" rtl="0">
                        <a:lnSpc>
                          <a:spcPct val="107000"/>
                        </a:lnSpc>
                        <a:spcAft>
                          <a:spcPts val="800"/>
                        </a:spcAft>
                        <a:buNone/>
                      </a:pPr>
                      <a:r>
                        <a:rPr lang="en-US" sz="1100" kern="100">
                          <a:effectLst/>
                        </a:rPr>
                        <a:t>5.4675 hours</a:t>
                      </a:r>
                      <a:endParaRPr lang="en-U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l" rtl="0">
                        <a:lnSpc>
                          <a:spcPct val="107000"/>
                        </a:lnSpc>
                        <a:spcAft>
                          <a:spcPts val="800"/>
                        </a:spcAft>
                        <a:buNone/>
                      </a:pPr>
                      <a:r>
                        <a:rPr lang="en-US" sz="1100" kern="100">
                          <a:effectLst/>
                        </a:rPr>
                        <a:t>32132365001 years</a:t>
                      </a:r>
                      <a:endParaRPr lang="en-U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l" rtl="0">
                        <a:lnSpc>
                          <a:spcPct val="107000"/>
                        </a:lnSpc>
                        <a:spcAft>
                          <a:spcPts val="800"/>
                        </a:spcAft>
                        <a:buNone/>
                      </a:pPr>
                      <a:r>
                        <a:rPr lang="en-US" sz="1100" kern="100">
                          <a:effectLst/>
                        </a:rPr>
                        <a:t>3023400000000000 years</a:t>
                      </a:r>
                      <a:endParaRPr lang="en-U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433208340"/>
                  </a:ext>
                </a:extLst>
              </a:tr>
              <a:tr h="386404">
                <a:tc>
                  <a:txBody>
                    <a:bodyPr/>
                    <a:lstStyle/>
                    <a:p>
                      <a:pPr algn="l" rtl="0">
                        <a:lnSpc>
                          <a:spcPct val="107000"/>
                        </a:lnSpc>
                        <a:spcAft>
                          <a:spcPts val="800"/>
                        </a:spcAft>
                        <a:buNone/>
                      </a:pPr>
                      <a:r>
                        <a:rPr lang="en-US" sz="1100" kern="100">
                          <a:effectLst/>
                        </a:rPr>
                        <a:t>Argon2id</a:t>
                      </a:r>
                      <a:endParaRPr lang="en-U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l" rtl="0">
                        <a:lnSpc>
                          <a:spcPct val="107000"/>
                        </a:lnSpc>
                        <a:spcAft>
                          <a:spcPts val="800"/>
                        </a:spcAft>
                        <a:buNone/>
                      </a:pPr>
                      <a:r>
                        <a:rPr lang="en-US" sz="1100" kern="100">
                          <a:effectLst/>
                        </a:rPr>
                        <a:t>1.366875 hours</a:t>
                      </a:r>
                      <a:endParaRPr lang="en-U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l" rtl="0">
                        <a:lnSpc>
                          <a:spcPct val="107000"/>
                        </a:lnSpc>
                        <a:spcAft>
                          <a:spcPts val="800"/>
                        </a:spcAft>
                        <a:buNone/>
                      </a:pPr>
                      <a:r>
                        <a:rPr lang="en-US" sz="1100" kern="100">
                          <a:effectLst/>
                        </a:rPr>
                        <a:t>8033090920 years</a:t>
                      </a:r>
                      <a:endParaRPr lang="en-US"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l" rtl="0">
                        <a:lnSpc>
                          <a:spcPct val="107000"/>
                        </a:lnSpc>
                        <a:spcAft>
                          <a:spcPts val="800"/>
                        </a:spcAft>
                        <a:buNone/>
                      </a:pPr>
                      <a:r>
                        <a:rPr lang="en-US" sz="1100" kern="100" dirty="0">
                          <a:effectLst/>
                        </a:rPr>
                        <a:t>7558500000000000 years</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595065965"/>
                  </a:ext>
                </a:extLst>
              </a:tr>
            </a:tbl>
          </a:graphicData>
        </a:graphic>
      </p:graphicFrame>
    </p:spTree>
    <p:extLst>
      <p:ext uri="{BB962C8B-B14F-4D97-AF65-F5344CB8AC3E}">
        <p14:creationId xmlns:p14="http://schemas.microsoft.com/office/powerpoint/2010/main" val="28474358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9000" b="-39000"/>
          </a:stretch>
        </a:blipFill>
        <a:effectLst/>
      </p:bgPr>
    </p:bg>
    <p:spTree>
      <p:nvGrpSpPr>
        <p:cNvPr id="1" name="">
          <a:extLst>
            <a:ext uri="{FF2B5EF4-FFF2-40B4-BE49-F238E27FC236}">
              <a16:creationId xmlns:a16="http://schemas.microsoft.com/office/drawing/2014/main" id="{AA5608C6-936C-63D5-B010-937B8250BBF5}"/>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1D3D6978-3B33-A9CB-CBC6-48713B0FA35A}"/>
              </a:ext>
            </a:extLst>
          </p:cNvPr>
          <p:cNvSpPr txBox="1">
            <a:spLocks/>
          </p:cNvSpPr>
          <p:nvPr/>
        </p:nvSpPr>
        <p:spPr>
          <a:xfrm>
            <a:off x="985157" y="295582"/>
            <a:ext cx="10515600" cy="662361"/>
          </a:xfrm>
          <a:prstGeom prst="rect">
            <a:avLst/>
          </a:prstGeom>
        </p:spPr>
        <p:txBody>
          <a:bodyPr anchor="t">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sz="4000" dirty="0">
                <a:solidFill>
                  <a:schemeClr val="bg1"/>
                </a:solidFill>
              </a:rPr>
              <a:t>תוצאות וניתוח – חוזק הסיסמה</a:t>
            </a:r>
          </a:p>
        </p:txBody>
      </p:sp>
      <p:sp>
        <p:nvSpPr>
          <p:cNvPr id="3" name="מציין מיקום תוכן 2">
            <a:extLst>
              <a:ext uri="{FF2B5EF4-FFF2-40B4-BE49-F238E27FC236}">
                <a16:creationId xmlns:a16="http://schemas.microsoft.com/office/drawing/2014/main" id="{95E5DDF7-3418-D6CB-10E9-CA94345B4248}"/>
              </a:ext>
            </a:extLst>
          </p:cNvPr>
          <p:cNvSpPr txBox="1">
            <a:spLocks/>
          </p:cNvSpPr>
          <p:nvPr/>
        </p:nvSpPr>
        <p:spPr>
          <a:xfrm>
            <a:off x="624939" y="1122219"/>
            <a:ext cx="10671478" cy="1801089"/>
          </a:xfrm>
          <a:prstGeom prst="rect">
            <a:avLst/>
          </a:prstGeom>
        </p:spPr>
        <p:txBody>
          <a:bodyPr>
            <a:normAutofit lnSpcReduction="10000"/>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7000"/>
              </a:lnSpc>
              <a:spcBef>
                <a:spcPts val="0"/>
              </a:spcBef>
              <a:spcAft>
                <a:spcPts val="800"/>
              </a:spcAft>
              <a:defRPr/>
            </a:pPr>
            <a:r>
              <a:rPr lang="he-IL" dirty="0">
                <a:solidFill>
                  <a:schemeClr val="bg1"/>
                </a:solidFill>
              </a:rPr>
              <a:t>הגורמים העיקרים להארכת זמן ה-</a:t>
            </a:r>
            <a:r>
              <a:rPr lang="en-US" dirty="0">
                <a:solidFill>
                  <a:schemeClr val="bg1"/>
                </a:solidFill>
              </a:rPr>
              <a:t>latency</a:t>
            </a:r>
            <a:r>
              <a:rPr lang="he-IL" dirty="0">
                <a:solidFill>
                  <a:schemeClr val="bg1"/>
                </a:solidFill>
              </a:rPr>
              <a:t> הם ההגנות הפועלות ושיטת הגיבוב</a:t>
            </a:r>
          </a:p>
          <a:p>
            <a:pPr>
              <a:lnSpc>
                <a:spcPct val="107000"/>
              </a:lnSpc>
              <a:spcBef>
                <a:spcPts val="0"/>
              </a:spcBef>
              <a:spcAft>
                <a:spcPts val="800"/>
              </a:spcAft>
              <a:defRPr/>
            </a:pPr>
            <a:r>
              <a:rPr lang="he-IL" dirty="0">
                <a:solidFill>
                  <a:schemeClr val="bg1"/>
                </a:solidFill>
              </a:rPr>
              <a:t>חוזק הסיסמה כמעט וזניח ביחס לזמן החישוב</a:t>
            </a:r>
            <a:br>
              <a:rPr lang="he-IL" dirty="0"/>
            </a:br>
            <a:endParaRPr lang="en-US" sz="2400" kern="100" dirty="0">
              <a:solidFill>
                <a:schemeClr val="bg1"/>
              </a:solidFill>
              <a:latin typeface="Calibri" panose="020F0502020204030204" pitchFamily="34" charset="0"/>
              <a:ea typeface="Calibri" panose="020F0502020204030204" pitchFamily="34" charset="0"/>
              <a:cs typeface="Arial" panose="020B0604020202020204" pitchFamily="34" charset="0"/>
            </a:endParaRPr>
          </a:p>
        </p:txBody>
      </p:sp>
      <p:pic>
        <p:nvPicPr>
          <p:cNvPr id="7" name="תמונה 6">
            <a:extLst>
              <a:ext uri="{FF2B5EF4-FFF2-40B4-BE49-F238E27FC236}">
                <a16:creationId xmlns:a16="http://schemas.microsoft.com/office/drawing/2014/main" id="{29A77365-FDE6-71F0-F3C6-45B0450D6CF2}"/>
              </a:ext>
            </a:extLst>
          </p:cNvPr>
          <p:cNvPicPr>
            <a:picLocks noChangeAspect="1"/>
          </p:cNvPicPr>
          <p:nvPr/>
        </p:nvPicPr>
        <p:blipFill>
          <a:blip r:embed="rId3"/>
          <a:stretch>
            <a:fillRect/>
          </a:stretch>
        </p:blipFill>
        <p:spPr>
          <a:xfrm>
            <a:off x="624939" y="2780405"/>
            <a:ext cx="8931733" cy="3721735"/>
          </a:xfrm>
          <a:prstGeom prst="rect">
            <a:avLst/>
          </a:prstGeom>
        </p:spPr>
      </p:pic>
    </p:spTree>
    <p:extLst>
      <p:ext uri="{BB962C8B-B14F-4D97-AF65-F5344CB8AC3E}">
        <p14:creationId xmlns:p14="http://schemas.microsoft.com/office/powerpoint/2010/main" val="40661157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9000" b="-39000"/>
          </a:stretch>
        </a:blipFill>
        <a:effectLst/>
      </p:bgPr>
    </p:bg>
    <p:spTree>
      <p:nvGrpSpPr>
        <p:cNvPr id="1" name="">
          <a:extLst>
            <a:ext uri="{FF2B5EF4-FFF2-40B4-BE49-F238E27FC236}">
              <a16:creationId xmlns:a16="http://schemas.microsoft.com/office/drawing/2014/main" id="{C0D5469C-B760-2BC9-4850-C6D066E29046}"/>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E78C4E1A-01B3-9614-20D6-44C403AF4799}"/>
              </a:ext>
            </a:extLst>
          </p:cNvPr>
          <p:cNvSpPr txBox="1">
            <a:spLocks/>
          </p:cNvSpPr>
          <p:nvPr/>
        </p:nvSpPr>
        <p:spPr>
          <a:xfrm>
            <a:off x="985157" y="295582"/>
            <a:ext cx="10515600" cy="662361"/>
          </a:xfrm>
          <a:prstGeom prst="rect">
            <a:avLst/>
          </a:prstGeom>
        </p:spPr>
        <p:txBody>
          <a:bodyPr anchor="t">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sz="4000" dirty="0">
                <a:solidFill>
                  <a:schemeClr val="bg1"/>
                </a:solidFill>
              </a:rPr>
              <a:t>תוצאות וניתוח – חוזק הסיסמה</a:t>
            </a:r>
          </a:p>
        </p:txBody>
      </p:sp>
      <p:sp>
        <p:nvSpPr>
          <p:cNvPr id="3" name="מציין מיקום תוכן 2">
            <a:extLst>
              <a:ext uri="{FF2B5EF4-FFF2-40B4-BE49-F238E27FC236}">
                <a16:creationId xmlns:a16="http://schemas.microsoft.com/office/drawing/2014/main" id="{22C7F092-CAA6-183A-34D2-3EA1B6E9AC51}"/>
              </a:ext>
            </a:extLst>
          </p:cNvPr>
          <p:cNvSpPr txBox="1">
            <a:spLocks/>
          </p:cNvSpPr>
          <p:nvPr/>
        </p:nvSpPr>
        <p:spPr>
          <a:xfrm>
            <a:off x="624939" y="1122219"/>
            <a:ext cx="10671478" cy="1801089"/>
          </a:xfrm>
          <a:prstGeom prst="rect">
            <a:avLst/>
          </a:prstGeom>
        </p:spPr>
        <p:txBody>
          <a:bodyPr>
            <a:normAutofit fontScale="92500" lnSpcReduction="10000"/>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7000"/>
              </a:lnSpc>
              <a:spcBef>
                <a:spcPts val="0"/>
              </a:spcBef>
              <a:spcAft>
                <a:spcPts val="800"/>
              </a:spcAft>
              <a:defRPr/>
            </a:pPr>
            <a:r>
              <a:rPr lang="he-IL" dirty="0">
                <a:solidFill>
                  <a:schemeClr val="bg1"/>
                </a:solidFill>
              </a:rPr>
              <a:t>זמן חישוב תלוי בשיטת הגיבוב</a:t>
            </a:r>
          </a:p>
          <a:p>
            <a:pPr>
              <a:lnSpc>
                <a:spcPct val="107000"/>
              </a:lnSpc>
              <a:spcBef>
                <a:spcPts val="0"/>
              </a:spcBef>
              <a:spcAft>
                <a:spcPts val="800"/>
              </a:spcAft>
              <a:defRPr/>
            </a:pPr>
            <a:r>
              <a:rPr lang="he-IL" dirty="0">
                <a:solidFill>
                  <a:schemeClr val="bg1"/>
                </a:solidFill>
              </a:rPr>
              <a:t>מרחב הסיסמאות החלשות הוא 65610</a:t>
            </a:r>
          </a:p>
          <a:p>
            <a:pPr>
              <a:lnSpc>
                <a:spcPct val="107000"/>
              </a:lnSpc>
              <a:spcBef>
                <a:spcPts val="0"/>
              </a:spcBef>
              <a:spcAft>
                <a:spcPts val="800"/>
              </a:spcAft>
              <a:defRPr/>
            </a:pPr>
            <a:r>
              <a:rPr lang="he-IL" dirty="0">
                <a:solidFill>
                  <a:schemeClr val="bg1"/>
                </a:solidFill>
              </a:rPr>
              <a:t>בממוצע נדרשו 19625 ניסיונות (כשלושים אחוז ממרחב הסיסמאות החלשות)</a:t>
            </a:r>
            <a:br>
              <a:rPr lang="he-IL" dirty="0"/>
            </a:br>
            <a:endParaRPr lang="en-US" sz="2400" kern="100" dirty="0">
              <a:solidFill>
                <a:schemeClr val="bg1"/>
              </a:solidFill>
              <a:latin typeface="Calibri" panose="020F0502020204030204" pitchFamily="34" charset="0"/>
              <a:ea typeface="Calibri" panose="020F0502020204030204" pitchFamily="34" charset="0"/>
              <a:cs typeface="Arial" panose="020B0604020202020204" pitchFamily="34" charset="0"/>
            </a:endParaRPr>
          </a:p>
        </p:txBody>
      </p:sp>
      <p:pic>
        <p:nvPicPr>
          <p:cNvPr id="5" name="תמונה 4">
            <a:extLst>
              <a:ext uri="{FF2B5EF4-FFF2-40B4-BE49-F238E27FC236}">
                <a16:creationId xmlns:a16="http://schemas.microsoft.com/office/drawing/2014/main" id="{99E474DB-63BD-9567-D7E4-24F3DF67F81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0108" y="2923308"/>
            <a:ext cx="3014691" cy="3354682"/>
          </a:xfrm>
          <a:prstGeom prst="rect">
            <a:avLst/>
          </a:prstGeom>
          <a:noFill/>
          <a:ln>
            <a:noFill/>
          </a:ln>
        </p:spPr>
      </p:pic>
      <p:pic>
        <p:nvPicPr>
          <p:cNvPr id="6" name="תמונה 5">
            <a:extLst>
              <a:ext uri="{FF2B5EF4-FFF2-40B4-BE49-F238E27FC236}">
                <a16:creationId xmlns:a16="http://schemas.microsoft.com/office/drawing/2014/main" id="{118871EC-5526-7EEC-E4E3-13B93D8418AB}"/>
              </a:ext>
            </a:extLst>
          </p:cNvPr>
          <p:cNvPicPr>
            <a:picLocks noChangeAspect="1"/>
          </p:cNvPicPr>
          <p:nvPr/>
        </p:nvPicPr>
        <p:blipFill>
          <a:blip r:embed="rId4"/>
          <a:stretch>
            <a:fillRect/>
          </a:stretch>
        </p:blipFill>
        <p:spPr>
          <a:xfrm>
            <a:off x="4589967" y="3087584"/>
            <a:ext cx="6887359" cy="2869871"/>
          </a:xfrm>
          <a:prstGeom prst="rect">
            <a:avLst/>
          </a:prstGeom>
        </p:spPr>
      </p:pic>
    </p:spTree>
    <p:extLst>
      <p:ext uri="{BB962C8B-B14F-4D97-AF65-F5344CB8AC3E}">
        <p14:creationId xmlns:p14="http://schemas.microsoft.com/office/powerpoint/2010/main" val="37420185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39000" b="-39000"/>
          </a:stretch>
        </a:blipFill>
        <a:effectLst/>
      </p:bgPr>
    </p:bg>
    <p:spTree>
      <p:nvGrpSpPr>
        <p:cNvPr id="1" name="">
          <a:extLst>
            <a:ext uri="{FF2B5EF4-FFF2-40B4-BE49-F238E27FC236}">
              <a16:creationId xmlns:a16="http://schemas.microsoft.com/office/drawing/2014/main" id="{996023E2-20AD-8D39-93AB-185AE651FD41}"/>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76C09BD9-35AC-F0D3-9A94-4C9419D385B4}"/>
              </a:ext>
            </a:extLst>
          </p:cNvPr>
          <p:cNvSpPr txBox="1">
            <a:spLocks/>
          </p:cNvSpPr>
          <p:nvPr/>
        </p:nvSpPr>
        <p:spPr>
          <a:xfrm>
            <a:off x="985157" y="295582"/>
            <a:ext cx="10515600" cy="662361"/>
          </a:xfrm>
          <a:prstGeom prst="rect">
            <a:avLst/>
          </a:prstGeom>
        </p:spPr>
        <p:txBody>
          <a:bodyPr anchor="t">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sz="4000" dirty="0">
                <a:solidFill>
                  <a:schemeClr val="bg1"/>
                </a:solidFill>
              </a:rPr>
              <a:t>תוצאות וניתוח – גורם עצירת המתקפה</a:t>
            </a:r>
          </a:p>
        </p:txBody>
      </p: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CFFF9393-8355-8892-AA69-5F949C73C45B}"/>
                  </a:ext>
                </a:extLst>
              </p:cNvPr>
              <p:cNvSpPr txBox="1">
                <a:spLocks/>
              </p:cNvSpPr>
              <p:nvPr/>
            </p:nvSpPr>
            <p:spPr>
              <a:xfrm>
                <a:off x="624939" y="1122219"/>
                <a:ext cx="10671478" cy="2078181"/>
              </a:xfrm>
              <a:prstGeom prst="rect">
                <a:avLst/>
              </a:prstGeom>
            </p:spPr>
            <p:txBody>
              <a:bodyPr>
                <a:normAutofit fontScale="85000" lnSpcReduction="20000"/>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7000"/>
                  </a:lnSpc>
                  <a:spcBef>
                    <a:spcPts val="0"/>
                  </a:spcBef>
                  <a:spcAft>
                    <a:spcPts val="800"/>
                  </a:spcAft>
                  <a:defRPr/>
                </a:pPr>
                <a:r>
                  <a:rPr lang="he-IL" dirty="0">
                    <a:solidFill>
                      <a:schemeClr val="bg1"/>
                    </a:solidFill>
                  </a:rPr>
                  <a:t>5 ניסויים מבין ה-27 הצליחו – כולם כנגד משתמש חלש</a:t>
                </a:r>
              </a:p>
              <a:p>
                <a:pPr>
                  <a:lnSpc>
                    <a:spcPct val="107000"/>
                  </a:lnSpc>
                  <a:spcBef>
                    <a:spcPts val="0"/>
                  </a:spcBef>
                  <a:spcAft>
                    <a:spcPts val="800"/>
                  </a:spcAft>
                  <a:defRPr/>
                </a:pPr>
                <a:r>
                  <a:rPr lang="he-IL" dirty="0">
                    <a:solidFill>
                      <a:schemeClr val="bg1"/>
                    </a:solidFill>
                  </a:rPr>
                  <a:t>13 ניסויים מבין ה-27 הגיעו למספר ניסיונות מרבי</a:t>
                </a:r>
              </a:p>
              <a:p>
                <a:pPr>
                  <a:lnSpc>
                    <a:spcPct val="107000"/>
                  </a:lnSpc>
                  <a:spcBef>
                    <a:spcPts val="0"/>
                  </a:spcBef>
                  <a:spcAft>
                    <a:spcPts val="800"/>
                  </a:spcAft>
                  <a:defRPr/>
                </a:pPr>
                <a:r>
                  <a:rPr lang="he-IL" dirty="0">
                    <a:solidFill>
                      <a:schemeClr val="bg1"/>
                    </a:solidFill>
                  </a:rPr>
                  <a:t>5 ניסויים מבין ה-27 הסתיימו עקב חסימת משתמש/כתובת </a:t>
                </a:r>
                <a:r>
                  <a:rPr lang="en-US" dirty="0">
                    <a:solidFill>
                      <a:schemeClr val="bg1"/>
                    </a:solidFill>
                  </a:rPr>
                  <a:t>IP</a:t>
                </a:r>
              </a:p>
              <a:p>
                <a:pPr>
                  <a:lnSpc>
                    <a:spcPct val="107000"/>
                  </a:lnSpc>
                  <a:spcBef>
                    <a:spcPts val="0"/>
                  </a:spcBef>
                  <a:spcAft>
                    <a:spcPts val="800"/>
                  </a:spcAft>
                  <a:defRPr/>
                </a:pPr>
                <a:r>
                  <a:rPr lang="he-IL" dirty="0">
                    <a:solidFill>
                      <a:schemeClr val="bg1"/>
                    </a:solidFill>
                  </a:rPr>
                  <a:t>4 ניסויים מבין ה-27 הסתיימו עקב שגיאת קוד </a:t>
                </a:r>
                <a14:m>
                  <m:oMath xmlns:m="http://schemas.openxmlformats.org/officeDocument/2006/math">
                    <m:r>
                      <a:rPr lang="en-US" i="1">
                        <a:solidFill>
                          <a:schemeClr val="bg1"/>
                        </a:solidFill>
                        <a:latin typeface="Cambria Math" panose="02040503050406030204" pitchFamily="18" charset="0"/>
                      </a:rPr>
                      <m:t>𝑐𝑎𝑝𝑡𝑐</m:t>
                    </m:r>
                    <m:r>
                      <a:rPr lang="en-US" i="1">
                        <a:solidFill>
                          <a:schemeClr val="bg1"/>
                        </a:solidFill>
                        <a:latin typeface="Cambria Math" panose="02040503050406030204" pitchFamily="18" charset="0"/>
                      </a:rPr>
                      <m:t>h</m:t>
                    </m:r>
                    <m:r>
                      <a:rPr lang="en-US" i="1">
                        <a:solidFill>
                          <a:schemeClr val="bg1"/>
                        </a:solidFill>
                        <a:latin typeface="Cambria Math" panose="02040503050406030204" pitchFamily="18" charset="0"/>
                      </a:rPr>
                      <m:t>𝑎</m:t>
                    </m:r>
                  </m:oMath>
                </a14:m>
                <a:br>
                  <a:rPr lang="he-IL" dirty="0">
                    <a:solidFill>
                      <a:schemeClr val="bg1"/>
                    </a:solidFill>
                  </a:rPr>
                </a:br>
                <a:endParaRPr lang="en-US" sz="2400" kern="100" dirty="0">
                  <a:solidFill>
                    <a:schemeClr val="bg1"/>
                  </a:solidFill>
                  <a:latin typeface="Calibri" panose="020F0502020204030204" pitchFamily="34" charset="0"/>
                  <a:ea typeface="Calibri" panose="020F0502020204030204" pitchFamily="34" charset="0"/>
                  <a:cs typeface="Arial" panose="020B0604020202020204" pitchFamily="34" charset="0"/>
                </a:endParaRPr>
              </a:p>
            </p:txBody>
          </p:sp>
        </mc:Choice>
        <mc:Fallback xmlns="">
          <p:sp>
            <p:nvSpPr>
              <p:cNvPr id="3" name="מציין מיקום תוכן 2">
                <a:extLst>
                  <a:ext uri="{FF2B5EF4-FFF2-40B4-BE49-F238E27FC236}">
                    <a16:creationId xmlns:a16="http://schemas.microsoft.com/office/drawing/2014/main" id="{CFFF9393-8355-8892-AA69-5F949C73C45B}"/>
                  </a:ext>
                </a:extLst>
              </p:cNvPr>
              <p:cNvSpPr txBox="1">
                <a:spLocks noRot="1" noChangeAspect="1" noMove="1" noResize="1" noEditPoints="1" noAdjustHandles="1" noChangeArrowheads="1" noChangeShapeType="1" noTextEdit="1"/>
              </p:cNvSpPr>
              <p:nvPr/>
            </p:nvSpPr>
            <p:spPr>
              <a:xfrm>
                <a:off x="624939" y="1122219"/>
                <a:ext cx="10671478" cy="2078181"/>
              </a:xfrm>
              <a:prstGeom prst="rect">
                <a:avLst/>
              </a:prstGeom>
              <a:blipFill>
                <a:blip r:embed="rId4"/>
                <a:stretch>
                  <a:fillRect t="-4985" r="-800"/>
                </a:stretch>
              </a:blipFill>
            </p:spPr>
            <p:txBody>
              <a:bodyPr/>
              <a:lstStyle/>
              <a:p>
                <a:r>
                  <a:rPr lang="he-IL">
                    <a:noFill/>
                  </a:rPr>
                  <a:t> </a:t>
                </a:r>
              </a:p>
            </p:txBody>
          </p:sp>
        </mc:Fallback>
      </mc:AlternateContent>
      <p:pic>
        <p:nvPicPr>
          <p:cNvPr id="4" name="תמונה 3">
            <a:extLst>
              <a:ext uri="{FF2B5EF4-FFF2-40B4-BE49-F238E27FC236}">
                <a16:creationId xmlns:a16="http://schemas.microsoft.com/office/drawing/2014/main" id="{ACFCB6A3-FF0A-B981-D6B3-3AF673F5E573}"/>
              </a:ext>
            </a:extLst>
          </p:cNvPr>
          <p:cNvPicPr>
            <a:picLocks noChangeAspect="1"/>
          </p:cNvPicPr>
          <p:nvPr/>
        </p:nvPicPr>
        <p:blipFill rotWithShape="1">
          <a:blip r:embed="rId5"/>
          <a:srcRect t="8694"/>
          <a:stretch>
            <a:fillRect/>
          </a:stretch>
        </p:blipFill>
        <p:spPr bwMode="auto">
          <a:xfrm>
            <a:off x="1395128" y="3087584"/>
            <a:ext cx="8268087" cy="314557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470549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descr="שמיים פיקסלים">
            <a:extLst>
              <a:ext uri="{FF2B5EF4-FFF2-40B4-BE49-F238E27FC236}">
                <a16:creationId xmlns:a16="http://schemas.microsoft.com/office/drawing/2014/main" id="{CD06A019-CBE5-1A3C-B267-E9498610C5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71"/>
            <a:ext cx="12192000" cy="6855858"/>
          </a:xfrm>
          <a:prstGeom prst="rect">
            <a:avLst/>
          </a:prstGeom>
        </p:spPr>
      </p:pic>
      <p:sp>
        <p:nvSpPr>
          <p:cNvPr id="4" name="כותרת 1">
            <a:extLst>
              <a:ext uri="{FF2B5EF4-FFF2-40B4-BE49-F238E27FC236}">
                <a16:creationId xmlns:a16="http://schemas.microsoft.com/office/drawing/2014/main" id="{3E73E9F1-7EE6-D116-95E3-57285B48A811}"/>
              </a:ext>
            </a:extLst>
          </p:cNvPr>
          <p:cNvSpPr txBox="1">
            <a:spLocks/>
          </p:cNvSpPr>
          <p:nvPr/>
        </p:nvSpPr>
        <p:spPr>
          <a:xfrm>
            <a:off x="985157" y="295582"/>
            <a:ext cx="10515600" cy="662361"/>
          </a:xfrm>
          <a:prstGeom prst="rect">
            <a:avLst/>
          </a:prstGeom>
        </p:spPr>
        <p:txBody>
          <a:bodyPr anchor="t">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sz="4000" dirty="0"/>
              <a:t>מסקנות</a:t>
            </a:r>
          </a:p>
        </p:txBody>
      </p:sp>
      <p:sp>
        <p:nvSpPr>
          <p:cNvPr id="5" name="מציין מיקום תוכן 2">
            <a:extLst>
              <a:ext uri="{FF2B5EF4-FFF2-40B4-BE49-F238E27FC236}">
                <a16:creationId xmlns:a16="http://schemas.microsoft.com/office/drawing/2014/main" id="{71B8BC25-14E9-C1EF-BF26-286F7F43544D}"/>
              </a:ext>
            </a:extLst>
          </p:cNvPr>
          <p:cNvSpPr txBox="1">
            <a:spLocks/>
          </p:cNvSpPr>
          <p:nvPr/>
        </p:nvSpPr>
        <p:spPr>
          <a:xfrm>
            <a:off x="527538" y="3267541"/>
            <a:ext cx="10839217" cy="3062919"/>
          </a:xfrm>
          <a:prstGeom prst="rect">
            <a:avLst/>
          </a:prstGeom>
        </p:spPr>
        <p:txBody>
          <a:bodyPr>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7000"/>
              </a:lnSpc>
              <a:spcBef>
                <a:spcPts val="0"/>
              </a:spcBef>
              <a:spcAft>
                <a:spcPts val="800"/>
              </a:spcAft>
              <a:defRPr/>
            </a:pPr>
            <a:r>
              <a:rPr lang="he-IL" dirty="0"/>
              <a:t>שימוש בסיסמאות חזקות - ככל שאורך הסיסמה גדול יותר וככל שמרחב הסיסמאות האפשריות רחב יותר, הזמן הדרוש בהתקפות אלו גדל ואינו סביר</a:t>
            </a:r>
          </a:p>
          <a:p>
            <a:pPr>
              <a:lnSpc>
                <a:spcPct val="107000"/>
              </a:lnSpc>
              <a:spcBef>
                <a:spcPts val="0"/>
              </a:spcBef>
              <a:spcAft>
                <a:spcPts val="800"/>
              </a:spcAft>
              <a:defRPr/>
            </a:pPr>
            <a:r>
              <a:rPr lang="he-IL" dirty="0"/>
              <a:t>שיטות גיבוב איטיות – מצאנו כי מבין שלוש שיטות הגיבוב, השיטה האיטית ביותר היא </a:t>
            </a:r>
            <a:r>
              <a:rPr lang="es-ES" dirty="0" err="1"/>
              <a:t>bcrypt</a:t>
            </a:r>
            <a:endParaRPr lang="he-IL" dirty="0"/>
          </a:p>
        </p:txBody>
      </p:sp>
    </p:spTree>
    <p:extLst>
      <p:ext uri="{BB962C8B-B14F-4D97-AF65-F5344CB8AC3E}">
        <p14:creationId xmlns:p14="http://schemas.microsoft.com/office/powerpoint/2010/main" val="25833932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8F140-7064-3628-FF65-0746193637FB}"/>
            </a:ext>
          </a:extLst>
        </p:cNvPr>
        <p:cNvGrpSpPr/>
        <p:nvPr/>
      </p:nvGrpSpPr>
      <p:grpSpPr>
        <a:xfrm>
          <a:off x="0" y="0"/>
          <a:ext cx="0" cy="0"/>
          <a:chOff x="0" y="0"/>
          <a:chExt cx="0" cy="0"/>
        </a:xfrm>
      </p:grpSpPr>
      <p:pic>
        <p:nvPicPr>
          <p:cNvPr id="3" name="תמונה 2" descr="שמיים פיקסלים">
            <a:extLst>
              <a:ext uri="{FF2B5EF4-FFF2-40B4-BE49-F238E27FC236}">
                <a16:creationId xmlns:a16="http://schemas.microsoft.com/office/drawing/2014/main" id="{6D6FAFDC-8522-30BA-847C-F4D62CFCCE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71"/>
            <a:ext cx="12192000" cy="6855858"/>
          </a:xfrm>
          <a:prstGeom prst="rect">
            <a:avLst/>
          </a:prstGeom>
        </p:spPr>
      </p:pic>
      <p:sp>
        <p:nvSpPr>
          <p:cNvPr id="4" name="כותרת 1">
            <a:extLst>
              <a:ext uri="{FF2B5EF4-FFF2-40B4-BE49-F238E27FC236}">
                <a16:creationId xmlns:a16="http://schemas.microsoft.com/office/drawing/2014/main" id="{54BEA1C6-C095-AA3A-7849-B8D792F4F1DA}"/>
              </a:ext>
            </a:extLst>
          </p:cNvPr>
          <p:cNvSpPr txBox="1">
            <a:spLocks/>
          </p:cNvSpPr>
          <p:nvPr/>
        </p:nvSpPr>
        <p:spPr>
          <a:xfrm>
            <a:off x="985157" y="295582"/>
            <a:ext cx="10515600" cy="662361"/>
          </a:xfrm>
          <a:prstGeom prst="rect">
            <a:avLst/>
          </a:prstGeom>
        </p:spPr>
        <p:txBody>
          <a:bodyPr anchor="t">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sz="4000" dirty="0"/>
              <a:t>מסקנות</a:t>
            </a:r>
          </a:p>
        </p:txBody>
      </p:sp>
      <p:sp>
        <p:nvSpPr>
          <p:cNvPr id="5" name="מציין מיקום תוכן 2">
            <a:extLst>
              <a:ext uri="{FF2B5EF4-FFF2-40B4-BE49-F238E27FC236}">
                <a16:creationId xmlns:a16="http://schemas.microsoft.com/office/drawing/2014/main" id="{FBA8A30E-7343-5CEC-ABD6-049A39EDF2CC}"/>
              </a:ext>
            </a:extLst>
          </p:cNvPr>
          <p:cNvSpPr txBox="1">
            <a:spLocks/>
          </p:cNvSpPr>
          <p:nvPr/>
        </p:nvSpPr>
        <p:spPr>
          <a:xfrm>
            <a:off x="829279" y="3209290"/>
            <a:ext cx="10671478" cy="3942150"/>
          </a:xfrm>
          <a:prstGeom prst="rect">
            <a:avLst/>
          </a:prstGeom>
        </p:spPr>
        <p:txBody>
          <a:bodyPr>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7000"/>
              </a:lnSpc>
              <a:spcBef>
                <a:spcPts val="0"/>
              </a:spcBef>
              <a:spcAft>
                <a:spcPts val="800"/>
              </a:spcAft>
              <a:defRPr/>
            </a:pPr>
            <a:r>
              <a:rPr lang="he-IL" dirty="0"/>
              <a:t>שילוב של מרחב סיסמאות רחב ושיטת גיבוב איטית זניח למשתמש וחשוב למערכת כנגד התקפות</a:t>
            </a:r>
          </a:p>
          <a:p>
            <a:pPr>
              <a:lnSpc>
                <a:spcPct val="107000"/>
              </a:lnSpc>
              <a:spcBef>
                <a:spcPts val="0"/>
              </a:spcBef>
              <a:spcAft>
                <a:spcPts val="800"/>
              </a:spcAft>
              <a:defRPr/>
            </a:pPr>
            <a:r>
              <a:rPr lang="he-IL" dirty="0"/>
              <a:t>חסימות משתמשים/כתובות </a:t>
            </a:r>
            <a:r>
              <a:rPr lang="es-ES" dirty="0"/>
              <a:t>IP</a:t>
            </a:r>
            <a:r>
              <a:rPr lang="he-IL" dirty="0"/>
              <a:t> – ההגנות האפקטיביות ביותר. בממוצע אחרי כארבעה ניסיונות כושלים הצלחנו לחסום את התוקף ולעצור את ההתקפה</a:t>
            </a:r>
            <a:br>
              <a:rPr lang="he-IL" dirty="0"/>
            </a:br>
            <a:endParaRPr lang="en-US" sz="2400" kern="100"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5080508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21A5B-C562-FAB6-1D14-F0494C31487F}"/>
            </a:ext>
          </a:extLst>
        </p:cNvPr>
        <p:cNvGrpSpPr/>
        <p:nvPr/>
      </p:nvGrpSpPr>
      <p:grpSpPr>
        <a:xfrm>
          <a:off x="0" y="0"/>
          <a:ext cx="0" cy="0"/>
          <a:chOff x="0" y="0"/>
          <a:chExt cx="0" cy="0"/>
        </a:xfrm>
      </p:grpSpPr>
      <p:pic>
        <p:nvPicPr>
          <p:cNvPr id="3" name="תמונה 2" descr="שמיים פיקסלים">
            <a:extLst>
              <a:ext uri="{FF2B5EF4-FFF2-40B4-BE49-F238E27FC236}">
                <a16:creationId xmlns:a16="http://schemas.microsoft.com/office/drawing/2014/main" id="{45501C13-EBF9-5AEF-F815-9BBB1A509A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71"/>
            <a:ext cx="12192000" cy="6855858"/>
          </a:xfrm>
          <a:prstGeom prst="rect">
            <a:avLst/>
          </a:prstGeom>
        </p:spPr>
      </p:pic>
      <p:sp>
        <p:nvSpPr>
          <p:cNvPr id="4" name="כותרת 1">
            <a:extLst>
              <a:ext uri="{FF2B5EF4-FFF2-40B4-BE49-F238E27FC236}">
                <a16:creationId xmlns:a16="http://schemas.microsoft.com/office/drawing/2014/main" id="{F512ECD2-B8F8-1A18-74BC-1054895A1955}"/>
              </a:ext>
            </a:extLst>
          </p:cNvPr>
          <p:cNvSpPr txBox="1">
            <a:spLocks/>
          </p:cNvSpPr>
          <p:nvPr/>
        </p:nvSpPr>
        <p:spPr>
          <a:xfrm>
            <a:off x="985157" y="295582"/>
            <a:ext cx="10515600" cy="662361"/>
          </a:xfrm>
          <a:prstGeom prst="rect">
            <a:avLst/>
          </a:prstGeom>
        </p:spPr>
        <p:txBody>
          <a:bodyPr anchor="t">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sz="4000" dirty="0"/>
              <a:t>מסקנות</a:t>
            </a:r>
          </a:p>
        </p:txBody>
      </p:sp>
      <p:sp>
        <p:nvSpPr>
          <p:cNvPr id="5" name="מציין מיקום תוכן 2">
            <a:extLst>
              <a:ext uri="{FF2B5EF4-FFF2-40B4-BE49-F238E27FC236}">
                <a16:creationId xmlns:a16="http://schemas.microsoft.com/office/drawing/2014/main" id="{99C45D56-2A50-7E67-FE17-9DFA8A40D7EB}"/>
              </a:ext>
            </a:extLst>
          </p:cNvPr>
          <p:cNvSpPr txBox="1">
            <a:spLocks/>
          </p:cNvSpPr>
          <p:nvPr/>
        </p:nvSpPr>
        <p:spPr>
          <a:xfrm>
            <a:off x="829279" y="3209290"/>
            <a:ext cx="10671478" cy="3942150"/>
          </a:xfrm>
          <a:prstGeom prst="rect">
            <a:avLst/>
          </a:prstGeom>
        </p:spPr>
        <p:txBody>
          <a:bodyPr>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7000"/>
              </a:lnSpc>
              <a:spcBef>
                <a:spcPts val="0"/>
              </a:spcBef>
              <a:spcAft>
                <a:spcPts val="800"/>
              </a:spcAft>
              <a:defRPr/>
            </a:pPr>
            <a:r>
              <a:rPr lang="he-IL" dirty="0"/>
              <a:t>אין לזלזל ביכולת התוקף לשנות את כתובת ה-</a:t>
            </a:r>
            <a:r>
              <a:rPr lang="es-ES" dirty="0"/>
              <a:t>IP </a:t>
            </a:r>
            <a:r>
              <a:rPr lang="he-IL" dirty="0"/>
              <a:t> שלו או את שם המשתמש תחת המתקפה</a:t>
            </a:r>
          </a:p>
          <a:p>
            <a:pPr>
              <a:lnSpc>
                <a:spcPct val="107000"/>
              </a:lnSpc>
              <a:spcBef>
                <a:spcPts val="0"/>
              </a:spcBef>
              <a:spcAft>
                <a:spcPts val="800"/>
              </a:spcAft>
              <a:defRPr/>
            </a:pPr>
            <a:r>
              <a:rPr lang="he-IL" dirty="0"/>
              <a:t>הכשל בהגנת </a:t>
            </a:r>
            <a:r>
              <a:rPr lang="en-US" dirty="0"/>
              <a:t>TOTP</a:t>
            </a:r>
            <a:r>
              <a:rPr lang="he-IL" dirty="0"/>
              <a:t> - הגנה זו פועלת רק כאשר התוקף הצליח לנחש נכונה את סיסמת המשתמש</a:t>
            </a:r>
            <a:br>
              <a:rPr lang="he-IL" dirty="0"/>
            </a:br>
            <a:endParaRPr lang="en-US" sz="2400" kern="100"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2194248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DA3C418-758E-4180-A5D0-8655D680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8C8EF06-5EC3-4883-AFAF-D74FF46550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5135971" cy="687164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תמונה 3" descr="מסגרת סיום סרט וינטג'">
            <a:extLst>
              <a:ext uri="{FF2B5EF4-FFF2-40B4-BE49-F238E27FC236}">
                <a16:creationId xmlns:a16="http://schemas.microsoft.com/office/drawing/2014/main" id="{AF1288FE-C212-30CD-FD61-9DD51D3856DB}"/>
              </a:ext>
            </a:extLst>
          </p:cNvPr>
          <p:cNvPicPr>
            <a:picLocks noChangeAspect="1"/>
          </p:cNvPicPr>
          <p:nvPr/>
        </p:nvPicPr>
        <p:blipFill>
          <a:blip r:embed="rId2">
            <a:extLst>
              <a:ext uri="{28A0092B-C50C-407E-A947-70E740481C1C}">
                <a14:useLocalDpi xmlns:a14="http://schemas.microsoft.com/office/drawing/2010/main" val="0"/>
              </a:ext>
            </a:extLst>
          </a:blip>
          <a:srcRect r="-2" b="5219"/>
          <a:stretch/>
        </p:blipFill>
        <p:spPr>
          <a:xfrm>
            <a:off x="2915455" y="10"/>
            <a:ext cx="9276545" cy="6857990"/>
          </a:xfrm>
          <a:custGeom>
            <a:avLst/>
            <a:gdLst/>
            <a:ahLst/>
            <a:cxnLst/>
            <a:rect l="l" t="t" r="r" b="b"/>
            <a:pathLst>
              <a:path w="9276545" h="6871647">
                <a:moveTo>
                  <a:pt x="9276545" y="0"/>
                </a:moveTo>
                <a:lnTo>
                  <a:pt x="9276545" y="6858000"/>
                </a:lnTo>
                <a:lnTo>
                  <a:pt x="1546051" y="6871647"/>
                </a:lnTo>
                <a:lnTo>
                  <a:pt x="1535751" y="6828910"/>
                </a:lnTo>
                <a:cubicBezTo>
                  <a:pt x="1530460" y="6775140"/>
                  <a:pt x="1515370" y="6618042"/>
                  <a:pt x="1514301" y="6549029"/>
                </a:cubicBezTo>
                <a:cubicBezTo>
                  <a:pt x="1518045" y="6491396"/>
                  <a:pt x="1528503" y="6450608"/>
                  <a:pt x="1529339" y="6414828"/>
                </a:cubicBezTo>
                <a:cubicBezTo>
                  <a:pt x="1525062" y="6359280"/>
                  <a:pt x="1502062" y="6307149"/>
                  <a:pt x="1493941" y="6268848"/>
                </a:cubicBezTo>
                <a:cubicBezTo>
                  <a:pt x="1502669" y="6254191"/>
                  <a:pt x="1469920" y="6200171"/>
                  <a:pt x="1480613" y="6185025"/>
                </a:cubicBezTo>
                <a:cubicBezTo>
                  <a:pt x="1481020" y="6164522"/>
                  <a:pt x="1458164" y="6060790"/>
                  <a:pt x="1443364" y="6018360"/>
                </a:cubicBezTo>
                <a:cubicBezTo>
                  <a:pt x="1426694" y="5970758"/>
                  <a:pt x="1390307" y="5920074"/>
                  <a:pt x="1380584" y="5899407"/>
                </a:cubicBezTo>
                <a:cubicBezTo>
                  <a:pt x="1370860" y="5878740"/>
                  <a:pt x="1392244" y="5920877"/>
                  <a:pt x="1385023" y="5894356"/>
                </a:cubicBezTo>
                <a:cubicBezTo>
                  <a:pt x="1377800" y="5867835"/>
                  <a:pt x="1345702" y="5770498"/>
                  <a:pt x="1337254" y="5740279"/>
                </a:cubicBezTo>
                <a:cubicBezTo>
                  <a:pt x="1353956" y="5738860"/>
                  <a:pt x="1323673" y="5722040"/>
                  <a:pt x="1334321" y="5713042"/>
                </a:cubicBezTo>
                <a:cubicBezTo>
                  <a:pt x="1343675" y="5706701"/>
                  <a:pt x="1336672" y="5700118"/>
                  <a:pt x="1335877" y="5692870"/>
                </a:cubicBezTo>
                <a:cubicBezTo>
                  <a:pt x="1343201" y="5683812"/>
                  <a:pt x="1329617" y="5652064"/>
                  <a:pt x="1319978" y="5643427"/>
                </a:cubicBezTo>
                <a:cubicBezTo>
                  <a:pt x="1286551" y="5622177"/>
                  <a:pt x="1310947" y="5579803"/>
                  <a:pt x="1285321" y="5562271"/>
                </a:cubicBezTo>
                <a:cubicBezTo>
                  <a:pt x="1281540" y="5556238"/>
                  <a:pt x="1279983" y="5550455"/>
                  <a:pt x="1279815" y="5544867"/>
                </a:cubicBezTo>
                <a:lnTo>
                  <a:pt x="1282507" y="5529404"/>
                </a:lnTo>
                <a:lnTo>
                  <a:pt x="1289604" y="5525378"/>
                </a:lnTo>
                <a:lnTo>
                  <a:pt x="1287766" y="5515726"/>
                </a:lnTo>
                <a:lnTo>
                  <a:pt x="1288829" y="5513051"/>
                </a:lnTo>
                <a:cubicBezTo>
                  <a:pt x="1290896" y="5507946"/>
                  <a:pt x="1292688" y="5502897"/>
                  <a:pt x="1293373" y="5497833"/>
                </a:cubicBezTo>
                <a:cubicBezTo>
                  <a:pt x="1288690" y="5483829"/>
                  <a:pt x="1272696" y="5459278"/>
                  <a:pt x="1260736" y="5429027"/>
                </a:cubicBezTo>
                <a:cubicBezTo>
                  <a:pt x="1238579" y="5396416"/>
                  <a:pt x="1238884" y="5351600"/>
                  <a:pt x="1221610" y="5316328"/>
                </a:cubicBezTo>
                <a:lnTo>
                  <a:pt x="1216099" y="5309330"/>
                </a:lnTo>
                <a:lnTo>
                  <a:pt x="1217278" y="5279477"/>
                </a:lnTo>
                <a:cubicBezTo>
                  <a:pt x="1221588" y="5274318"/>
                  <a:pt x="1222716" y="5266940"/>
                  <a:pt x="1218469" y="5260597"/>
                </a:cubicBezTo>
                <a:lnTo>
                  <a:pt x="1206220" y="5152555"/>
                </a:lnTo>
                <a:cubicBezTo>
                  <a:pt x="1205294" y="5116878"/>
                  <a:pt x="1196908" y="5101727"/>
                  <a:pt x="1212921" y="5046536"/>
                </a:cubicBezTo>
                <a:cubicBezTo>
                  <a:pt x="1234138" y="4987918"/>
                  <a:pt x="1204801" y="4903116"/>
                  <a:pt x="1212183" y="4837345"/>
                </a:cubicBezTo>
                <a:cubicBezTo>
                  <a:pt x="1183151" y="4802424"/>
                  <a:pt x="1209228" y="4821062"/>
                  <a:pt x="1202048" y="4784195"/>
                </a:cubicBezTo>
                <a:cubicBezTo>
                  <a:pt x="1202483" y="4760878"/>
                  <a:pt x="1202919" y="4737561"/>
                  <a:pt x="1203354" y="4714245"/>
                </a:cubicBezTo>
                <a:lnTo>
                  <a:pt x="1201502" y="4700836"/>
                </a:lnTo>
                <a:lnTo>
                  <a:pt x="1194919" y="4697224"/>
                </a:lnTo>
                <a:lnTo>
                  <a:pt x="1187792" y="4677162"/>
                </a:lnTo>
                <a:cubicBezTo>
                  <a:pt x="1186060" y="4669625"/>
                  <a:pt x="1185291" y="4661478"/>
                  <a:pt x="1186080" y="4652429"/>
                </a:cubicBezTo>
                <a:cubicBezTo>
                  <a:pt x="1199189" y="4622456"/>
                  <a:pt x="1167081" y="4571771"/>
                  <a:pt x="1184722" y="4534840"/>
                </a:cubicBezTo>
                <a:cubicBezTo>
                  <a:pt x="1182407" y="4499077"/>
                  <a:pt x="1175424" y="4460227"/>
                  <a:pt x="1172188" y="4437851"/>
                </a:cubicBezTo>
                <a:cubicBezTo>
                  <a:pt x="1161331" y="4428466"/>
                  <a:pt x="1178123" y="4398274"/>
                  <a:pt x="1165306" y="4400581"/>
                </a:cubicBezTo>
                <a:cubicBezTo>
                  <a:pt x="1171061" y="4389819"/>
                  <a:pt x="1173552" y="4346771"/>
                  <a:pt x="1168602" y="4335651"/>
                </a:cubicBezTo>
                <a:lnTo>
                  <a:pt x="1178384" y="4280215"/>
                </a:lnTo>
                <a:lnTo>
                  <a:pt x="1177294" y="4274660"/>
                </a:lnTo>
                <a:cubicBezTo>
                  <a:pt x="1177138" y="4268882"/>
                  <a:pt x="1177520" y="4251103"/>
                  <a:pt x="1177448" y="4245552"/>
                </a:cubicBezTo>
                <a:cubicBezTo>
                  <a:pt x="1177252" y="4244155"/>
                  <a:pt x="1177058" y="4242757"/>
                  <a:pt x="1176863" y="4241361"/>
                </a:cubicBezTo>
                <a:lnTo>
                  <a:pt x="1162386" y="4207167"/>
                </a:lnTo>
                <a:cubicBezTo>
                  <a:pt x="1162950" y="4202536"/>
                  <a:pt x="1174655" y="4199565"/>
                  <a:pt x="1174343" y="4192380"/>
                </a:cubicBezTo>
                <a:lnTo>
                  <a:pt x="1160516" y="4164062"/>
                </a:lnTo>
                <a:lnTo>
                  <a:pt x="1161365" y="4158623"/>
                </a:lnTo>
                <a:lnTo>
                  <a:pt x="1144878" y="4076261"/>
                </a:lnTo>
                <a:lnTo>
                  <a:pt x="1123687" y="4005692"/>
                </a:lnTo>
                <a:lnTo>
                  <a:pt x="1096720" y="3754257"/>
                </a:lnTo>
                <a:cubicBezTo>
                  <a:pt x="1083618" y="3639924"/>
                  <a:pt x="1064313" y="3636659"/>
                  <a:pt x="1047682" y="3517638"/>
                </a:cubicBezTo>
                <a:cubicBezTo>
                  <a:pt x="1048550" y="3477187"/>
                  <a:pt x="1049418" y="3436735"/>
                  <a:pt x="1050285" y="3396284"/>
                </a:cubicBezTo>
                <a:lnTo>
                  <a:pt x="1030166" y="3320814"/>
                </a:lnTo>
                <a:lnTo>
                  <a:pt x="1034128" y="3260443"/>
                </a:lnTo>
                <a:lnTo>
                  <a:pt x="1007751" y="3198916"/>
                </a:lnTo>
                <a:cubicBezTo>
                  <a:pt x="1003323" y="3193074"/>
                  <a:pt x="1001150" y="3187393"/>
                  <a:pt x="1000384" y="3181839"/>
                </a:cubicBezTo>
                <a:cubicBezTo>
                  <a:pt x="1000734" y="3176675"/>
                  <a:pt x="1001085" y="3171511"/>
                  <a:pt x="1001435" y="3166346"/>
                </a:cubicBezTo>
                <a:lnTo>
                  <a:pt x="968918" y="3112638"/>
                </a:lnTo>
                <a:cubicBezTo>
                  <a:pt x="957125" y="3092489"/>
                  <a:pt x="955617" y="3065232"/>
                  <a:pt x="934483" y="3031628"/>
                </a:cubicBezTo>
                <a:cubicBezTo>
                  <a:pt x="914631" y="2997037"/>
                  <a:pt x="908933" y="3005661"/>
                  <a:pt x="879229" y="2948196"/>
                </a:cubicBezTo>
                <a:cubicBezTo>
                  <a:pt x="850845" y="2897154"/>
                  <a:pt x="820829" y="2806798"/>
                  <a:pt x="798666" y="2761198"/>
                </a:cubicBezTo>
                <a:cubicBezTo>
                  <a:pt x="773970" y="2714562"/>
                  <a:pt x="758278" y="2715446"/>
                  <a:pt x="746962" y="2694939"/>
                </a:cubicBezTo>
                <a:lnTo>
                  <a:pt x="712796" y="2614779"/>
                </a:lnTo>
                <a:lnTo>
                  <a:pt x="697701" y="2600020"/>
                </a:lnTo>
                <a:cubicBezTo>
                  <a:pt x="697743" y="2598787"/>
                  <a:pt x="697784" y="2597555"/>
                  <a:pt x="697823" y="2596321"/>
                </a:cubicBezTo>
                <a:lnTo>
                  <a:pt x="679645" y="2572602"/>
                </a:lnTo>
                <a:lnTo>
                  <a:pt x="680789" y="2571831"/>
                </a:lnTo>
                <a:cubicBezTo>
                  <a:pt x="682946" y="2569560"/>
                  <a:pt x="683757" y="2566863"/>
                  <a:pt x="681771" y="2563200"/>
                </a:cubicBezTo>
                <a:cubicBezTo>
                  <a:pt x="705290" y="2562299"/>
                  <a:pt x="688388" y="2558438"/>
                  <a:pt x="680456" y="2547723"/>
                </a:cubicBezTo>
                <a:cubicBezTo>
                  <a:pt x="679482" y="2534148"/>
                  <a:pt x="677183" y="2493617"/>
                  <a:pt x="675922" y="2481749"/>
                </a:cubicBezTo>
                <a:lnTo>
                  <a:pt x="672894" y="2476509"/>
                </a:lnTo>
                <a:lnTo>
                  <a:pt x="673143" y="2476297"/>
                </a:lnTo>
                <a:cubicBezTo>
                  <a:pt x="673152" y="2474932"/>
                  <a:pt x="672405" y="2473126"/>
                  <a:pt x="670567" y="2470561"/>
                </a:cubicBezTo>
                <a:lnTo>
                  <a:pt x="667369" y="2466951"/>
                </a:lnTo>
                <a:lnTo>
                  <a:pt x="661495" y="2456785"/>
                </a:lnTo>
                <a:cubicBezTo>
                  <a:pt x="661510" y="2455387"/>
                  <a:pt x="661525" y="2453987"/>
                  <a:pt x="661540" y="2452588"/>
                </a:cubicBezTo>
                <a:lnTo>
                  <a:pt x="664540" y="2449913"/>
                </a:lnTo>
                <a:lnTo>
                  <a:pt x="663581" y="2449129"/>
                </a:lnTo>
                <a:cubicBezTo>
                  <a:pt x="653014" y="2444453"/>
                  <a:pt x="642406" y="2445872"/>
                  <a:pt x="663129" y="2426579"/>
                </a:cubicBezTo>
                <a:cubicBezTo>
                  <a:pt x="643271" y="2414167"/>
                  <a:pt x="657229" y="2404769"/>
                  <a:pt x="650205" y="2379928"/>
                </a:cubicBezTo>
                <a:cubicBezTo>
                  <a:pt x="634911" y="2374359"/>
                  <a:pt x="634260" y="2365346"/>
                  <a:pt x="638008" y="2354824"/>
                </a:cubicBezTo>
                <a:cubicBezTo>
                  <a:pt x="621083" y="2334576"/>
                  <a:pt x="620949" y="2310146"/>
                  <a:pt x="609851" y="2284299"/>
                </a:cubicBezTo>
                <a:lnTo>
                  <a:pt x="585585" y="2155739"/>
                </a:lnTo>
                <a:lnTo>
                  <a:pt x="581391" y="2152892"/>
                </a:lnTo>
                <a:cubicBezTo>
                  <a:pt x="578821" y="2150768"/>
                  <a:pt x="577525" y="2149149"/>
                  <a:pt x="577083" y="2147807"/>
                </a:cubicBezTo>
                <a:lnTo>
                  <a:pt x="577251" y="2147544"/>
                </a:lnTo>
                <a:lnTo>
                  <a:pt x="546845" y="2085601"/>
                </a:lnTo>
                <a:cubicBezTo>
                  <a:pt x="538270" y="2073917"/>
                  <a:pt x="486356" y="1955894"/>
                  <a:pt x="470837" y="1931362"/>
                </a:cubicBezTo>
                <a:lnTo>
                  <a:pt x="428154" y="1657167"/>
                </a:lnTo>
                <a:lnTo>
                  <a:pt x="392797" y="1510175"/>
                </a:lnTo>
                <a:cubicBezTo>
                  <a:pt x="380165" y="1504446"/>
                  <a:pt x="369910" y="1451095"/>
                  <a:pt x="372847" y="1440507"/>
                </a:cubicBezTo>
                <a:cubicBezTo>
                  <a:pt x="369015" y="1433783"/>
                  <a:pt x="338503" y="1376212"/>
                  <a:pt x="344479" y="1367690"/>
                </a:cubicBezTo>
                <a:cubicBezTo>
                  <a:pt x="332264" y="1342150"/>
                  <a:pt x="321736" y="1310521"/>
                  <a:pt x="299558" y="1287266"/>
                </a:cubicBezTo>
                <a:cubicBezTo>
                  <a:pt x="277380" y="1264010"/>
                  <a:pt x="259203" y="1269909"/>
                  <a:pt x="243216" y="1249403"/>
                </a:cubicBezTo>
                <a:cubicBezTo>
                  <a:pt x="227230" y="1228898"/>
                  <a:pt x="218454" y="1166841"/>
                  <a:pt x="203639" y="1164232"/>
                </a:cubicBezTo>
                <a:cubicBezTo>
                  <a:pt x="192352" y="1144923"/>
                  <a:pt x="198158" y="1133798"/>
                  <a:pt x="169195" y="1087898"/>
                </a:cubicBezTo>
                <a:cubicBezTo>
                  <a:pt x="139228" y="1002950"/>
                  <a:pt x="140891" y="969630"/>
                  <a:pt x="98775" y="910071"/>
                </a:cubicBezTo>
                <a:cubicBezTo>
                  <a:pt x="45025" y="831068"/>
                  <a:pt x="34038" y="817468"/>
                  <a:pt x="43820" y="712632"/>
                </a:cubicBezTo>
                <a:cubicBezTo>
                  <a:pt x="34816" y="659496"/>
                  <a:pt x="43273" y="613587"/>
                  <a:pt x="44748" y="591246"/>
                </a:cubicBezTo>
                <a:lnTo>
                  <a:pt x="36767" y="546725"/>
                </a:lnTo>
                <a:cubicBezTo>
                  <a:pt x="36093" y="528360"/>
                  <a:pt x="35418" y="509996"/>
                  <a:pt x="34744" y="491632"/>
                </a:cubicBezTo>
                <a:cubicBezTo>
                  <a:pt x="34670" y="458441"/>
                  <a:pt x="29296" y="473054"/>
                  <a:pt x="29222" y="439863"/>
                </a:cubicBezTo>
                <a:cubicBezTo>
                  <a:pt x="29152" y="439762"/>
                  <a:pt x="2578" y="397168"/>
                  <a:pt x="2507" y="397065"/>
                </a:cubicBezTo>
                <a:cubicBezTo>
                  <a:pt x="-7796" y="385479"/>
                  <a:pt x="17492" y="336832"/>
                  <a:pt x="9810" y="317232"/>
                </a:cubicBezTo>
                <a:lnTo>
                  <a:pt x="25323" y="268841"/>
                </a:lnTo>
                <a:cubicBezTo>
                  <a:pt x="20582" y="241406"/>
                  <a:pt x="55391" y="238509"/>
                  <a:pt x="50278" y="195107"/>
                </a:cubicBezTo>
                <a:cubicBezTo>
                  <a:pt x="49891" y="157638"/>
                  <a:pt x="41873" y="124837"/>
                  <a:pt x="47653" y="93413"/>
                </a:cubicBezTo>
                <a:cubicBezTo>
                  <a:pt x="41389" y="80245"/>
                  <a:pt x="38874" y="67990"/>
                  <a:pt x="48323" y="56668"/>
                </a:cubicBezTo>
                <a:cubicBezTo>
                  <a:pt x="46028" y="30349"/>
                  <a:pt x="37896" y="18658"/>
                  <a:pt x="38423" y="5323"/>
                </a:cubicBezTo>
                <a:lnTo>
                  <a:pt x="39875" y="1"/>
                </a:lnTo>
                <a:close/>
              </a:path>
            </a:pathLst>
          </a:custGeom>
        </p:spPr>
      </p:pic>
      <p:sp>
        <p:nvSpPr>
          <p:cNvPr id="5" name="כותרת 1">
            <a:extLst>
              <a:ext uri="{FF2B5EF4-FFF2-40B4-BE49-F238E27FC236}">
                <a16:creationId xmlns:a16="http://schemas.microsoft.com/office/drawing/2014/main" id="{4D6D56BC-78D4-2F68-2B20-0A3311F030E9}"/>
              </a:ext>
            </a:extLst>
          </p:cNvPr>
          <p:cNvSpPr txBox="1">
            <a:spLocks/>
          </p:cNvSpPr>
          <p:nvPr/>
        </p:nvSpPr>
        <p:spPr>
          <a:xfrm>
            <a:off x="400050" y="1727436"/>
            <a:ext cx="2734126" cy="1421928"/>
          </a:xfrm>
          <a:prstGeom prst="rect">
            <a:avLst/>
          </a:prstGeom>
        </p:spPr>
        <p:txBody>
          <a:bodyPr wrap="square" anchor="t">
            <a:sp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pPr algn="ctr"/>
            <a:r>
              <a:rPr lang="he-IL" sz="4800" dirty="0"/>
              <a:t>תודה רבה על ההקשבה</a:t>
            </a:r>
          </a:p>
        </p:txBody>
      </p:sp>
      <p:sp>
        <p:nvSpPr>
          <p:cNvPr id="7" name="כותרת 1">
            <a:extLst>
              <a:ext uri="{FF2B5EF4-FFF2-40B4-BE49-F238E27FC236}">
                <a16:creationId xmlns:a16="http://schemas.microsoft.com/office/drawing/2014/main" id="{392FDAB3-A010-5EAD-54F1-67AC91645B15}"/>
              </a:ext>
            </a:extLst>
          </p:cNvPr>
          <p:cNvSpPr txBox="1">
            <a:spLocks/>
          </p:cNvSpPr>
          <p:nvPr/>
        </p:nvSpPr>
        <p:spPr>
          <a:xfrm>
            <a:off x="105226" y="4437824"/>
            <a:ext cx="3679093" cy="1754326"/>
          </a:xfrm>
          <a:prstGeom prst="rect">
            <a:avLst/>
          </a:prstGeom>
        </p:spPr>
        <p:txBody>
          <a:bodyPr wrap="square" anchor="t">
            <a:sp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pPr algn="ctr"/>
            <a:r>
              <a:rPr lang="he-IL" sz="4000" dirty="0">
                <a:ln>
                  <a:solidFill>
                    <a:srgbClr val="06C60C"/>
                  </a:solidFill>
                </a:ln>
              </a:rPr>
              <a:t>אני מקווה שנהניתם לפחות כמו שאנחנו נהנינו </a:t>
            </a:r>
          </a:p>
        </p:txBody>
      </p:sp>
    </p:spTree>
    <p:extLst>
      <p:ext uri="{BB962C8B-B14F-4D97-AF65-F5344CB8AC3E}">
        <p14:creationId xmlns:p14="http://schemas.microsoft.com/office/powerpoint/2010/main" val="2334417033"/>
      </p:ext>
    </p:extLst>
  </p:cSld>
  <p:clrMapOvr>
    <a:masterClrMapping/>
  </p:clrMapOvr>
</p:sld>
</file>

<file path=ppt/theme/theme1.xml><?xml version="1.0" encoding="utf-8"?>
<a:theme xmlns:a="http://schemas.openxmlformats.org/drawingml/2006/main" name="1_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ערכת נושא Offic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ערכת נושא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ערכת נושא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3.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856</TotalTime>
  <Words>1027</Words>
  <Application>Microsoft Office PowerPoint</Application>
  <PresentationFormat>מסך רחב</PresentationFormat>
  <Paragraphs>113</Paragraphs>
  <Slides>23</Slides>
  <Notes>6</Notes>
  <HiddenSlides>0</HiddenSlides>
  <MMClips>0</MMClips>
  <ScaleCrop>false</ScaleCrop>
  <HeadingPairs>
    <vt:vector size="6" baseType="variant">
      <vt:variant>
        <vt:lpstr>גופנים בשימוש</vt:lpstr>
      </vt:variant>
      <vt:variant>
        <vt:i4>6</vt:i4>
      </vt:variant>
      <vt:variant>
        <vt:lpstr>ערכת נושא</vt:lpstr>
      </vt:variant>
      <vt:variant>
        <vt:i4>2</vt:i4>
      </vt:variant>
      <vt:variant>
        <vt:lpstr>כותרות שקופיות</vt:lpstr>
      </vt:variant>
      <vt:variant>
        <vt:i4>23</vt:i4>
      </vt:variant>
    </vt:vector>
  </HeadingPairs>
  <TitlesOfParts>
    <vt:vector size="31" baseType="lpstr">
      <vt:lpstr>Aptos</vt:lpstr>
      <vt:lpstr>Aptos Display</vt:lpstr>
      <vt:lpstr>Arial</vt:lpstr>
      <vt:lpstr>Calibri</vt:lpstr>
      <vt:lpstr>Cambria Math</vt:lpstr>
      <vt:lpstr>David</vt:lpstr>
      <vt:lpstr>1_ערכת נושא Office</vt:lpstr>
      <vt:lpstr>Office Theme</vt:lpstr>
      <vt:lpstr>מטלת מנחה (ממ"ן) 16 מבוא לאבטחת המידע המקוון</vt:lpstr>
      <vt:lpstr>סכנת הפרטיות בעידן המודרני </vt:lpstr>
      <vt:lpstr>שרת האימות</vt:lpstr>
      <vt:lpstr>שרת האימות</vt:lpstr>
      <vt:lpstr>נקודות קצה</vt:lpstr>
      <vt:lpstr>שיטות גיבוב</vt:lpstr>
      <vt:lpstr>הגנות</vt:lpstr>
      <vt:lpstr>קבצי השרת</vt:lpstr>
      <vt:lpstr>הדגמת המערכת</vt:lpstr>
      <vt:lpstr>מודל ההתקפה</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Bar Toplian</dc:creator>
  <cp:lastModifiedBy>Bar Toplian</cp:lastModifiedBy>
  <cp:revision>29</cp:revision>
  <dcterms:created xsi:type="dcterms:W3CDTF">2025-02-26T06:02:32Z</dcterms:created>
  <dcterms:modified xsi:type="dcterms:W3CDTF">2025-12-29T09:20:04Z</dcterms:modified>
</cp:coreProperties>
</file>